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çılış" id="{48842e05-5f0f-0240-bb43-a19584530941}">
          <p14:sldIdLst>
            <p14:sldId id="256"/>
            <p14:sldId id="257"/>
            <p14:sldId id="258"/>
            <p14:sldId id="259"/>
          </p14:sldIdLst>
        </p14:section>
        <p14:section name="1 · Patern ve tanım" id="{1922c246-f5af-c72b-5a17-ef1d784a4699}">
          <p14:sldIdLst>
            <p14:sldId id="260"/>
            <p14:sldId id="261"/>
            <p14:sldId id="262"/>
            <p14:sldId id="263"/>
            <p14:sldId id="264"/>
          </p14:sldIdLst>
        </p14:section>
        <p14:section name="2 · Öykü ve muayene" id="{86a03a83-e4bb-a1ed-c95d-71ef300d8168}">
          <p14:sldIdLst>
            <p14:sldId id="265"/>
            <p14:sldId id="266"/>
            <p14:sldId id="267"/>
            <p14:sldId id="268"/>
            <p14:sldId id="269"/>
          </p14:sldIdLst>
        </p14:section>
        <p14:section name="3 · Organik ayırıcı tanı" id="{c505bad5-40a1-dda1-9ce0-85a5d034b872}">
          <p14:sldIdLst>
            <p14:sldId id="270"/>
            <p14:sldId id="271"/>
            <p14:sldId id="272"/>
            <p14:sldId id="273"/>
            <p14:sldId id="274"/>
            <p14:sldId id="275"/>
            <p14:sldId id="276"/>
          </p14:sldIdLst>
        </p14:section>
        <p14:section name="4 · Basamaklı tetkik" id="{64bf8553-a5a2-4cc2-5275-d253d6c997ef}">
          <p14:sldIdLst>
            <p14:sldId id="277"/>
            <p14:sldId id="278"/>
            <p14:sldId id="279"/>
            <p14:sldId id="280"/>
            <p14:sldId id="281"/>
            <p14:sldId id="282"/>
            <p14:sldId id="283"/>
            <p14:sldId id="284"/>
          </p14:sldIdLst>
        </p14:section>
        <p14:section name="5 · Fonksiyonel tanı: Rome V" id="{8efccf4f-af46-c008-e2cd-489b7d122cd7}">
          <p14:sldIdLst>
            <p14:sldId id="285"/>
            <p14:sldId id="286"/>
            <p14:sldId id="287"/>
            <p14:sldId id="288"/>
            <p14:sldId id="289"/>
          </p14:sldIdLst>
        </p14:section>
        <p14:section name="6 · Yönetim" id="{79f89d1c-0a29-90d8-a979-e7eeeede00f3}">
          <p14:sldIdLst>
            <p14:sldId id="290"/>
            <p14:sldId id="291"/>
            <p14:sldId id="292"/>
            <p14:sldId id="293"/>
            <p14:sldId id="294"/>
            <p14:sldId id="295"/>
            <p14:sldId id="296"/>
            <p14:sldId id="297"/>
          </p14:sldIdLst>
        </p14:section>
        <p14:section name="Kapanış" id="{9fa78007-ab35-bece-0182-a5151e9553e0}">
          <p14:sldIdLst>
            <p14:sldId id="298"/>
          </p14:sldIdLst>
        </p14:section>
        <p14:section name="Kaynaklar" id="{c1fb4115-8e3f-e936-2696-faa9396e51c6}">
          <p14:sldIdLst>
            <p14:sldId id="299"/>
            <p14:sldId id="300"/>
            <p14:sldId id="301"/>
            <p14:sldId id="302"/>
            <p14:sldId id="303"/>
            <p14:sldId id="3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64008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
        <p:nvSpPr>
          <p:cNvPr id="4" name="Text 0"/>
          <p:cNvSpPr/>
          <p:nvPr>
            <p:ph idx="102" type="body" hasCustomPrompt="1"/>
          </p:nvPr>
        </p:nvSpPr>
        <p:spPr>
          <a:xfrm>
            <a:off x="731520" y="5120640"/>
            <a:ext cx="10698480" cy="82296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ph idx="102" type="body" hasCustomPrompt="1"/>
          </p:nvPr>
        </p:nvSpPr>
        <p:spPr>
          <a:xfrm>
            <a:off x="548640" y="6272784"/>
            <a:ext cx="10241280" cy="274320"/>
          </a:xfrm>
          <a:prstGeom prst="rect">
            <a:avLst/>
          </a:prstGeom>
          <a:noFill/>
          <a:ln/>
        </p:spPr>
        <p:txBody>
          <a:bodyPr wrap="square" rtlCol="0"/>
          <a:lstStyle>
            <a:lvl1pPr indent="0" marL="0">
              <a:buNone/>
              <a:defRPr lang="en-US" sz="1100" dirty="0">
                <a:solidFill>
                  <a:schemeClr val="accent4"/>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AYNAK">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1672" cy="54864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OYU">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8229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lIns="0" tIns="0" rIns="0" bIns="0" rtlCol="0" anchor="b"/>
          <a:lstStyle/>
          <a:p>
            <a:pPr algn="l" indent="0" marL="0">
              <a:buNone/>
            </a:pPr>
            <a:r>
              <a:rPr lang="en-US" sz="4000" b="1" dirty="0">
                <a:solidFill>
                  <a:schemeClr val="bg1"/>
                </a:solidFill>
              </a:rPr>
              <a:t>Kronik Tekrarlayan Kusması Olan Çocuğa Yaklaşım</a:t>
            </a:r>
            <a:endParaRPr lang="en-US" sz="4000" dirty="0"/>
          </a:p>
        </p:txBody>
      </p:sp>
      <p:sp>
        <p:nvSpPr>
          <p:cNvPr id="3" name="Text 0"/>
          <p:cNvSpPr/>
          <p:nvPr>
            <p:ph idx="101" type="body" hasCustomPrompt="1"/>
          </p:nvPr>
        </p:nvSpPr>
        <p:spPr>
          <a:xfrm>
            <a:off x="731520" y="3657600"/>
            <a:ext cx="10698480" cy="640080"/>
          </a:xfrm>
          <a:prstGeom prst="rect">
            <a:avLst/>
          </a:prstGeom>
          <a:noFill/>
          <a:ln/>
        </p:spPr>
        <p:txBody>
          <a:bodyPr wrap="square" lIns="0" tIns="0" rIns="0" bIns="0" rtlCol="0"/>
          <a:lstStyle/>
          <a:p>
            <a:pPr indent="0" marL="0">
              <a:buNone/>
            </a:pPr>
            <a:r>
              <a:rPr lang="en-US" sz="2200" dirty="0">
                <a:solidFill>
                  <a:schemeClr val="accent5"/>
                </a:solidFill>
              </a:rPr>
              <a:t>Patern → kırmızı bayrak → basamaklı tetkik → Rome V</a:t>
            </a:r>
            <a:endParaRPr lang="en-US" sz="2200" dirty="0"/>
          </a:p>
        </p:txBody>
      </p:sp>
      <p:sp>
        <p:nvSpPr>
          <p:cNvPr id="4" name="Text 0"/>
          <p:cNvSpPr/>
          <p:nvPr>
            <p:ph idx="102" type="body" hasCustomPrompt="1"/>
          </p:nvPr>
        </p:nvSpPr>
        <p:spPr>
          <a:xfrm>
            <a:off x="731520" y="5120640"/>
            <a:ext cx="10698480" cy="822960"/>
          </a:xfrm>
          <a:prstGeom prst="rect">
            <a:avLst/>
          </a:prstGeom>
          <a:noFill/>
          <a:ln/>
        </p:spPr>
        <p:txBody>
          <a:bodyPr wrap="square" lIns="0" tIns="0" rIns="0" bIns="0" rtlCol="0"/>
          <a:lstStyle/>
          <a:p>
            <a:pPr indent="0" marL="0">
              <a:buNone/>
            </a:pPr>
            <a:r>
              <a:rPr lang="en-US" sz="1600" dirty="0">
                <a:solidFill>
                  <a:schemeClr val="bg1"/>
                </a:solidFill>
              </a:rPr>
              <a:t>[Konuşmacı adı, unvan · Kurum]   ·   [Kongre adı · Tarih]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Açılış</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Yol haritası: altı adımda kronik tekrarlayan kusma</a:t>
            </a:r>
            <a:endParaRPr lang="en-US" sz="2600" dirty="0"/>
          </a:p>
        </p:txBody>
      </p:sp>
      <p:sp>
        <p:nvSpPr>
          <p:cNvPr id="4" name="karo-1"/>
          <p:cNvSpPr/>
          <p:nvPr/>
        </p:nvSpPr>
        <p:spPr>
          <a:xfrm>
            <a:off x="548640" y="1645920"/>
            <a:ext cx="3520440" cy="1965960"/>
          </a:xfrm>
          <a:prstGeom prst="roundRect">
            <a:avLst>
              <a:gd name="adj" fmla="val 5581"/>
            </a:avLst>
          </a:prstGeom>
          <a:solidFill>
            <a:schemeClr val="bg2"/>
          </a:solidFill>
          <a:ln/>
        </p:spPr>
      </p:sp>
      <p:pic>
        <p:nvPicPr>
          <p:cNvPr id="5" name="ikon-2" descr="Patern ve tanım">    </p:cNvPr>
          <p:cNvPicPr>
            <a:picLocks noChangeAspect="1"/>
          </p:cNvPicPr>
          <p:nvPr/>
        </p:nvPicPr>
        <p:blipFill>
          <a:blip r:embed="rId1"/>
          <a:stretch>
            <a:fillRect/>
          </a:stretch>
        </p:blipFill>
        <p:spPr>
          <a:xfrm>
            <a:off x="822960" y="1920240"/>
            <a:ext cx="685800" cy="685800"/>
          </a:xfrm>
          <a:prstGeom prst="rect">
            <a:avLst/>
          </a:prstGeom>
        </p:spPr>
      </p:pic>
      <p:sp>
        <p:nvSpPr>
          <p:cNvPr id="6" name="no-3"/>
          <p:cNvSpPr txBox="1"/>
          <p:nvPr/>
        </p:nvSpPr>
        <p:spPr>
          <a:xfrm>
            <a:off x="3154680" y="1828800"/>
            <a:ext cx="685800" cy="685800"/>
          </a:xfrm>
          <a:prstGeom prst="rect">
            <a:avLst/>
          </a:prstGeom>
          <a:noFill/>
          <a:ln/>
        </p:spPr>
        <p:txBody>
          <a:bodyPr wrap="square" lIns="0" tIns="0" rIns="0" bIns="0" rtlCol="0" anchor="ctr"/>
          <a:lstStyle/>
          <a:p>
            <a:pPr algn="r" indent="0" marL="0">
              <a:buNone/>
            </a:pPr>
            <a:r>
              <a:rPr lang="en-US" sz="3600" b="1" dirty="0">
                <a:solidFill>
                  <a:schemeClr val="accent1"/>
                </a:solidFill>
                <a:latin typeface="Cambria" pitchFamily="34" charset="0"/>
                <a:ea typeface="Cambria" pitchFamily="34" charset="-122"/>
                <a:cs typeface="Cambria" pitchFamily="34" charset="-120"/>
              </a:rPr>
              <a:t>1</a:t>
            </a:r>
            <a:endParaRPr lang="en-US" sz="3600" dirty="0"/>
          </a:p>
        </p:txBody>
      </p:sp>
      <p:sp>
        <p:nvSpPr>
          <p:cNvPr id="7" name="karo-yazi-4"/>
          <p:cNvSpPr txBox="1"/>
          <p:nvPr/>
        </p:nvSpPr>
        <p:spPr>
          <a:xfrm>
            <a:off x="822960" y="2788920"/>
            <a:ext cx="3017520" cy="640080"/>
          </a:xfrm>
          <a:prstGeom prst="rect">
            <a:avLst/>
          </a:prstGeom>
          <a:noFill/>
          <a:ln/>
        </p:spPr>
        <p:txBody>
          <a:bodyPr wrap="square" lIns="0" tIns="0" rIns="0" bIns="0" rtlCol="0" anchor="t"/>
          <a:lstStyle/>
          <a:p>
            <a:pPr indent="0" marL="0">
              <a:buNone/>
            </a:pPr>
            <a:r>
              <a:rPr lang="en-US" sz="2000" b="1" dirty="0">
                <a:solidFill>
                  <a:schemeClr val="tx1"/>
                </a:solidFill>
              </a:rPr>
              <a:t>Patern ve tanım</a:t>
            </a:r>
            <a:endParaRPr lang="en-US" sz="2000" dirty="0"/>
          </a:p>
        </p:txBody>
      </p:sp>
      <p:sp>
        <p:nvSpPr>
          <p:cNvPr id="8" name="karo-5"/>
          <p:cNvSpPr/>
          <p:nvPr/>
        </p:nvSpPr>
        <p:spPr>
          <a:xfrm>
            <a:off x="4297680" y="1645920"/>
            <a:ext cx="3520440" cy="1965960"/>
          </a:xfrm>
          <a:prstGeom prst="roundRect">
            <a:avLst>
              <a:gd name="adj" fmla="val 5581"/>
            </a:avLst>
          </a:prstGeom>
          <a:solidFill>
            <a:schemeClr val="bg2"/>
          </a:solidFill>
          <a:ln/>
        </p:spPr>
      </p:sp>
      <p:pic>
        <p:nvPicPr>
          <p:cNvPr id="9" name="ikon-6" descr="Öykü ve muayene">    </p:cNvPr>
          <p:cNvPicPr>
            <a:picLocks noChangeAspect="1"/>
          </p:cNvPicPr>
          <p:nvPr/>
        </p:nvPicPr>
        <p:blipFill>
          <a:blip r:embed="rId2"/>
          <a:stretch>
            <a:fillRect/>
          </a:stretch>
        </p:blipFill>
        <p:spPr>
          <a:xfrm>
            <a:off x="4572000" y="1920240"/>
            <a:ext cx="685800" cy="685800"/>
          </a:xfrm>
          <a:prstGeom prst="rect">
            <a:avLst/>
          </a:prstGeom>
        </p:spPr>
      </p:pic>
      <p:sp>
        <p:nvSpPr>
          <p:cNvPr id="10" name="no-7"/>
          <p:cNvSpPr txBox="1"/>
          <p:nvPr/>
        </p:nvSpPr>
        <p:spPr>
          <a:xfrm>
            <a:off x="6903720" y="1828800"/>
            <a:ext cx="685800" cy="685800"/>
          </a:xfrm>
          <a:prstGeom prst="rect">
            <a:avLst/>
          </a:prstGeom>
          <a:noFill/>
          <a:ln/>
        </p:spPr>
        <p:txBody>
          <a:bodyPr wrap="square" lIns="0" tIns="0" rIns="0" bIns="0" rtlCol="0" anchor="ctr"/>
          <a:lstStyle/>
          <a:p>
            <a:pPr algn="r" indent="0" marL="0">
              <a:buNone/>
            </a:pPr>
            <a:r>
              <a:rPr lang="en-US" sz="3600" b="1" dirty="0">
                <a:solidFill>
                  <a:schemeClr val="accent1"/>
                </a:solidFill>
                <a:latin typeface="Cambria" pitchFamily="34" charset="0"/>
                <a:ea typeface="Cambria" pitchFamily="34" charset="-122"/>
                <a:cs typeface="Cambria" pitchFamily="34" charset="-120"/>
              </a:rPr>
              <a:t>2</a:t>
            </a:r>
            <a:endParaRPr lang="en-US" sz="3600" dirty="0"/>
          </a:p>
        </p:txBody>
      </p:sp>
      <p:sp>
        <p:nvSpPr>
          <p:cNvPr id="11" name="karo-yazi-8"/>
          <p:cNvSpPr txBox="1"/>
          <p:nvPr/>
        </p:nvSpPr>
        <p:spPr>
          <a:xfrm>
            <a:off x="4572000" y="2788920"/>
            <a:ext cx="3017520" cy="640080"/>
          </a:xfrm>
          <a:prstGeom prst="rect">
            <a:avLst/>
          </a:prstGeom>
          <a:noFill/>
          <a:ln/>
        </p:spPr>
        <p:txBody>
          <a:bodyPr wrap="square" lIns="0" tIns="0" rIns="0" bIns="0" rtlCol="0" anchor="t"/>
          <a:lstStyle/>
          <a:p>
            <a:pPr indent="0" marL="0">
              <a:buNone/>
            </a:pPr>
            <a:r>
              <a:rPr lang="en-US" sz="2000" b="1" dirty="0">
                <a:solidFill>
                  <a:schemeClr val="tx1"/>
                </a:solidFill>
              </a:rPr>
              <a:t>Öykü ve muayene</a:t>
            </a:r>
            <a:endParaRPr lang="en-US" sz="2000" dirty="0"/>
          </a:p>
        </p:txBody>
      </p:sp>
      <p:sp>
        <p:nvSpPr>
          <p:cNvPr id="12" name="karo-9"/>
          <p:cNvSpPr/>
          <p:nvPr/>
        </p:nvSpPr>
        <p:spPr>
          <a:xfrm>
            <a:off x="8046720" y="1645920"/>
            <a:ext cx="3520440" cy="1965960"/>
          </a:xfrm>
          <a:prstGeom prst="roundRect">
            <a:avLst>
              <a:gd name="adj" fmla="val 5581"/>
            </a:avLst>
          </a:prstGeom>
          <a:solidFill>
            <a:schemeClr val="bg2"/>
          </a:solidFill>
          <a:ln/>
        </p:spPr>
      </p:sp>
      <p:pic>
        <p:nvPicPr>
          <p:cNvPr id="13" name="ikon-10" descr="Organik ayırıcı tanı">    </p:cNvPr>
          <p:cNvPicPr>
            <a:picLocks noChangeAspect="1"/>
          </p:cNvPicPr>
          <p:nvPr/>
        </p:nvPicPr>
        <p:blipFill>
          <a:blip r:embed="rId3"/>
          <a:stretch>
            <a:fillRect/>
          </a:stretch>
        </p:blipFill>
        <p:spPr>
          <a:xfrm>
            <a:off x="8321040" y="1920240"/>
            <a:ext cx="685800" cy="685800"/>
          </a:xfrm>
          <a:prstGeom prst="rect">
            <a:avLst/>
          </a:prstGeom>
        </p:spPr>
      </p:pic>
      <p:sp>
        <p:nvSpPr>
          <p:cNvPr id="14" name="no-11"/>
          <p:cNvSpPr txBox="1"/>
          <p:nvPr/>
        </p:nvSpPr>
        <p:spPr>
          <a:xfrm>
            <a:off x="10652760" y="1828800"/>
            <a:ext cx="685800" cy="685800"/>
          </a:xfrm>
          <a:prstGeom prst="rect">
            <a:avLst/>
          </a:prstGeom>
          <a:noFill/>
          <a:ln/>
        </p:spPr>
        <p:txBody>
          <a:bodyPr wrap="square" lIns="0" tIns="0" rIns="0" bIns="0" rtlCol="0" anchor="ctr"/>
          <a:lstStyle/>
          <a:p>
            <a:pPr algn="r" indent="0" marL="0">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15" name="karo-yazi-12"/>
          <p:cNvSpPr txBox="1"/>
          <p:nvPr/>
        </p:nvSpPr>
        <p:spPr>
          <a:xfrm>
            <a:off x="8321040" y="2788920"/>
            <a:ext cx="3017520" cy="640080"/>
          </a:xfrm>
          <a:prstGeom prst="rect">
            <a:avLst/>
          </a:prstGeom>
          <a:noFill/>
          <a:ln/>
        </p:spPr>
        <p:txBody>
          <a:bodyPr wrap="square" lIns="0" tIns="0" rIns="0" bIns="0" rtlCol="0" anchor="t"/>
          <a:lstStyle/>
          <a:p>
            <a:pPr indent="0" marL="0">
              <a:buNone/>
            </a:pPr>
            <a:r>
              <a:rPr lang="en-US" sz="2000" b="1" dirty="0">
                <a:solidFill>
                  <a:schemeClr val="tx1"/>
                </a:solidFill>
              </a:rPr>
              <a:t>Organik ayırıcı tanı</a:t>
            </a:r>
            <a:endParaRPr lang="en-US" sz="2000" dirty="0"/>
          </a:p>
        </p:txBody>
      </p:sp>
      <p:sp>
        <p:nvSpPr>
          <p:cNvPr id="16" name="karo-13"/>
          <p:cNvSpPr/>
          <p:nvPr/>
        </p:nvSpPr>
        <p:spPr>
          <a:xfrm>
            <a:off x="548640" y="3886200"/>
            <a:ext cx="3520440" cy="1965960"/>
          </a:xfrm>
          <a:prstGeom prst="roundRect">
            <a:avLst>
              <a:gd name="adj" fmla="val 5581"/>
            </a:avLst>
          </a:prstGeom>
          <a:solidFill>
            <a:schemeClr val="bg2"/>
          </a:solidFill>
          <a:ln/>
        </p:spPr>
      </p:sp>
      <p:pic>
        <p:nvPicPr>
          <p:cNvPr id="17" name="ikon-14" descr="Basamaklı tetkik">    </p:cNvPr>
          <p:cNvPicPr>
            <a:picLocks noChangeAspect="1"/>
          </p:cNvPicPr>
          <p:nvPr/>
        </p:nvPicPr>
        <p:blipFill>
          <a:blip r:embed="rId4"/>
          <a:stretch>
            <a:fillRect/>
          </a:stretch>
        </p:blipFill>
        <p:spPr>
          <a:xfrm>
            <a:off x="822960" y="4160520"/>
            <a:ext cx="685800" cy="685800"/>
          </a:xfrm>
          <a:prstGeom prst="rect">
            <a:avLst/>
          </a:prstGeom>
        </p:spPr>
      </p:pic>
      <p:sp>
        <p:nvSpPr>
          <p:cNvPr id="18" name="no-15"/>
          <p:cNvSpPr txBox="1"/>
          <p:nvPr/>
        </p:nvSpPr>
        <p:spPr>
          <a:xfrm>
            <a:off x="3154680" y="4069080"/>
            <a:ext cx="685800" cy="685800"/>
          </a:xfrm>
          <a:prstGeom prst="rect">
            <a:avLst/>
          </a:prstGeom>
          <a:noFill/>
          <a:ln/>
        </p:spPr>
        <p:txBody>
          <a:bodyPr wrap="square" lIns="0" tIns="0" rIns="0" bIns="0" rtlCol="0" anchor="ctr"/>
          <a:lstStyle/>
          <a:p>
            <a:pPr algn="r" indent="0" marL="0">
              <a:buNone/>
            </a:pPr>
            <a:r>
              <a:rPr lang="en-US" sz="3600" b="1" dirty="0">
                <a:solidFill>
                  <a:schemeClr val="accent1"/>
                </a:solidFill>
                <a:latin typeface="Cambria" pitchFamily="34" charset="0"/>
                <a:ea typeface="Cambria" pitchFamily="34" charset="-122"/>
                <a:cs typeface="Cambria" pitchFamily="34" charset="-120"/>
              </a:rPr>
              <a:t>4</a:t>
            </a:r>
            <a:endParaRPr lang="en-US" sz="3600" dirty="0"/>
          </a:p>
        </p:txBody>
      </p:sp>
      <p:sp>
        <p:nvSpPr>
          <p:cNvPr id="19" name="karo-yazi-16"/>
          <p:cNvSpPr txBox="1"/>
          <p:nvPr/>
        </p:nvSpPr>
        <p:spPr>
          <a:xfrm>
            <a:off x="822960" y="5029200"/>
            <a:ext cx="3017520" cy="640080"/>
          </a:xfrm>
          <a:prstGeom prst="rect">
            <a:avLst/>
          </a:prstGeom>
          <a:noFill/>
          <a:ln/>
        </p:spPr>
        <p:txBody>
          <a:bodyPr wrap="square" lIns="0" tIns="0" rIns="0" bIns="0" rtlCol="0" anchor="t"/>
          <a:lstStyle/>
          <a:p>
            <a:pPr indent="0" marL="0">
              <a:buNone/>
            </a:pPr>
            <a:r>
              <a:rPr lang="en-US" sz="2000" b="1" dirty="0">
                <a:solidFill>
                  <a:schemeClr val="tx1"/>
                </a:solidFill>
              </a:rPr>
              <a:t>Basamaklı tetkik</a:t>
            </a:r>
            <a:endParaRPr lang="en-US" sz="2000" dirty="0"/>
          </a:p>
        </p:txBody>
      </p:sp>
      <p:sp>
        <p:nvSpPr>
          <p:cNvPr id="20" name="karo-17"/>
          <p:cNvSpPr/>
          <p:nvPr/>
        </p:nvSpPr>
        <p:spPr>
          <a:xfrm>
            <a:off x="4297680" y="3886200"/>
            <a:ext cx="3520440" cy="1965960"/>
          </a:xfrm>
          <a:prstGeom prst="roundRect">
            <a:avLst>
              <a:gd name="adj" fmla="val 5581"/>
            </a:avLst>
          </a:prstGeom>
          <a:solidFill>
            <a:schemeClr val="bg2"/>
          </a:solidFill>
          <a:ln/>
        </p:spPr>
      </p:sp>
      <p:pic>
        <p:nvPicPr>
          <p:cNvPr id="21" name="ikon-18" descr="Fonksiyonel tanı: Rome V">    </p:cNvPr>
          <p:cNvPicPr>
            <a:picLocks noChangeAspect="1"/>
          </p:cNvPicPr>
          <p:nvPr/>
        </p:nvPicPr>
        <p:blipFill>
          <a:blip r:embed="rId5"/>
          <a:stretch>
            <a:fillRect/>
          </a:stretch>
        </p:blipFill>
        <p:spPr>
          <a:xfrm>
            <a:off x="4572000" y="4160520"/>
            <a:ext cx="685800" cy="685800"/>
          </a:xfrm>
          <a:prstGeom prst="rect">
            <a:avLst/>
          </a:prstGeom>
        </p:spPr>
      </p:pic>
      <p:sp>
        <p:nvSpPr>
          <p:cNvPr id="22" name="no-19"/>
          <p:cNvSpPr txBox="1"/>
          <p:nvPr/>
        </p:nvSpPr>
        <p:spPr>
          <a:xfrm>
            <a:off x="6903720" y="4069080"/>
            <a:ext cx="685800" cy="685800"/>
          </a:xfrm>
          <a:prstGeom prst="rect">
            <a:avLst/>
          </a:prstGeom>
          <a:noFill/>
          <a:ln/>
        </p:spPr>
        <p:txBody>
          <a:bodyPr wrap="square" lIns="0" tIns="0" rIns="0" bIns="0" rtlCol="0" anchor="ctr"/>
          <a:lstStyle/>
          <a:p>
            <a:pPr algn="r" indent="0" marL="0">
              <a:buNone/>
            </a:pPr>
            <a:r>
              <a:rPr lang="en-US" sz="3600" b="1" dirty="0">
                <a:solidFill>
                  <a:schemeClr val="accent1"/>
                </a:solidFill>
                <a:latin typeface="Cambria" pitchFamily="34" charset="0"/>
                <a:ea typeface="Cambria" pitchFamily="34" charset="-122"/>
                <a:cs typeface="Cambria" pitchFamily="34" charset="-120"/>
              </a:rPr>
              <a:t>5</a:t>
            </a:r>
            <a:endParaRPr lang="en-US" sz="3600" dirty="0"/>
          </a:p>
        </p:txBody>
      </p:sp>
      <p:sp>
        <p:nvSpPr>
          <p:cNvPr id="23" name="karo-yazi-20"/>
          <p:cNvSpPr txBox="1"/>
          <p:nvPr/>
        </p:nvSpPr>
        <p:spPr>
          <a:xfrm>
            <a:off x="4572000" y="5029200"/>
            <a:ext cx="3017520" cy="640080"/>
          </a:xfrm>
          <a:prstGeom prst="rect">
            <a:avLst/>
          </a:prstGeom>
          <a:noFill/>
          <a:ln/>
        </p:spPr>
        <p:txBody>
          <a:bodyPr wrap="square" lIns="0" tIns="0" rIns="0" bIns="0" rtlCol="0" anchor="t"/>
          <a:lstStyle/>
          <a:p>
            <a:pPr indent="0" marL="0">
              <a:buNone/>
            </a:pPr>
            <a:r>
              <a:rPr lang="en-US" sz="2000" b="1" dirty="0">
                <a:solidFill>
                  <a:schemeClr val="tx1"/>
                </a:solidFill>
              </a:rPr>
              <a:t>Fonksiyonel tanı: Rome V</a:t>
            </a:r>
            <a:endParaRPr lang="en-US" sz="2000" dirty="0"/>
          </a:p>
        </p:txBody>
      </p:sp>
      <p:sp>
        <p:nvSpPr>
          <p:cNvPr id="24" name="karo-21"/>
          <p:cNvSpPr/>
          <p:nvPr/>
        </p:nvSpPr>
        <p:spPr>
          <a:xfrm>
            <a:off x="8046720" y="3886200"/>
            <a:ext cx="3520440" cy="1965960"/>
          </a:xfrm>
          <a:prstGeom prst="roundRect">
            <a:avLst>
              <a:gd name="adj" fmla="val 5581"/>
            </a:avLst>
          </a:prstGeom>
          <a:solidFill>
            <a:schemeClr val="bg2"/>
          </a:solidFill>
          <a:ln/>
        </p:spPr>
      </p:sp>
      <p:pic>
        <p:nvPicPr>
          <p:cNvPr id="25" name="ikon-22" descr="Yönetim">    </p:cNvPr>
          <p:cNvPicPr>
            <a:picLocks noChangeAspect="1"/>
          </p:cNvPicPr>
          <p:nvPr/>
        </p:nvPicPr>
        <p:blipFill>
          <a:blip r:embed="rId6"/>
          <a:stretch>
            <a:fillRect/>
          </a:stretch>
        </p:blipFill>
        <p:spPr>
          <a:xfrm>
            <a:off x="8321040" y="4160520"/>
            <a:ext cx="685800" cy="685800"/>
          </a:xfrm>
          <a:prstGeom prst="rect">
            <a:avLst/>
          </a:prstGeom>
        </p:spPr>
      </p:pic>
      <p:sp>
        <p:nvSpPr>
          <p:cNvPr id="26" name="no-23"/>
          <p:cNvSpPr txBox="1"/>
          <p:nvPr/>
        </p:nvSpPr>
        <p:spPr>
          <a:xfrm>
            <a:off x="10652760" y="4069080"/>
            <a:ext cx="685800" cy="685800"/>
          </a:xfrm>
          <a:prstGeom prst="rect">
            <a:avLst/>
          </a:prstGeom>
          <a:noFill/>
          <a:ln/>
        </p:spPr>
        <p:txBody>
          <a:bodyPr wrap="square" lIns="0" tIns="0" rIns="0" bIns="0" rtlCol="0" anchor="ctr"/>
          <a:lstStyle/>
          <a:p>
            <a:pPr algn="r" indent="0" marL="0">
              <a:buNone/>
            </a:pPr>
            <a:r>
              <a:rPr lang="en-US" sz="3600" b="1" dirty="0">
                <a:solidFill>
                  <a:schemeClr val="accent1"/>
                </a:solidFill>
                <a:latin typeface="Cambria" pitchFamily="34" charset="0"/>
                <a:ea typeface="Cambria" pitchFamily="34" charset="-122"/>
                <a:cs typeface="Cambria" pitchFamily="34" charset="-120"/>
              </a:rPr>
              <a:t>6</a:t>
            </a:r>
            <a:endParaRPr lang="en-US" sz="3600" dirty="0"/>
          </a:p>
        </p:txBody>
      </p:sp>
      <p:sp>
        <p:nvSpPr>
          <p:cNvPr id="27" name="karo-yazi-24"/>
          <p:cNvSpPr txBox="1"/>
          <p:nvPr/>
        </p:nvSpPr>
        <p:spPr>
          <a:xfrm>
            <a:off x="8321040" y="5029200"/>
            <a:ext cx="3017520" cy="640080"/>
          </a:xfrm>
          <a:prstGeom prst="rect">
            <a:avLst/>
          </a:prstGeom>
          <a:noFill/>
          <a:ln/>
        </p:spPr>
        <p:txBody>
          <a:bodyPr wrap="square" lIns="0" tIns="0" rIns="0" bIns="0" rtlCol="0" anchor="t"/>
          <a:lstStyle/>
          <a:p>
            <a:pPr indent="0" marL="0">
              <a:buNone/>
            </a:pPr>
            <a:r>
              <a:rPr lang="en-US" sz="2000" b="1" dirty="0">
                <a:solidFill>
                  <a:schemeClr val="tx1"/>
                </a:solidFill>
              </a:rPr>
              <a:t>Yönetim</a:t>
            </a:r>
            <a:endParaRPr lang="en-US" sz="2000" dirty="0"/>
          </a:p>
        </p:txBody>
      </p:sp>
      <p:sp>
        <p:nvSpPr>
          <p:cNvPr id="2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 </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Açılış</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Kronik kusma bir tanı değil, bir paterndir;</a:t>
            </a:r>
            <a:endParaRPr lang="en-US" sz="2600" dirty="0"/>
          </a:p>
          <a:p>
            <a:pPr algn="l" indent="0" marL="0">
              <a:buNone/>
            </a:pPr>
            <a:r>
              <a:rPr lang="en-US" sz="2600" b="1" dirty="0">
                <a:solidFill>
                  <a:schemeClr val="tx1"/>
                </a:solidFill>
              </a:rPr>
              <a:t>çocukta standart süre tanımı yok</a:t>
            </a:r>
            <a:endParaRPr lang="en-US" sz="2600" dirty="0"/>
          </a:p>
        </p:txBody>
      </p:sp>
      <p:sp>
        <p:nvSpPr>
          <p:cNvPr id="4" name="govde-25"/>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"Persistan kusma" literatürde tanımsız; 15 çalışmalık sistematik derleme ortak tanım bulamadı</a:t>
            </a:r>
            <a:r>
              <a:rPr lang="en-US" sz="2200" baseline="30000" dirty="0">
                <a:solidFill>
                  <a:schemeClr val="accent4"/>
                </a:solidFill>
              </a:rPr>
              <a:t>⁠[1]</a:t>
            </a:r>
            <a:endParaRPr lang="en-US" sz="2200" dirty="0"/>
          </a:p>
          <a:p>
            <a:pPr marL="254000" indent="-254000">
              <a:spcAft>
                <a:spcPts val="1800"/>
              </a:spcAft>
              <a:buSzPct val="100000"/>
              <a:buChar char="•"/>
            </a:pPr>
            <a:r>
              <a:rPr lang="en-US" sz="2200" dirty="0">
                <a:solidFill>
                  <a:schemeClr val="tx1"/>
                </a:solidFill>
              </a:rPr>
              <a:t>UEG/ESNM 2025: &gt;4 hafta = kronik; pediatriye özgü değil</a:t>
            </a:r>
            <a:r>
              <a:rPr lang="en-US" sz="2200" baseline="30000" dirty="0">
                <a:solidFill>
                  <a:schemeClr val="accent4"/>
                </a:solidFill>
              </a:rPr>
              <a:t>⁠[2]</a:t>
            </a:r>
            <a:endParaRPr lang="en-US" sz="2200" dirty="0"/>
          </a:p>
          <a:p>
            <a:pPr marL="254000" indent="-254000">
              <a:spcAft>
                <a:spcPts val="1800"/>
              </a:spcAft>
              <a:buSzPct val="100000"/>
              <a:buChar char="•"/>
            </a:pPr>
            <a:r>
              <a:rPr lang="en-US" sz="2200" dirty="0">
                <a:solidFill>
                  <a:schemeClr val="tx1"/>
                </a:solidFill>
              </a:rPr>
              <a:t>Araştırma tanımı örneği: 3 ayda 3 kusma epizodu</a:t>
            </a:r>
            <a:r>
              <a:rPr lang="en-US" sz="2200" baseline="30000" dirty="0">
                <a:solidFill>
                  <a:schemeClr val="accent4"/>
                </a:solidFill>
              </a:rPr>
              <a:t>⁠[3]</a:t>
            </a:r>
            <a:endParaRPr lang="en-US" sz="2200" dirty="0"/>
          </a:p>
        </p:txBody>
      </p:sp>
      <p:sp>
        <p:nvSpPr>
          <p:cNvPr id="5" name="kart-26"/>
          <p:cNvSpPr/>
          <p:nvPr/>
        </p:nvSpPr>
        <p:spPr>
          <a:xfrm>
            <a:off x="8001000" y="1600200"/>
            <a:ext cx="3639312" cy="2331720"/>
          </a:xfrm>
          <a:prstGeom prst="roundRect">
            <a:avLst>
              <a:gd name="adj" fmla="val 4706"/>
            </a:avLst>
          </a:prstGeom>
          <a:solidFill>
            <a:schemeClr val="bg2"/>
          </a:solidFill>
          <a:ln/>
        </p:spPr>
      </p:sp>
      <p:sp>
        <p:nvSpPr>
          <p:cNvPr id="6" name="sayi-27"/>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&gt;4 hafta</a:t>
            </a:r>
            <a:endParaRPr lang="en-US" sz="3400" dirty="0"/>
          </a:p>
        </p:txBody>
      </p:sp>
      <p:sp>
        <p:nvSpPr>
          <p:cNvPr id="7" name="sayi-alt-28"/>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UEG/ESNM eşiği; pediatriye özgü değil</a:t>
            </a:r>
            <a:endParaRPr lang="en-US" sz="1400" dirty="0"/>
          </a:p>
        </p:txBody>
      </p:sp>
      <p:sp>
        <p:nvSpPr>
          <p:cNvPr id="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1–3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Açılış</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Sorun yaygın, tanı ise yıllarca gecikebiliyor</a:t>
            </a:r>
            <a:endParaRPr lang="en-US" sz="2600" dirty="0"/>
          </a:p>
        </p:txBody>
      </p:sp>
      <p:sp>
        <p:nvSpPr>
          <p:cNvPr id="4" name="govde-29"/>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4 ülke, n=7718 (bakım veren anketi): DGBI %28,0; üst GİS DGBI %8,7</a:t>
            </a:r>
            <a:r>
              <a:rPr lang="en-US" sz="2200" baseline="30000" dirty="0">
                <a:solidFill>
                  <a:schemeClr val="accent4"/>
                </a:solidFill>
              </a:rPr>
              <a:t>⁠[4]</a:t>
            </a:r>
            <a:endParaRPr lang="en-US" sz="2200" dirty="0"/>
          </a:p>
          <a:p>
            <a:pPr marL="254000" indent="-254000">
              <a:spcAft>
                <a:spcPts val="1800"/>
              </a:spcAft>
              <a:buSzPct val="100000"/>
              <a:buChar char="•"/>
            </a:pPr>
            <a:r>
              <a:rPr lang="en-US" sz="2200" dirty="0">
                <a:solidFill>
                  <a:schemeClr val="tx1"/>
                </a:solidFill>
              </a:rPr>
              <a:t>SKS: Türkiye okul taraması %1,9</a:t>
            </a:r>
            <a:r>
              <a:rPr lang="en-US" sz="2200" baseline="30000" dirty="0">
                <a:solidFill>
                  <a:schemeClr val="accent4"/>
                </a:solidFill>
              </a:rPr>
              <a:t>⁠[5]</a:t>
            </a:r>
            <a:r>
              <a:rPr lang="en-US" sz="2200" dirty="0">
                <a:solidFill>
                  <a:schemeClr val="tx1"/>
                </a:solidFill>
              </a:rPr>
              <a:t>; Rome V anketi ≈%1</a:t>
            </a:r>
            <a:r>
              <a:rPr lang="en-US" sz="2200" baseline="30000" dirty="0">
                <a:solidFill>
                  <a:schemeClr val="accent4"/>
                </a:solidFill>
              </a:rPr>
              <a:t>⁠[4]</a:t>
            </a:r>
            <a:endParaRPr lang="en-US" sz="2200" dirty="0"/>
          </a:p>
          <a:p>
            <a:pPr marL="254000" indent="-254000">
              <a:spcAft>
                <a:spcPts val="1800"/>
              </a:spcAft>
              <a:buSzPct val="100000"/>
              <a:buChar char="•"/>
            </a:pPr>
            <a:r>
              <a:rPr lang="en-US" sz="2200" dirty="0">
                <a:solidFill>
                  <a:schemeClr val="tx1"/>
                </a:solidFill>
              </a:rPr>
              <a:t>Tanıya kadar: ort. 2 ± 1,8 yıl (İran)</a:t>
            </a:r>
            <a:r>
              <a:rPr lang="en-US" sz="2200" baseline="30000" dirty="0">
                <a:solidFill>
                  <a:schemeClr val="accent4"/>
                </a:solidFill>
              </a:rPr>
              <a:t>⁠[6]</a:t>
            </a:r>
            <a:r>
              <a:rPr lang="en-US" sz="2200" dirty="0">
                <a:solidFill>
                  <a:schemeClr val="tx1"/>
                </a:solidFill>
              </a:rPr>
              <a:t> · medyan 1,2 yıl (Hindistan)</a:t>
            </a:r>
            <a:r>
              <a:rPr lang="en-US" sz="2200" baseline="30000" dirty="0">
                <a:solidFill>
                  <a:schemeClr val="accent4"/>
                </a:solidFill>
              </a:rPr>
              <a:t>⁠[7]</a:t>
            </a:r>
            <a:endParaRPr lang="en-US" sz="2200" dirty="0"/>
          </a:p>
        </p:txBody>
      </p:sp>
      <p:sp>
        <p:nvSpPr>
          <p:cNvPr id="5" name="kart-30"/>
          <p:cNvSpPr/>
          <p:nvPr/>
        </p:nvSpPr>
        <p:spPr>
          <a:xfrm>
            <a:off x="8001000" y="1600200"/>
            <a:ext cx="3639312" cy="2331720"/>
          </a:xfrm>
          <a:prstGeom prst="roundRect">
            <a:avLst>
              <a:gd name="adj" fmla="val 4706"/>
            </a:avLst>
          </a:prstGeom>
          <a:solidFill>
            <a:schemeClr val="bg2"/>
          </a:solidFill>
          <a:ln/>
        </p:spPr>
      </p:sp>
      <p:sp>
        <p:nvSpPr>
          <p:cNvPr id="6" name="sayi-31"/>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%28,0</a:t>
            </a:r>
            <a:endParaRPr lang="en-US" sz="4800" dirty="0"/>
          </a:p>
        </p:txBody>
      </p:sp>
      <p:sp>
        <p:nvSpPr>
          <p:cNvPr id="7" name="sayi-alt-32"/>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çocukta ≥1 DGBI (4 ülke, n=7718)</a:t>
            </a:r>
            <a:endParaRPr lang="en-US" sz="1400" dirty="0"/>
          </a:p>
        </p:txBody>
      </p:sp>
      <p:sp>
        <p:nvSpPr>
          <p:cNvPr id="8" name="dipnot-33"/>
          <p:cNvSpPr txBox="1"/>
          <p:nvPr/>
        </p:nvSpPr>
        <p:spPr>
          <a:xfrm>
            <a:off x="548640" y="5897880"/>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Rome V anketi hekim tanısına karşı valide değil; Nurko tablo sayıları ≈%1,4 veriyor (raporlanan %1,1).</a:t>
            </a:r>
            <a:endParaRPr lang="en-US" sz="11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4–7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1 · Patern ve tanım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İlk soru: kusma mı, regürjitasyon mu, ruminasyon mu?</a:t>
            </a:r>
            <a:endParaRPr lang="en-US" sz="2600" dirty="0"/>
          </a:p>
        </p:txBody>
      </p:sp>
      <p:sp>
        <p:nvSpPr>
          <p:cNvPr id="4" name="govde-34"/>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Kusma aktif bir süreçtir, çoğu zaman bulantı önce gelir; regürjitasyon pasif geri akıştır</a:t>
            </a:r>
            <a:r>
              <a:rPr lang="en-US" sz="2200" baseline="30000" dirty="0">
                <a:solidFill>
                  <a:schemeClr val="accent4"/>
                </a:solidFill>
              </a:rPr>
              <a:t>⁠[2]</a:t>
            </a:r>
            <a:endParaRPr lang="en-US" sz="2200" dirty="0"/>
          </a:p>
          <a:p>
            <a:pPr marL="254000" indent="-254000">
              <a:spcAft>
                <a:spcPts val="1800"/>
              </a:spcAft>
              <a:buSzPct val="100000"/>
              <a:buChar char="•"/>
            </a:pPr>
            <a:r>
              <a:rPr lang="en-US" sz="2200" dirty="0">
                <a:solidFill>
                  <a:schemeClr val="tx1"/>
                </a:solidFill>
              </a:rPr>
              <a:t>Ruminasyon: yemek sırasında/hemen sonra, görünüşte zahmetsiz; uykuda olmaz</a:t>
            </a:r>
            <a:r>
              <a:rPr lang="en-US" sz="2200" baseline="30000" dirty="0">
                <a:solidFill>
                  <a:schemeClr val="accent4"/>
                </a:solidFill>
              </a:rPr>
              <a:t>⁠[8]</a:t>
            </a:r>
            <a:endParaRPr lang="en-US" sz="2200" dirty="0"/>
          </a:p>
          <a:p>
            <a:pPr marL="254000" indent="-254000">
              <a:spcAft>
                <a:spcPts val="1800"/>
              </a:spcAft>
              <a:buSzPct val="100000"/>
              <a:buChar char="•"/>
            </a:pPr>
            <a:r>
              <a:rPr lang="en-US" sz="2200" dirty="0">
                <a:solidFill>
                  <a:schemeClr val="tx1"/>
                </a:solidFill>
              </a:rPr>
              <a:t>Disfaji + kusma + kilo kaybı → akalazya: kusma %53,2; tanıya medyan 11 ay</a:t>
            </a:r>
            <a:r>
              <a:rPr lang="en-US" sz="2200" baseline="30000" dirty="0">
                <a:solidFill>
                  <a:schemeClr val="accent4"/>
                </a:solidFill>
              </a:rPr>
              <a:t>⁠[9]</a:t>
            </a:r>
            <a:endParaRPr lang="en-US" sz="2200" dirty="0"/>
          </a:p>
        </p:txBody>
      </p:sp>
      <p:sp>
        <p:nvSpPr>
          <p:cNvPr id="5" name="kart-35"/>
          <p:cNvSpPr/>
          <p:nvPr/>
        </p:nvSpPr>
        <p:spPr>
          <a:xfrm>
            <a:off x="8001000" y="1600200"/>
            <a:ext cx="3639312" cy="2331720"/>
          </a:xfrm>
          <a:prstGeom prst="roundRect">
            <a:avLst>
              <a:gd name="adj" fmla="val 4706"/>
            </a:avLst>
          </a:prstGeom>
          <a:solidFill>
            <a:schemeClr val="bg2"/>
          </a:solidFill>
          <a:ln/>
        </p:spPr>
      </p:sp>
      <p:sp>
        <p:nvSpPr>
          <p:cNvPr id="6" name="sayi-36"/>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%53,2</a:t>
            </a:r>
            <a:endParaRPr lang="en-US" sz="4800" dirty="0"/>
          </a:p>
        </p:txBody>
      </p:sp>
      <p:sp>
        <p:nvSpPr>
          <p:cNvPr id="7" name="sayi-alt-37"/>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akalazyalı çocuklarda kusma (n=126)</a:t>
            </a:r>
            <a:endParaRPr lang="en-US" sz="1400" dirty="0"/>
          </a:p>
        </p:txBody>
      </p:sp>
      <p:sp>
        <p:nvSpPr>
          <p:cNvPr id="8" name="kanit-notu-38"/>
          <p:cNvSpPr txBox="1"/>
          <p:nvPr/>
        </p:nvSpPr>
        <p:spPr>
          <a:xfrm>
            <a:off x="8001000" y="4114800"/>
            <a:ext cx="3639312" cy="868680"/>
          </a:xfrm>
          <a:prstGeom prst="rect">
            <a:avLst/>
          </a:prstGeom>
          <a:solidFill>
            <a:srgbClr val="FDF3DC"/>
          </a:solidFill>
          <a:ln/>
        </p:spPr>
        <p:txBody>
          <a:bodyPr wrap="square" lIns="127000" tIns="127000" rIns="127000" bIns="127000" rtlCol="0" anchor="t"/>
          <a:lstStyle/>
          <a:p>
            <a:pPr indent="0" marL="0">
              <a:buNone/>
            </a:pPr>
            <a:r>
              <a:rPr lang="en-US" sz="1200" dirty="0">
                <a:solidFill>
                  <a:schemeClr val="tx1"/>
                </a:solidFill>
              </a:rPr>
              <a:t>Kanıt notu: ilk madde ERİŞKİN/pediatriye özgü değil.</a:t>
            </a:r>
            <a:endParaRPr lang="en-US" sz="12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2,8,9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1 · Patern ve tanım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İki sayı paterni ayırır: pikte ≥4 kusma/saat ve ayda ≤9 atak</a:t>
            </a:r>
            <a:endParaRPr lang="en-US" sz="2600" dirty="0"/>
          </a:p>
        </p:txBody>
      </p:sp>
      <p:sp>
        <p:nvSpPr>
          <p:cNvPr id="4" name="govde-39"/>
          <p:cNvSpPr txBox="1"/>
          <p:nvPr/>
        </p:nvSpPr>
        <p:spPr>
          <a:xfrm>
            <a:off x="548640" y="1600200"/>
            <a:ext cx="5486400" cy="4160520"/>
          </a:xfrm>
          <a:prstGeom prst="rect">
            <a:avLst/>
          </a:prstGeom>
          <a:noFill/>
          <a:ln/>
        </p:spPr>
        <p:txBody>
          <a:bodyPr wrap="square" lIns="0" tIns="0" rIns="0" bIns="0" rtlCol="0" anchor="t"/>
          <a:lstStyle/>
          <a:p>
            <a:pPr marL="254000" indent="-254000">
              <a:spcAft>
                <a:spcPts val="1800"/>
              </a:spcAft>
              <a:buSzPct val="100000"/>
              <a:buChar char="•"/>
            </a:pPr>
            <a:r>
              <a:rPr lang="en-US" sz="1700" dirty="0">
                <a:solidFill>
                  <a:schemeClr val="tx1"/>
                </a:solidFill>
              </a:rPr>
              <a:t>Sevkli 106 çocuk: bu eşiklerle siklik (n=34) ve kronik (n=72) patern ayrıldı</a:t>
            </a:r>
            <a:r>
              <a:rPr lang="en-US" sz="1700" baseline="30000" dirty="0">
                <a:solidFill>
                  <a:schemeClr val="accent4"/>
                </a:solidFill>
              </a:rPr>
              <a:t>⁠[3]</a:t>
            </a:r>
            <a:endParaRPr lang="en-US" sz="1700" dirty="0"/>
          </a:p>
          <a:p>
            <a:pPr marL="254000" indent="-254000">
              <a:spcAft>
                <a:spcPts val="1800"/>
              </a:spcAft>
              <a:buSzPct val="100000"/>
              <a:buChar char="•"/>
            </a:pPr>
            <a:r>
              <a:rPr lang="en-US" sz="1700" dirty="0">
                <a:solidFill>
                  <a:schemeClr val="tx1"/>
                </a:solidFill>
              </a:rPr>
              <a:t>Yazarların sonucu: siklikte abdominal migren, kronikte peptik/enfeksiyöz GİS hastalığı baskın</a:t>
            </a:r>
            <a:endParaRPr lang="en-US" sz="1700" dirty="0"/>
          </a:p>
          <a:p>
            <a:pPr marL="254000" indent="-254000">
              <a:spcAft>
                <a:spcPts val="1800"/>
              </a:spcAft>
              <a:buSzPct val="100000"/>
              <a:buChar char="•"/>
            </a:pPr>
            <a:r>
              <a:rPr lang="en-US" sz="1700" dirty="0">
                <a:solidFill>
                  <a:schemeClr val="tx1"/>
                </a:solidFill>
              </a:rPr>
              <a:t>Prospektif tek merkez: en iyi eşik 12 ayda 4–⁠10 atak, süre &gt;2 saat</a:t>
            </a:r>
            <a:r>
              <a:rPr lang="en-US" sz="1700" baseline="30000" dirty="0">
                <a:solidFill>
                  <a:schemeClr val="accent4"/>
                </a:solidFill>
              </a:rPr>
              <a:t>⁠[10]</a:t>
            </a:r>
            <a:endParaRPr lang="en-US" sz="1700" dirty="0"/>
          </a:p>
        </p:txBody>
      </p:sp>
      <p:pic>
        <p:nvPicPr>
          <p:cNvPr id="5" name="sekil-40" descr="Şematik patern çizimi">    </p:cNvPr>
          <p:cNvPicPr>
            <a:picLocks noChangeAspect="1"/>
          </p:cNvPicPr>
          <p:nvPr/>
        </p:nvPicPr>
        <p:blipFill>
          <a:blip r:embed="rId1"/>
          <a:stretch>
            <a:fillRect/>
          </a:stretch>
        </p:blipFill>
        <p:spPr>
          <a:xfrm>
            <a:off x="6263640" y="1554480"/>
            <a:ext cx="5376672" cy="3986784"/>
          </a:xfrm>
          <a:prstGeom prst="rect">
            <a:avLst/>
          </a:prstGeom>
        </p:spPr>
      </p:pic>
      <p:sp>
        <p:nvSpPr>
          <p:cNvPr id="6" name="dipnot-41"/>
          <p:cNvSpPr txBox="1"/>
          <p:nvPr/>
        </p:nvSpPr>
        <p:spPr>
          <a:xfrm>
            <a:off x="548640" y="5897880"/>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Pfau özetindeki oranlar ve sıklık SD'si bozuk → yalnız eşikler kullanıldı.</a:t>
            </a:r>
            <a:endParaRPr lang="en-US" sz="1100" dirty="0"/>
          </a:p>
        </p:txBody>
      </p:sp>
      <p:sp>
        <p:nvSpPr>
          <p:cNvPr id="7"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3,10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1 · Patern ve tanım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Siklik patern SKS ile aynı şey değildir</a:t>
            </a:r>
            <a:endParaRPr lang="en-US" sz="2600" dirty="0"/>
          </a:p>
        </p:txBody>
      </p:sp>
      <p:sp>
        <p:nvSpPr>
          <p:cNvPr id="4" name="govde-42"/>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Siklik paternle gelen 225 çocuğun %88'i idiyopatik SKS</a:t>
            </a:r>
            <a:r>
              <a:rPr lang="en-US" sz="2200" baseline="30000" dirty="0">
                <a:solidFill>
                  <a:schemeClr val="accent4"/>
                </a:solidFill>
              </a:rPr>
              <a:t>⁠[11]</a:t>
            </a:r>
            <a:endParaRPr lang="en-US" sz="2200" dirty="0"/>
          </a:p>
          <a:p>
            <a:pPr marL="254000" indent="-254000">
              <a:spcAft>
                <a:spcPts val="1800"/>
              </a:spcAft>
              <a:buSzPct val="100000"/>
              <a:buChar char="•"/>
            </a:pPr>
            <a:r>
              <a:rPr lang="en-US" sz="2200" dirty="0">
                <a:solidFill>
                  <a:schemeClr val="tx1"/>
                </a:solidFill>
              </a:rPr>
              <a:t>Geri kalan ~%12: malrotasyon, akut hidronefroz, SSS tümörü, Addison hastalığı, YAOB</a:t>
            </a:r>
            <a:r>
              <a:rPr lang="en-US" sz="2200" baseline="30000" dirty="0">
                <a:solidFill>
                  <a:schemeClr val="accent4"/>
                </a:solidFill>
              </a:rPr>
              <a:t>⁠[11]</a:t>
            </a:r>
            <a:endParaRPr lang="en-US" sz="2200" dirty="0"/>
          </a:p>
          <a:p>
            <a:pPr marL="254000" indent="-254000">
              <a:spcAft>
                <a:spcPts val="1800"/>
              </a:spcAft>
              <a:buSzPct val="100000"/>
              <a:buChar char="•"/>
            </a:pPr>
            <a:r>
              <a:rPr lang="en-US" sz="2200" dirty="0">
                <a:solidFill>
                  <a:schemeClr val="tx1"/>
                </a:solidFill>
              </a:rPr>
              <a:t>NASPGHAN 2008: "av tüfeği" tetkik yerine bayraklara göre hedefe yönelik tetkik</a:t>
            </a:r>
            <a:r>
              <a:rPr lang="en-US" sz="2200" baseline="30000" dirty="0">
                <a:solidFill>
                  <a:schemeClr val="accent4"/>
                </a:solidFill>
              </a:rPr>
              <a:t>⁠[12]</a:t>
            </a:r>
            <a:endParaRPr lang="en-US" sz="2200" dirty="0"/>
          </a:p>
        </p:txBody>
      </p:sp>
      <p:sp>
        <p:nvSpPr>
          <p:cNvPr id="5" name="kart-43"/>
          <p:cNvSpPr/>
          <p:nvPr/>
        </p:nvSpPr>
        <p:spPr>
          <a:xfrm>
            <a:off x="8001000" y="1600200"/>
            <a:ext cx="3639312" cy="2331720"/>
          </a:xfrm>
          <a:prstGeom prst="roundRect">
            <a:avLst>
              <a:gd name="adj" fmla="val 4706"/>
            </a:avLst>
          </a:prstGeom>
          <a:solidFill>
            <a:schemeClr val="bg2"/>
          </a:solidFill>
          <a:ln/>
        </p:spPr>
      </p:sp>
      <p:sp>
        <p:nvSpPr>
          <p:cNvPr id="6" name="sayi-44"/>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%88</a:t>
            </a:r>
            <a:endParaRPr lang="en-US" sz="4800" dirty="0"/>
          </a:p>
        </p:txBody>
      </p:sp>
      <p:sp>
        <p:nvSpPr>
          <p:cNvPr id="7" name="sayi-alt-45"/>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siklik paternde idiyopatik SKS (n=225)</a:t>
            </a:r>
            <a:endParaRPr lang="en-US" sz="1400" dirty="0"/>
          </a:p>
        </p:txBody>
      </p:sp>
      <p:sp>
        <p:nvSpPr>
          <p:cNvPr id="8" name="dipnot-46"/>
          <p:cNvSpPr txBox="1"/>
          <p:nvPr/>
        </p:nvSpPr>
        <p:spPr>
          <a:xfrm>
            <a:off x="548640" y="5897880"/>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Özetteki alt oranlar (%12 cerrahi / %2 endokrin-metabolik; %7 + %5) birbiriyle tutarsız → yalnız %88 ve kalan ~%12 verildi.</a:t>
            </a:r>
            <a:endParaRPr lang="en-US" sz="11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11,12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1 · Patern ve tanım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Patern zamanla değişebilir: siklikten günlük semptomlara</a:t>
            </a:r>
            <a:endParaRPr lang="en-US" sz="2600" dirty="0"/>
          </a:p>
        </p:txBody>
      </p:sp>
      <p:sp>
        <p:nvSpPr>
          <p:cNvPr id="4" name="govde-47"/>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Üçüncü basamak SKS merkezinde 100 çocuğun %40'ında adolesanda disotonomi semptomları; kronik semptom başlangıcı medyan 14 yaş</a:t>
            </a:r>
            <a:r>
              <a:rPr lang="en-US" sz="2200" baseline="30000" dirty="0">
                <a:solidFill>
                  <a:schemeClr val="accent4"/>
                </a:solidFill>
              </a:rPr>
              <a:t>⁠[13]</a:t>
            </a:r>
            <a:endParaRPr lang="en-US" sz="2200" dirty="0"/>
          </a:p>
          <a:p>
            <a:pPr marL="254000" indent="-254000">
              <a:spcAft>
                <a:spcPts val="1800"/>
              </a:spcAft>
              <a:buSzPct val="100000"/>
              <a:buChar char="•"/>
            </a:pPr>
            <a:r>
              <a:rPr lang="en-US" sz="2200" dirty="0">
                <a:solidFill>
                  <a:schemeClr val="tx1"/>
                </a:solidFill>
              </a:rPr>
              <a:t>İrlanda kohortu: 9 ayda 22 çocuğun 17'si hâlâ kusuyor, ancak sıklık ve şiddet azaldı</a:t>
            </a:r>
            <a:r>
              <a:rPr lang="en-US" sz="2200" baseline="30000" dirty="0">
                <a:solidFill>
                  <a:schemeClr val="accent4"/>
                </a:solidFill>
              </a:rPr>
              <a:t>⁠[14]</a:t>
            </a:r>
            <a:endParaRPr lang="en-US" sz="2200" dirty="0"/>
          </a:p>
          <a:p>
            <a:pPr marL="254000" indent="-254000">
              <a:spcAft>
                <a:spcPts val="1800"/>
              </a:spcAft>
              <a:buSzPct val="100000"/>
              <a:buChar char="•"/>
            </a:pPr>
            <a:r>
              <a:rPr lang="en-US" sz="2200" dirty="0">
                <a:solidFill>
                  <a:schemeClr val="tx1"/>
                </a:solidFill>
              </a:rPr>
              <a:t>Tanılı 41 çocuğun izleminde %61'inde kusma geçmiş</a:t>
            </a:r>
            <a:r>
              <a:rPr lang="en-US" sz="2200" baseline="30000" dirty="0">
                <a:solidFill>
                  <a:schemeClr val="accent4"/>
                </a:solidFill>
              </a:rPr>
              <a:t>⁠[15]</a:t>
            </a:r>
            <a:endParaRPr lang="en-US" sz="2200" dirty="0"/>
          </a:p>
        </p:txBody>
      </p:sp>
      <p:sp>
        <p:nvSpPr>
          <p:cNvPr id="5" name="kart-48"/>
          <p:cNvSpPr/>
          <p:nvPr/>
        </p:nvSpPr>
        <p:spPr>
          <a:xfrm>
            <a:off x="8001000" y="1600200"/>
            <a:ext cx="3639312" cy="2331720"/>
          </a:xfrm>
          <a:prstGeom prst="roundRect">
            <a:avLst>
              <a:gd name="adj" fmla="val 4706"/>
            </a:avLst>
          </a:prstGeom>
          <a:solidFill>
            <a:schemeClr val="bg2"/>
          </a:solidFill>
          <a:ln/>
        </p:spPr>
      </p:sp>
      <p:sp>
        <p:nvSpPr>
          <p:cNvPr id="6" name="sayi-49"/>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%40</a:t>
            </a:r>
            <a:endParaRPr lang="en-US" sz="4800" dirty="0"/>
          </a:p>
        </p:txBody>
      </p:sp>
      <p:sp>
        <p:nvSpPr>
          <p:cNvPr id="7" name="sayi-alt-50"/>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adolesanda disotonomi semptomları (3. basamak, n=100)</a:t>
            </a:r>
            <a:endParaRPr lang="en-US" sz="1400" dirty="0"/>
          </a:p>
        </p:txBody>
      </p:sp>
      <p:sp>
        <p:nvSpPr>
          <p:cNvPr id="8" name="dipnot-51"/>
          <p:cNvSpPr txBox="1"/>
          <p:nvPr/>
        </p:nvSpPr>
        <p:spPr>
          <a:xfrm>
            <a:off x="548640" y="5897880"/>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%40'ın yalnız %20'si kapsamlı otonom testle doğrulandı.</a:t>
            </a:r>
            <a:endParaRPr lang="en-US" sz="11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13–15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1 · Patern ve tanım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Yaşa göre olası nedenler farklıdır</a:t>
            </a:r>
            <a:endParaRPr lang="en-US" sz="2600" dirty="0"/>
          </a:p>
        </p:txBody>
      </p:sp>
      <p:sp>
        <p:nvSpPr>
          <p:cNvPr id="4" name="yas-kart-52"/>
          <p:cNvSpPr/>
          <p:nvPr/>
        </p:nvSpPr>
        <p:spPr>
          <a:xfrm>
            <a:off x="548640" y="1600200"/>
            <a:ext cx="3520440" cy="3246120"/>
          </a:xfrm>
          <a:prstGeom prst="roundRect">
            <a:avLst>
              <a:gd name="adj" fmla="val 3380"/>
            </a:avLst>
          </a:prstGeom>
          <a:solidFill>
            <a:schemeClr val="bg2"/>
          </a:solidFill>
          <a:ln/>
        </p:spPr>
      </p:sp>
      <p:sp>
        <p:nvSpPr>
          <p:cNvPr id="5" name="yas-baslik-53"/>
          <p:cNvSpPr txBox="1"/>
          <p:nvPr/>
        </p:nvSpPr>
        <p:spPr>
          <a:xfrm>
            <a:off x="777240" y="1737360"/>
            <a:ext cx="31089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Süt çocuğu</a:t>
            </a:r>
            <a:endParaRPr lang="en-US" sz="2000" dirty="0"/>
          </a:p>
        </p:txBody>
      </p:sp>
      <p:sp>
        <p:nvSpPr>
          <p:cNvPr id="6" name="yas-govde-54"/>
          <p:cNvSpPr txBox="1"/>
          <p:nvPr/>
        </p:nvSpPr>
        <p:spPr>
          <a:xfrm>
            <a:off x="777240" y="2286000"/>
            <a:ext cx="3108960" cy="246888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chemeClr val="tx1"/>
                </a:solidFill>
              </a:rPr>
              <a:t>Fizyolojik regürjitasyon sık</a:t>
            </a:r>
            <a:endParaRPr lang="en-US" sz="1700" dirty="0"/>
          </a:p>
          <a:p>
            <a:pPr marL="203200" indent="-203200">
              <a:spcAft>
                <a:spcPts val="1000"/>
              </a:spcAft>
              <a:buSzPct val="100000"/>
              <a:buChar char="•"/>
            </a:pPr>
            <a:r>
              <a:rPr lang="en-US" sz="1700" dirty="0">
                <a:solidFill>
                  <a:schemeClr val="tx1"/>
                </a:solidFill>
              </a:rPr>
              <a:t>&gt;6 ay başlangıç ya da &gt;12 ay süreklilik alternatif tanı düşündürür</a:t>
            </a:r>
            <a:r>
              <a:rPr lang="en-US" sz="1700" baseline="30000" dirty="0">
                <a:solidFill>
                  <a:schemeClr val="accent4"/>
                </a:solidFill>
              </a:rPr>
              <a:t>⁠[16]</a:t>
            </a:r>
            <a:endParaRPr lang="en-US" sz="1700" dirty="0"/>
          </a:p>
          <a:p>
            <a:pPr marL="203200" indent="-203200">
              <a:spcAft>
                <a:spcPts val="1000"/>
              </a:spcAft>
              <a:buSzPct val="100000"/>
              <a:buChar char="•"/>
            </a:pPr>
            <a:r>
              <a:rPr lang="en-US" sz="1700" dirty="0">
                <a:solidFill>
                  <a:schemeClr val="tx1"/>
                </a:solidFill>
              </a:rPr>
              <a:t>İSPA GÖRH'ten ayırt edilemeyebilir</a:t>
            </a:r>
            <a:r>
              <a:rPr lang="en-US" sz="1700" baseline="30000" dirty="0">
                <a:solidFill>
                  <a:schemeClr val="accent4"/>
                </a:solidFill>
              </a:rPr>
              <a:t>⁠[16]</a:t>
            </a:r>
            <a:endParaRPr lang="en-US" sz="1700" dirty="0"/>
          </a:p>
          <a:p>
            <a:pPr marL="203200" indent="-203200">
              <a:spcAft>
                <a:spcPts val="1000"/>
              </a:spcAft>
              <a:buSzPct val="100000"/>
              <a:buChar char="•"/>
            </a:pPr>
            <a:r>
              <a:rPr lang="en-US" sz="1700" dirty="0">
                <a:solidFill>
                  <a:schemeClr val="tx1"/>
                </a:solidFill>
              </a:rPr>
              <a:t>&lt;2 yaşta EoE'nin en sık başvurusu kusma</a:t>
            </a:r>
            <a:r>
              <a:rPr lang="en-US" sz="1700" baseline="30000" dirty="0">
                <a:solidFill>
                  <a:schemeClr val="accent4"/>
                </a:solidFill>
              </a:rPr>
              <a:t>⁠[17]</a:t>
            </a:r>
            <a:endParaRPr lang="en-US" sz="1700" dirty="0"/>
          </a:p>
        </p:txBody>
      </p:sp>
      <p:sp>
        <p:nvSpPr>
          <p:cNvPr id="7" name="yas-kart-55"/>
          <p:cNvSpPr/>
          <p:nvPr/>
        </p:nvSpPr>
        <p:spPr>
          <a:xfrm>
            <a:off x="4297680" y="1600200"/>
            <a:ext cx="3520440" cy="3246120"/>
          </a:xfrm>
          <a:prstGeom prst="roundRect">
            <a:avLst>
              <a:gd name="adj" fmla="val 3380"/>
            </a:avLst>
          </a:prstGeom>
          <a:solidFill>
            <a:schemeClr val="bg2"/>
          </a:solidFill>
          <a:ln/>
        </p:spPr>
      </p:sp>
      <p:sp>
        <p:nvSpPr>
          <p:cNvPr id="8" name="yas-baslik-56"/>
          <p:cNvSpPr txBox="1"/>
          <p:nvPr/>
        </p:nvSpPr>
        <p:spPr>
          <a:xfrm>
            <a:off x="4526280" y="1737360"/>
            <a:ext cx="31089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Okul çağı</a:t>
            </a:r>
            <a:endParaRPr lang="en-US" sz="2000" dirty="0"/>
          </a:p>
        </p:txBody>
      </p:sp>
      <p:sp>
        <p:nvSpPr>
          <p:cNvPr id="9" name="yas-govde-57"/>
          <p:cNvSpPr txBox="1"/>
          <p:nvPr/>
        </p:nvSpPr>
        <p:spPr>
          <a:xfrm>
            <a:off x="4526280" y="2286000"/>
            <a:ext cx="3108960" cy="246888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chemeClr val="tx1"/>
                </a:solidFill>
              </a:rPr>
              <a:t>SKS ort. başlangıç 5,3–⁠5,8 yaş</a:t>
            </a:r>
            <a:r>
              <a:rPr lang="en-US" sz="1700" baseline="30000" dirty="0">
                <a:solidFill>
                  <a:schemeClr val="accent4"/>
                </a:solidFill>
              </a:rPr>
              <a:t>⁠[15,18]</a:t>
            </a:r>
            <a:endParaRPr lang="en-US" sz="1700" dirty="0"/>
          </a:p>
          <a:p>
            <a:pPr marL="203200" indent="-203200">
              <a:spcAft>
                <a:spcPts val="1000"/>
              </a:spcAft>
              <a:buSzPct val="100000"/>
              <a:buChar char="•"/>
            </a:pPr>
            <a:r>
              <a:rPr lang="en-US" sz="1700" dirty="0">
                <a:solidFill>
                  <a:schemeClr val="tx1"/>
                </a:solidFill>
              </a:rPr>
              <a:t>Panayiotopoulos sendromu ~3–⁠6 yaş</a:t>
            </a:r>
            <a:r>
              <a:rPr lang="en-US" sz="1700" baseline="30000" dirty="0">
                <a:solidFill>
                  <a:schemeClr val="accent4"/>
                </a:solidFill>
              </a:rPr>
              <a:t>⁠[19]</a:t>
            </a:r>
            <a:endParaRPr lang="en-US" sz="1700" dirty="0"/>
          </a:p>
        </p:txBody>
      </p:sp>
      <p:sp>
        <p:nvSpPr>
          <p:cNvPr id="10" name="yas-kart-58"/>
          <p:cNvSpPr/>
          <p:nvPr/>
        </p:nvSpPr>
        <p:spPr>
          <a:xfrm>
            <a:off x="8046720" y="1600200"/>
            <a:ext cx="3520440" cy="3246120"/>
          </a:xfrm>
          <a:prstGeom prst="roundRect">
            <a:avLst>
              <a:gd name="adj" fmla="val 3380"/>
            </a:avLst>
          </a:prstGeom>
          <a:solidFill>
            <a:schemeClr val="bg2"/>
          </a:solidFill>
          <a:ln/>
        </p:spPr>
      </p:sp>
      <p:sp>
        <p:nvSpPr>
          <p:cNvPr id="11" name="yas-baslik-59"/>
          <p:cNvSpPr txBox="1"/>
          <p:nvPr/>
        </p:nvSpPr>
        <p:spPr>
          <a:xfrm>
            <a:off x="8275320" y="1737360"/>
            <a:ext cx="31089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Adolesan</a:t>
            </a:r>
            <a:endParaRPr lang="en-US" sz="2000" dirty="0"/>
          </a:p>
        </p:txBody>
      </p:sp>
      <p:sp>
        <p:nvSpPr>
          <p:cNvPr id="12" name="yas-govde-60"/>
          <p:cNvSpPr txBox="1"/>
          <p:nvPr/>
        </p:nvSpPr>
        <p:spPr>
          <a:xfrm>
            <a:off x="8275320" y="2286000"/>
            <a:ext cx="3108960" cy="246888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chemeClr val="tx1"/>
                </a:solidFill>
              </a:rPr>
              <a:t>KHS (SKS'den daha büyük yaş)</a:t>
            </a:r>
            <a:r>
              <a:rPr lang="en-US" sz="1700" baseline="30000" dirty="0">
                <a:solidFill>
                  <a:schemeClr val="accent4"/>
                </a:solidFill>
              </a:rPr>
              <a:t>⁠[20]</a:t>
            </a:r>
            <a:endParaRPr lang="en-US" sz="1700" dirty="0"/>
          </a:p>
          <a:p>
            <a:pPr marL="203200" indent="-203200">
              <a:spcAft>
                <a:spcPts val="1000"/>
              </a:spcAft>
              <a:buSzPct val="100000"/>
              <a:buChar char="•"/>
            </a:pPr>
            <a:r>
              <a:rPr lang="en-US" sz="1700" dirty="0">
                <a:solidFill>
                  <a:schemeClr val="tx1"/>
                </a:solidFill>
              </a:rPr>
              <a:t>Ruminasyon + yeme bozukluğu</a:t>
            </a:r>
            <a:r>
              <a:rPr lang="en-US" sz="1700" baseline="30000" dirty="0">
                <a:solidFill>
                  <a:schemeClr val="accent4"/>
                </a:solidFill>
              </a:rPr>
              <a:t>⁠[21]</a:t>
            </a:r>
            <a:endParaRPr lang="en-US" sz="1700" dirty="0"/>
          </a:p>
          <a:p>
            <a:pPr marL="203200" indent="-203200">
              <a:spcAft>
                <a:spcPts val="1000"/>
              </a:spcAft>
              <a:buSzPct val="100000"/>
              <a:buChar char="•"/>
            </a:pPr>
            <a:r>
              <a:rPr lang="en-US" sz="1700" dirty="0">
                <a:solidFill>
                  <a:schemeClr val="tx1"/>
                </a:solidFill>
              </a:rPr>
              <a:t>Disotonomi</a:t>
            </a:r>
            <a:r>
              <a:rPr lang="en-US" sz="1700" baseline="30000" dirty="0">
                <a:solidFill>
                  <a:schemeClr val="accent4"/>
                </a:solidFill>
              </a:rPr>
              <a:t>⁠[13]</a:t>
            </a:r>
            <a:endParaRPr lang="en-US" sz="1700" dirty="0"/>
          </a:p>
        </p:txBody>
      </p:sp>
      <p:sp>
        <p:nvSpPr>
          <p:cNvPr id="13" name="her-yas-61"/>
          <p:cNvSpPr txBox="1"/>
          <p:nvPr/>
        </p:nvSpPr>
        <p:spPr>
          <a:xfrm>
            <a:off x="548640" y="5029200"/>
            <a:ext cx="11091672" cy="640080"/>
          </a:xfrm>
          <a:prstGeom prst="roundRect">
            <a:avLst>
              <a:gd name="adj" fmla="val 14286"/>
            </a:avLst>
          </a:prstGeom>
          <a:solidFill>
            <a:schemeClr val="accent2"/>
          </a:solidFill>
          <a:ln/>
        </p:spPr>
        <p:txBody>
          <a:bodyPr wrap="square" lIns="177800" tIns="50800" rIns="177800" bIns="50800" rtlCol="0" anchor="ctr"/>
          <a:lstStyle/>
          <a:p>
            <a:pPr indent="0" marL="0">
              <a:buNone/>
            </a:pPr>
            <a:r>
              <a:rPr lang="en-US" sz="1700" b="1" dirty="0">
                <a:solidFill>
                  <a:schemeClr val="bg1"/>
                </a:solidFill>
              </a:rPr>
              <a:t>Her yaşta:</a:t>
            </a:r>
            <a:r>
              <a:rPr lang="en-US" sz="1700" dirty="0">
                <a:solidFill>
                  <a:schemeClr val="bg1"/>
                </a:solidFill>
              </a:rPr>
              <a:t> safralı kusma aksi kanıtlanana dek obstrüksiyon</a:t>
            </a:r>
            <a:r>
              <a:rPr lang="en-US" sz="1700" baseline="30000" dirty="0">
                <a:solidFill>
                  <a:schemeClr val="bg1"/>
                </a:solidFill>
              </a:rPr>
              <a:t>⁠[22]</a:t>
            </a:r>
            <a:endParaRPr lang="en-US" sz="1700" dirty="0"/>
          </a:p>
        </p:txBody>
      </p:sp>
      <p:sp>
        <p:nvSpPr>
          <p:cNvPr id="14" name="dipnot-62"/>
          <p:cNvSpPr txBox="1"/>
          <p:nvPr/>
        </p:nvSpPr>
        <p:spPr>
          <a:xfrm>
            <a:off x="548640" y="5833872"/>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Yaşa göre nicel neden dağılımı veren kaynak bulunamadı; harita anlatı düzeyinde.</a:t>
            </a:r>
            <a:endParaRPr lang="en-US" sz="1100" dirty="0"/>
          </a:p>
        </p:txBody>
      </p:sp>
      <p:sp>
        <p:nvSpPr>
          <p:cNvPr id="15"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13,15–22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2 · Öykü ve muayene</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Öykü: prodrom, tetikleyici, saat, menstrüasyon, kannabis, ilaç</a:t>
            </a:r>
            <a:endParaRPr lang="en-US" sz="2600" dirty="0"/>
          </a:p>
        </p:txBody>
      </p:sp>
      <p:sp>
        <p:nvSpPr>
          <p:cNvPr id="4" name="govde-63"/>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SKS'de ~%90 prodrom; hastaların ~3/4'ünde tetikleyici: stres, enfeksiyon, besin, açlık, uykusuzluk, menstrüasyon</a:t>
            </a:r>
            <a:r>
              <a:rPr lang="en-US" sz="2200" baseline="30000" dirty="0">
                <a:solidFill>
                  <a:schemeClr val="accent4"/>
                </a:solidFill>
              </a:rPr>
              <a:t>⁠[23]</a:t>
            </a:r>
            <a:endParaRPr lang="en-US" sz="2200" dirty="0"/>
          </a:p>
          <a:p>
            <a:pPr marL="254000" indent="-254000">
              <a:spcAft>
                <a:spcPts val="1800"/>
              </a:spcAft>
              <a:buSzPct val="100000"/>
              <a:buChar char="•"/>
            </a:pPr>
            <a:r>
              <a:rPr lang="en-US" sz="2200" dirty="0">
                <a:solidFill>
                  <a:schemeClr val="tx1"/>
                </a:solidFill>
              </a:rPr>
              <a:t>%75'e varanında gece/sabah başlar, sıklıkla safralı → saat ve safra tek başına ayırt etmez</a:t>
            </a:r>
            <a:r>
              <a:rPr lang="en-US" sz="2200" baseline="30000" dirty="0">
                <a:solidFill>
                  <a:schemeClr val="accent4"/>
                </a:solidFill>
              </a:rPr>
              <a:t>⁠[23]</a:t>
            </a:r>
            <a:endParaRPr lang="en-US" sz="2200" dirty="0"/>
          </a:p>
          <a:p>
            <a:pPr marL="254000" indent="-254000">
              <a:spcAft>
                <a:spcPts val="1800"/>
              </a:spcAft>
              <a:buSzPct val="100000"/>
              <a:buChar char="•"/>
            </a:pPr>
            <a:r>
              <a:rPr lang="en-US" sz="2200" dirty="0">
                <a:solidFill>
                  <a:schemeClr val="tx1"/>
                </a:solidFill>
              </a:rPr>
              <a:t>Atakları siklusla eşle; adolesan kannabisi eksik bildirebilir</a:t>
            </a:r>
            <a:r>
              <a:rPr lang="en-US" sz="2200" baseline="30000" dirty="0">
                <a:solidFill>
                  <a:schemeClr val="accent4"/>
                </a:solidFill>
              </a:rPr>
              <a:t>⁠[8]</a:t>
            </a:r>
            <a:endParaRPr lang="en-US" sz="2200" dirty="0"/>
          </a:p>
          <a:p>
            <a:pPr marL="254000" indent="-254000">
              <a:spcAft>
                <a:spcPts val="1800"/>
              </a:spcAft>
              <a:buSzPct val="100000"/>
              <a:buChar char="•"/>
            </a:pPr>
            <a:r>
              <a:rPr lang="en-US" sz="2200" dirty="0">
                <a:solidFill>
                  <a:schemeClr val="tx1"/>
                </a:solidFill>
              </a:rPr>
              <a:t>İlaç/toksin sor</a:t>
            </a:r>
            <a:r>
              <a:rPr lang="en-US" sz="2200" baseline="30000" dirty="0">
                <a:solidFill>
                  <a:schemeClr val="accent4"/>
                </a:solidFill>
              </a:rPr>
              <a:t>⁠[24]</a:t>
            </a:r>
            <a:endParaRPr lang="en-US" sz="2200" dirty="0"/>
          </a:p>
        </p:txBody>
      </p:sp>
      <p:sp>
        <p:nvSpPr>
          <p:cNvPr id="5" name="kart-64"/>
          <p:cNvSpPr/>
          <p:nvPr/>
        </p:nvSpPr>
        <p:spPr>
          <a:xfrm>
            <a:off x="8001000" y="1600200"/>
            <a:ext cx="3639312" cy="2331720"/>
          </a:xfrm>
          <a:prstGeom prst="roundRect">
            <a:avLst>
              <a:gd name="adj" fmla="val 4706"/>
            </a:avLst>
          </a:prstGeom>
          <a:solidFill>
            <a:schemeClr val="bg2"/>
          </a:solidFill>
          <a:ln/>
        </p:spPr>
      </p:sp>
      <p:sp>
        <p:nvSpPr>
          <p:cNvPr id="6" name="sayi-65"/>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~%90</a:t>
            </a:r>
            <a:endParaRPr lang="en-US" sz="4800" dirty="0"/>
          </a:p>
        </p:txBody>
      </p:sp>
      <p:sp>
        <p:nvSpPr>
          <p:cNvPr id="7" name="sayi-alt-66"/>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SKS'de prodrom</a:t>
            </a:r>
            <a:endParaRPr lang="en-US" sz="1400" dirty="0"/>
          </a:p>
        </p:txBody>
      </p:sp>
      <p:sp>
        <p:nvSpPr>
          <p:cNvPr id="8" name="kanit-notu-67"/>
          <p:cNvSpPr txBox="1"/>
          <p:nvPr/>
        </p:nvSpPr>
        <p:spPr>
          <a:xfrm>
            <a:off x="8001000" y="4114800"/>
            <a:ext cx="3639312" cy="868680"/>
          </a:xfrm>
          <a:prstGeom prst="rect">
            <a:avLst/>
          </a:prstGeom>
          <a:solidFill>
            <a:srgbClr val="FDF3DC"/>
          </a:solidFill>
          <a:ln/>
        </p:spPr>
        <p:txBody>
          <a:bodyPr wrap="square" lIns="127000" tIns="127000" rIns="127000" bIns="127000" rtlCol="0" anchor="t"/>
          <a:lstStyle/>
          <a:p>
            <a:pPr indent="0" marL="0">
              <a:buNone/>
            </a:pPr>
            <a:r>
              <a:rPr lang="en-US" sz="1200" dirty="0">
                <a:solidFill>
                  <a:schemeClr val="tx1"/>
                </a:solidFill>
              </a:rPr>
              <a:t>Kanıt notu: UZMAN (Raucci), son madde DOLAYLI (hipoglisemi kılavuzu).</a:t>
            </a:r>
            <a:endParaRPr lang="en-US" sz="12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8,23,24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2 · Öykü ve muayene</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Muayene: göz dibi, baş çevresi, yürüyüş, tansiyon, deri, büyüme</a:t>
            </a:r>
            <a:endParaRPr lang="en-US" sz="2600" dirty="0"/>
          </a:p>
        </p:txBody>
      </p:sp>
      <p:sp>
        <p:nvSpPr>
          <p:cNvPr id="4" name="govde-68"/>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Beyin tümörlü çocukların yarıdan fazlasında KİBAS bulgusu yok; posterior fossada bulantı-kusma %75; &lt;4 yaşta makrosefali %41</a:t>
            </a:r>
            <a:r>
              <a:rPr lang="en-US" sz="2200" baseline="30000" dirty="0">
                <a:solidFill>
                  <a:schemeClr val="accent4"/>
                </a:solidFill>
              </a:rPr>
              <a:t>⁠[25]</a:t>
            </a:r>
            <a:endParaRPr lang="en-US" sz="2200" dirty="0"/>
          </a:p>
          <a:p>
            <a:pPr marL="254000" indent="-254000">
              <a:spcAft>
                <a:spcPts val="1800"/>
              </a:spcAft>
              <a:buSzPct val="100000"/>
              <a:buChar char="•"/>
            </a:pPr>
            <a:r>
              <a:rPr lang="en-US" sz="2200" dirty="0">
                <a:solidFill>
                  <a:schemeClr val="tx1"/>
                </a:solidFill>
              </a:rPr>
              <a:t>Sato varyantı: atakta hipertansiyon, hiponatremi</a:t>
            </a:r>
            <a:r>
              <a:rPr lang="en-US" sz="2200" baseline="30000" dirty="0">
                <a:solidFill>
                  <a:schemeClr val="accent4"/>
                </a:solidFill>
              </a:rPr>
              <a:t>⁠[26]</a:t>
            </a:r>
            <a:endParaRPr lang="en-US" sz="2200" dirty="0"/>
          </a:p>
          <a:p>
            <a:pPr marL="254000" indent="-254000">
              <a:spcAft>
                <a:spcPts val="1800"/>
              </a:spcAft>
              <a:buSzPct val="100000"/>
              <a:buChar char="•"/>
            </a:pPr>
            <a:r>
              <a:rPr lang="en-US" sz="2200" dirty="0">
                <a:solidFill>
                  <a:schemeClr val="tx1"/>
                </a:solidFill>
              </a:rPr>
              <a:t>Hiperpigmentasyon: X'e bağlı adrenal hipoplazide %90</a:t>
            </a:r>
            <a:r>
              <a:rPr lang="en-US" sz="2200" baseline="30000" dirty="0">
                <a:solidFill>
                  <a:schemeClr val="accent4"/>
                </a:solidFill>
              </a:rPr>
              <a:t>⁠[27]</a:t>
            </a:r>
            <a:endParaRPr lang="en-US" sz="2200" dirty="0"/>
          </a:p>
          <a:p>
            <a:pPr marL="254000" indent="-254000">
              <a:spcAft>
                <a:spcPts val="1800"/>
              </a:spcAft>
              <a:buSzPct val="100000"/>
              <a:buChar char="•"/>
            </a:pPr>
            <a:r>
              <a:rPr lang="en-US" sz="2200" dirty="0">
                <a:solidFill>
                  <a:schemeClr val="tx1"/>
                </a:solidFill>
              </a:rPr>
              <a:t>32 SKS'li çocuğun 12'si organik neden olmadan düşük kilolu</a:t>
            </a:r>
            <a:r>
              <a:rPr lang="en-US" sz="2200" baseline="30000" dirty="0">
                <a:solidFill>
                  <a:schemeClr val="accent4"/>
                </a:solidFill>
              </a:rPr>
              <a:t>⁠[28]</a:t>
            </a:r>
            <a:endParaRPr lang="en-US" sz="2200" dirty="0"/>
          </a:p>
        </p:txBody>
      </p:sp>
      <p:sp>
        <p:nvSpPr>
          <p:cNvPr id="5" name="kart-69"/>
          <p:cNvSpPr/>
          <p:nvPr/>
        </p:nvSpPr>
        <p:spPr>
          <a:xfrm>
            <a:off x="8001000" y="1600200"/>
            <a:ext cx="3639312" cy="2331720"/>
          </a:xfrm>
          <a:prstGeom prst="roundRect">
            <a:avLst>
              <a:gd name="adj" fmla="val 4706"/>
            </a:avLst>
          </a:prstGeom>
          <a:solidFill>
            <a:schemeClr val="bg2"/>
          </a:solidFill>
          <a:ln/>
        </p:spPr>
      </p:sp>
      <p:sp>
        <p:nvSpPr>
          <p:cNvPr id="6" name="sayi-70"/>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%75</a:t>
            </a:r>
            <a:endParaRPr lang="en-US" sz="4800" dirty="0"/>
          </a:p>
        </p:txBody>
      </p:sp>
      <p:sp>
        <p:nvSpPr>
          <p:cNvPr id="7" name="sayi-alt-71"/>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posterior fossa tümöründe bulantı-kusma</a:t>
            </a:r>
            <a:endParaRPr lang="en-US" sz="1400" dirty="0"/>
          </a:p>
        </p:txBody>
      </p:sp>
      <p:sp>
        <p:nvSpPr>
          <p:cNvPr id="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25–28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2 · Öykü ve muayene</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Kırmızı bayraklar: kaynağına göre</a:t>
            </a:r>
            <a:endParaRPr lang="en-US" sz="2600" dirty="0"/>
          </a:p>
        </p:txBody>
      </p:sp>
      <p:graphicFrame>
        <p:nvGraphicFramePr>
          <p:cNvPr id="13" name="tablo-72"/>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7616952"/>
                <a:gridCol w="3474720"/>
              </a:tblGrid>
              <a:tr h="566928">
                <a:tc>
                  <a:txBody>
                    <a:bodyPr/>
                    <a:lstStyle/>
                    <a:p>
                      <a:pPr indent="0" marL="0">
                        <a:buNone/>
                      </a:pPr>
                      <a:r>
                        <a:rPr lang="en-US" sz="1900" b="1" dirty="0">
                          <a:solidFill>
                            <a:schemeClr val="bg1"/>
                          </a:solidFill>
                        </a:rPr>
                        <a:t>Bayrak</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tx2"/>
                    </a:solidFill>
                  </a:tcPr>
                </a:tc>
                <a:tc>
                  <a:txBody>
                    <a:bodyPr/>
                    <a:lstStyle/>
                    <a:p>
                      <a:pPr indent="0" marL="0">
                        <a:buNone/>
                      </a:pPr>
                      <a:r>
                        <a:rPr lang="en-US" sz="1900" b="1" dirty="0">
                          <a:solidFill>
                            <a:schemeClr val="bg1"/>
                          </a:solidFill>
                        </a:rPr>
                        <a:t>Kaynak</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tx2"/>
                    </a:solidFill>
                  </a:tcPr>
                </a:tc>
              </a:tr>
              <a:tr h="566928">
                <a:tc>
                  <a:txBody>
                    <a:bodyPr/>
                    <a:lstStyle/>
                    <a:p>
                      <a:pPr indent="0" marL="0">
                        <a:buNone/>
                      </a:pPr>
                      <a:r>
                        <a:rPr lang="en-US" sz="1900" dirty="0">
                          <a:solidFill>
                            <a:schemeClr val="tx1"/>
                          </a:solidFill>
                        </a:rPr>
                        <a:t>Karın bulgusu (safralı kusma, hassasiyet)</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900" dirty="0">
                          <a:solidFill>
                            <a:schemeClr val="tx1"/>
                          </a:solidFill>
                        </a:rPr>
                        <a:t>NASPGHAN 2008</a:t>
                      </a:r>
                      <a:r>
                        <a:rPr lang="en-US" sz="1900" baseline="30000" dirty="0">
                          <a:solidFill>
                            <a:schemeClr val="accent4"/>
                          </a:solidFill>
                        </a:rPr>
                        <a:t>⁠[12]</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r>
              <a:tr h="566928">
                <a:tc>
                  <a:txBody>
                    <a:bodyPr/>
                    <a:lstStyle/>
                    <a:p>
                      <a:pPr indent="0" marL="0">
                        <a:buNone/>
                      </a:pPr>
                      <a:r>
                        <a:rPr lang="en-US" sz="1900" dirty="0">
                          <a:solidFill>
                            <a:schemeClr val="tx1"/>
                          </a:solidFill>
                        </a:rPr>
                        <a:t>Açlık / yüksek protein / araya giren hastalıkla tetiklenen atak</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900" dirty="0">
                          <a:solidFill>
                            <a:schemeClr val="tx1"/>
                          </a:solidFill>
                        </a:rPr>
                        <a:t>NASPGHAN 2008</a:t>
                      </a:r>
                      <a:r>
                        <a:rPr lang="en-US" sz="1900" baseline="30000" dirty="0">
                          <a:solidFill>
                            <a:schemeClr val="accent4"/>
                          </a:solidFill>
                        </a:rPr>
                        <a:t>⁠[12]</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r>
              <a:tr h="566928">
                <a:tc>
                  <a:txBody>
                    <a:bodyPr/>
                    <a:lstStyle/>
                    <a:p>
                      <a:pPr indent="0" marL="0">
                        <a:buNone/>
                      </a:pPr>
                      <a:r>
                        <a:rPr lang="en-US" sz="1900" dirty="0">
                          <a:solidFill>
                            <a:schemeClr val="tx1"/>
                          </a:solidFill>
                        </a:rPr>
                        <a:t>Anormal nörolojik muayene (bilinç değişikliği, papilödem)</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900" dirty="0">
                          <a:solidFill>
                            <a:schemeClr val="tx1"/>
                          </a:solidFill>
                        </a:rPr>
                        <a:t>NASPGHAN 2008</a:t>
                      </a:r>
                      <a:r>
                        <a:rPr lang="en-US" sz="1900" baseline="30000" dirty="0">
                          <a:solidFill>
                            <a:schemeClr val="accent4"/>
                          </a:solidFill>
                        </a:rPr>
                        <a:t>⁠[12]</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r>
              <a:tr h="566928">
                <a:tc>
                  <a:txBody>
                    <a:bodyPr/>
                    <a:lstStyle/>
                    <a:p>
                      <a:pPr indent="0" marL="0">
                        <a:buNone/>
                      </a:pPr>
                      <a:r>
                        <a:rPr lang="en-US" sz="1900" dirty="0">
                          <a:solidFill>
                            <a:schemeClr val="tx1"/>
                          </a:solidFill>
                        </a:rPr>
                        <a:t>İlerleyici kötüleşen ya da değişen patern</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900" dirty="0">
                          <a:solidFill>
                            <a:schemeClr val="tx1"/>
                          </a:solidFill>
                        </a:rPr>
                        <a:t>NASPGHAN 2008</a:t>
                      </a:r>
                      <a:r>
                        <a:rPr lang="en-US" sz="1900" baseline="30000" dirty="0">
                          <a:solidFill>
                            <a:schemeClr val="accent4"/>
                          </a:solidFill>
                        </a:rPr>
                        <a:t>⁠[12]</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r>
              <a:tr h="566928">
                <a:tc>
                  <a:txBody>
                    <a:bodyPr/>
                    <a:lstStyle/>
                    <a:p>
                      <a:pPr indent="0" marL="0">
                        <a:buNone/>
                      </a:pPr>
                      <a:r>
                        <a:rPr lang="en-US" sz="1900" dirty="0">
                          <a:solidFill>
                            <a:schemeClr val="tx1"/>
                          </a:solidFill>
                        </a:rPr>
                        <a:t>Hepatomegali; 2 ayda standart tedaviye yanıtsızlık</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900" dirty="0">
                          <a:solidFill>
                            <a:schemeClr val="tx1"/>
                          </a:solidFill>
                        </a:rPr>
                        <a:t>Rome V</a:t>
                      </a:r>
                      <a:r>
                        <a:rPr lang="en-US" sz="1900" baseline="30000" dirty="0">
                          <a:solidFill>
                            <a:schemeClr val="accent4"/>
                          </a:solidFill>
                        </a:rPr>
                        <a:t>⁠[8]</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r>
              <a:tr h="566928">
                <a:tc>
                  <a:txBody>
                    <a:bodyPr/>
                    <a:lstStyle/>
                    <a:p>
                      <a:pPr indent="0" marL="0">
                        <a:buNone/>
                      </a:pPr>
                      <a:r>
                        <a:rPr lang="en-US" sz="1900" dirty="0">
                          <a:solidFill>
                            <a:schemeClr val="tx1"/>
                          </a:solidFill>
                        </a:rPr>
                        <a:t>Hematokezi/melena, kafa travması öyküsü</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900" dirty="0">
                          <a:solidFill>
                            <a:schemeClr val="tx1"/>
                          </a:solidFill>
                        </a:rPr>
                        <a:t>Raucci 2020</a:t>
                      </a:r>
                      <a:r>
                        <a:rPr lang="en-US" sz="1900" baseline="30000" dirty="0">
                          <a:solidFill>
                            <a:schemeClr val="accent4"/>
                          </a:solidFill>
                        </a:rPr>
                        <a:t>⁠[23]</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r>
            </a:tbl>
          </a:graphicData>
        </a:graphic>
      </p:graphicFrame>
      <p:sp>
        <p:nvSpPr>
          <p:cNvPr id="5" name="dipnot-73"/>
          <p:cNvSpPr txBox="1"/>
          <p:nvPr/>
        </p:nvSpPr>
        <p:spPr>
          <a:xfrm>
            <a:off x="548640" y="5833872"/>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NASPGHAN 2025 güncel algoritması tam metinden doğrulanmadı.</a:t>
            </a:r>
            <a:endParaRPr lang="en-US" sz="1100" dirty="0"/>
          </a:p>
        </p:txBody>
      </p:sp>
      <p:sp>
        <p:nvSpPr>
          <p:cNvPr id="6"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8,12,23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2 · Öykü ve muayene</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Kırmızı bayrak yokluğu güvence değildir;</a:t>
            </a:r>
            <a:endParaRPr lang="en-US" sz="2600" dirty="0"/>
          </a:p>
          <a:p>
            <a:pPr algn="l" indent="0" marL="0">
              <a:buNone/>
            </a:pPr>
            <a:r>
              <a:rPr lang="en-US" sz="2600" b="1" dirty="0">
                <a:solidFill>
                  <a:schemeClr val="tx1"/>
                </a:solidFill>
              </a:rPr>
              <a:t>ama bu kanıt kusmaya özgü değil</a:t>
            </a:r>
            <a:endParaRPr lang="en-US" sz="2600" dirty="0"/>
          </a:p>
        </p:txBody>
      </p:sp>
      <p:sp>
        <p:nvSpPr>
          <p:cNvPr id="4" name="govde-74"/>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DGBI şüpheli 500 çocuk (çoğu karın ağrısı/kabızlık): %45'inde bayrak, %19'unda organik tanı (çoğu GÖRH/peptik)</a:t>
            </a:r>
            <a:r>
              <a:rPr lang="en-US" sz="2200" baseline="30000" dirty="0">
                <a:solidFill>
                  <a:schemeClr val="accent4"/>
                </a:solidFill>
              </a:rPr>
              <a:t>⁠[29]</a:t>
            </a:r>
            <a:endParaRPr lang="en-US" sz="2200" dirty="0"/>
          </a:p>
          <a:p>
            <a:pPr marL="254000" indent="-254000">
              <a:spcAft>
                <a:spcPts val="1800"/>
              </a:spcAft>
              <a:buSzPct val="100000"/>
              <a:buChar char="•"/>
            </a:pPr>
            <a:r>
              <a:rPr lang="en-US" sz="2200" dirty="0">
                <a:solidFill>
                  <a:schemeClr val="tx1"/>
                </a:solidFill>
              </a:rPr>
              <a:t>Organik tanılıların %38'inde başlangıçta bayrak yoktu</a:t>
            </a:r>
            <a:r>
              <a:rPr lang="en-US" sz="2200" baseline="30000" dirty="0">
                <a:solidFill>
                  <a:schemeClr val="accent4"/>
                </a:solidFill>
              </a:rPr>
              <a:t>⁠[29]</a:t>
            </a:r>
            <a:endParaRPr lang="en-US" sz="2200" dirty="0"/>
          </a:p>
          <a:p>
            <a:pPr marL="254000" indent="-254000">
              <a:spcAft>
                <a:spcPts val="1800"/>
              </a:spcAft>
              <a:buSzPct val="100000"/>
              <a:buChar char="•"/>
            </a:pPr>
            <a:r>
              <a:rPr lang="en-US" sz="2200" dirty="0">
                <a:solidFill>
                  <a:schemeClr val="tx1"/>
                </a:solidFill>
              </a:rPr>
              <a:t>Hiçbir tek test yeterli değil; en iyi model AUC 0,711</a:t>
            </a:r>
            <a:r>
              <a:rPr lang="en-US" sz="2200" baseline="30000" dirty="0">
                <a:solidFill>
                  <a:schemeClr val="accent4"/>
                </a:solidFill>
              </a:rPr>
              <a:t>⁠[29]</a:t>
            </a:r>
            <a:endParaRPr lang="en-US" sz="2200" dirty="0"/>
          </a:p>
        </p:txBody>
      </p:sp>
      <p:sp>
        <p:nvSpPr>
          <p:cNvPr id="5" name="kart-75"/>
          <p:cNvSpPr/>
          <p:nvPr/>
        </p:nvSpPr>
        <p:spPr>
          <a:xfrm>
            <a:off x="8001000" y="1600200"/>
            <a:ext cx="3639312" cy="2331720"/>
          </a:xfrm>
          <a:prstGeom prst="roundRect">
            <a:avLst>
              <a:gd name="adj" fmla="val 4706"/>
            </a:avLst>
          </a:prstGeom>
          <a:solidFill>
            <a:schemeClr val="bg2"/>
          </a:solidFill>
          <a:ln/>
        </p:spPr>
      </p:sp>
      <p:sp>
        <p:nvSpPr>
          <p:cNvPr id="6" name="sayi-76"/>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%38</a:t>
            </a:r>
            <a:endParaRPr lang="en-US" sz="4800" dirty="0"/>
          </a:p>
        </p:txBody>
      </p:sp>
      <p:sp>
        <p:nvSpPr>
          <p:cNvPr id="7" name="sayi-alt-77"/>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organik tanılıların başlangıçta bayraksız oranı (tüm DGBI)</a:t>
            </a:r>
            <a:endParaRPr lang="en-US" sz="1400" dirty="0"/>
          </a:p>
        </p:txBody>
      </p:sp>
      <p:sp>
        <p:nvSpPr>
          <p:cNvPr id="8" name="dipnot-78"/>
          <p:cNvSpPr txBox="1"/>
          <p:nvPr/>
        </p:nvSpPr>
        <p:spPr>
          <a:xfrm>
            <a:off x="548640" y="5897880"/>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Kohortta bulantı-kusma fenotipi %21,8, SKS şüphesi %1,2; model valide edilmemiş.</a:t>
            </a:r>
            <a:endParaRPr lang="en-US" sz="11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29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2 · Öykü ve muayene</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Psikososyal değerlendirme tanı koydurmaz;</a:t>
            </a:r>
            <a:endParaRPr lang="en-US" sz="2600" dirty="0"/>
          </a:p>
          <a:p>
            <a:pPr algn="l" indent="0" marL="0">
              <a:buNone/>
            </a:pPr>
            <a:r>
              <a:rPr lang="en-US" sz="2600" b="1" dirty="0">
                <a:solidFill>
                  <a:schemeClr val="tx1"/>
                </a:solidFill>
              </a:rPr>
              <a:t>hastalık yükünü ve yatışları belirler</a:t>
            </a:r>
            <a:endParaRPr lang="en-US" sz="2600" dirty="0"/>
          </a:p>
        </p:txBody>
      </p:sp>
      <p:sp>
        <p:nvSpPr>
          <p:cNvPr id="4" name="govde-79"/>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SKS'de anksiyete %15–⁠59 (ölçüm aracı ve yaşa göre)</a:t>
            </a:r>
            <a:r>
              <a:rPr lang="en-US" sz="2200" baseline="30000" dirty="0">
                <a:solidFill>
                  <a:schemeClr val="accent4"/>
                </a:solidFill>
              </a:rPr>
              <a:t>⁠[26,30]</a:t>
            </a:r>
            <a:endParaRPr lang="en-US" sz="2200" dirty="0"/>
          </a:p>
          <a:p>
            <a:pPr marL="254000" indent="-254000">
              <a:spcAft>
                <a:spcPts val="1800"/>
              </a:spcAft>
              <a:buSzPct val="100000"/>
              <a:buChar char="•"/>
            </a:pPr>
            <a:r>
              <a:rPr lang="en-US" sz="2200" dirty="0">
                <a:solidFill>
                  <a:schemeClr val="tx1"/>
                </a:solidFill>
              </a:rPr>
              <a:t>SKS'li çocukların yaşam kalitesi organik GİS hastalığı olanlardan farksız</a:t>
            </a:r>
            <a:r>
              <a:rPr lang="en-US" sz="2200" baseline="30000" dirty="0">
                <a:solidFill>
                  <a:schemeClr val="accent4"/>
                </a:solidFill>
              </a:rPr>
              <a:t>⁠[31]</a:t>
            </a:r>
            <a:endParaRPr lang="en-US" sz="2200" dirty="0"/>
          </a:p>
          <a:p>
            <a:pPr marL="254000" indent="-254000">
              <a:spcAft>
                <a:spcPts val="1800"/>
              </a:spcAft>
              <a:buSzPct val="100000"/>
              <a:buChar char="•"/>
            </a:pPr>
            <a:r>
              <a:rPr lang="en-US" sz="2200" dirty="0">
                <a:solidFill>
                  <a:schemeClr val="tx1"/>
                </a:solidFill>
              </a:rPr>
              <a:t>Anksiyete 90 günlük tekrar yatışla ilişkili (n=1370; tekrar yatış %28,5)</a:t>
            </a:r>
            <a:r>
              <a:rPr lang="en-US" sz="2200" baseline="30000" dirty="0">
                <a:solidFill>
                  <a:schemeClr val="accent4"/>
                </a:solidFill>
              </a:rPr>
              <a:t>⁠[32]</a:t>
            </a:r>
            <a:endParaRPr lang="en-US" sz="2200" dirty="0"/>
          </a:p>
          <a:p>
            <a:pPr marL="254000" indent="-254000">
              <a:spcAft>
                <a:spcPts val="1800"/>
              </a:spcAft>
              <a:buSzPct val="100000"/>
              <a:buChar char="•"/>
            </a:pPr>
            <a:r>
              <a:rPr lang="en-US" sz="2200" dirty="0">
                <a:solidFill>
                  <a:schemeClr val="tx1"/>
                </a:solidFill>
              </a:rPr>
              <a:t>Psikososyal bulgu organik/fonksiyonel ayırmaz (karın ağrısı verisi)</a:t>
            </a:r>
            <a:r>
              <a:rPr lang="en-US" sz="2200" baseline="30000" dirty="0">
                <a:solidFill>
                  <a:schemeClr val="accent4"/>
                </a:solidFill>
              </a:rPr>
              <a:t>⁠[33]</a:t>
            </a:r>
            <a:endParaRPr lang="en-US" sz="2200" dirty="0"/>
          </a:p>
        </p:txBody>
      </p:sp>
      <p:sp>
        <p:nvSpPr>
          <p:cNvPr id="5" name="kart-80"/>
          <p:cNvSpPr/>
          <p:nvPr/>
        </p:nvSpPr>
        <p:spPr>
          <a:xfrm>
            <a:off x="8001000" y="1600200"/>
            <a:ext cx="3639312" cy="2331720"/>
          </a:xfrm>
          <a:prstGeom prst="roundRect">
            <a:avLst>
              <a:gd name="adj" fmla="val 4706"/>
            </a:avLst>
          </a:prstGeom>
          <a:solidFill>
            <a:schemeClr val="bg2"/>
          </a:solidFill>
          <a:ln/>
        </p:spPr>
      </p:sp>
      <p:sp>
        <p:nvSpPr>
          <p:cNvPr id="6" name="sayi-81"/>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%15–59</a:t>
            </a:r>
            <a:endParaRPr lang="en-US" sz="4800" dirty="0"/>
          </a:p>
        </p:txBody>
      </p:sp>
      <p:sp>
        <p:nvSpPr>
          <p:cNvPr id="7" name="sayi-alt-82"/>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SKS'de anksiyete (ölçüm aracı ve yaşa göre)</a:t>
            </a:r>
            <a:endParaRPr lang="en-US" sz="1400" dirty="0"/>
          </a:p>
        </p:txBody>
      </p:sp>
      <p:sp>
        <p:nvSpPr>
          <p:cNvPr id="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26,30–33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3 · Organik ayırıcı tanı</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Safra yokluğu güvence vermez:</a:t>
            </a:r>
            <a:endParaRPr lang="en-US" sz="2600" dirty="0"/>
          </a:p>
          <a:p>
            <a:pPr algn="l" indent="0" marL="0">
              <a:buNone/>
            </a:pPr>
            <a:r>
              <a:rPr lang="en-US" sz="2600" b="1" dirty="0">
                <a:solidFill>
                  <a:schemeClr val="tx1"/>
                </a:solidFill>
              </a:rPr>
              <a:t>malrotasyon her yaşta, volvulus her an</a:t>
            </a:r>
            <a:endParaRPr lang="en-US" sz="2600" dirty="0"/>
          </a:p>
        </p:txBody>
      </p:sp>
      <p:sp>
        <p:nvSpPr>
          <p:cNvPr id="4" name="govde-83"/>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Safralı kusma her yaşta aksi kanıtlanana dek obstrüksiyondur</a:t>
            </a:r>
            <a:r>
              <a:rPr lang="en-US" sz="2200" baseline="30000" dirty="0">
                <a:solidFill>
                  <a:schemeClr val="accent4"/>
                </a:solidFill>
              </a:rPr>
              <a:t>⁠[22]</a:t>
            </a:r>
            <a:endParaRPr lang="en-US" sz="2200" dirty="0"/>
          </a:p>
          <a:p>
            <a:pPr marL="254000" indent="-254000">
              <a:spcAft>
                <a:spcPts val="1800"/>
              </a:spcAft>
              <a:buSzPct val="100000"/>
              <a:buChar char="•"/>
            </a:pPr>
            <a:r>
              <a:rPr lang="en-US" sz="2200" dirty="0">
                <a:solidFill>
                  <a:schemeClr val="tx1"/>
                </a:solidFill>
              </a:rPr>
              <a:t>70 malrotasyonlu çocuğun yarısı &gt;2 aylık; büyüklerde aralıklı safrasız kusma; volvulus yaş ve süreden bağımsız</a:t>
            </a:r>
            <a:r>
              <a:rPr lang="en-US" sz="2200" baseline="30000" dirty="0">
                <a:solidFill>
                  <a:schemeClr val="accent4"/>
                </a:solidFill>
              </a:rPr>
              <a:t>⁠[34]</a:t>
            </a:r>
            <a:endParaRPr lang="en-US" sz="2200" dirty="0"/>
          </a:p>
          <a:p>
            <a:pPr marL="254000" indent="-254000">
              <a:spcAft>
                <a:spcPts val="1800"/>
              </a:spcAft>
              <a:buSzPct val="100000"/>
              <a:buChar char="•"/>
            </a:pPr>
            <a:r>
              <a:rPr lang="en-US" sz="2200" dirty="0">
                <a:solidFill>
                  <a:schemeClr val="tx1"/>
                </a:solidFill>
              </a:rPr>
              <a:t>Üst GİS grafisinde rotasyon yalancı pozitif/negatif sonuç verebilir</a:t>
            </a:r>
            <a:r>
              <a:rPr lang="en-US" sz="2200" baseline="30000" dirty="0">
                <a:solidFill>
                  <a:schemeClr val="accent4"/>
                </a:solidFill>
              </a:rPr>
              <a:t>⁠[35]</a:t>
            </a:r>
            <a:endParaRPr lang="en-US" sz="2200" dirty="0"/>
          </a:p>
        </p:txBody>
      </p:sp>
      <p:sp>
        <p:nvSpPr>
          <p:cNvPr id="5" name="kart-84"/>
          <p:cNvSpPr/>
          <p:nvPr/>
        </p:nvSpPr>
        <p:spPr>
          <a:xfrm>
            <a:off x="8001000" y="1600200"/>
            <a:ext cx="3639312" cy="2331720"/>
          </a:xfrm>
          <a:prstGeom prst="roundRect">
            <a:avLst>
              <a:gd name="adj" fmla="val 4706"/>
            </a:avLst>
          </a:prstGeom>
          <a:solidFill>
            <a:schemeClr val="accent6"/>
          </a:solidFill>
          <a:ln/>
        </p:spPr>
      </p:sp>
      <p:pic>
        <p:nvPicPr>
          <p:cNvPr id="6" name="ikon-85" descr="Safralı kusma: aksi kanıtlanana dek obstrüksiyon">    </p:cNvPr>
          <p:cNvPicPr>
            <a:picLocks noChangeAspect="1"/>
          </p:cNvPicPr>
          <p:nvPr/>
        </p:nvPicPr>
        <p:blipFill>
          <a:blip r:embed="rId1"/>
          <a:stretch>
            <a:fillRect/>
          </a:stretch>
        </p:blipFill>
        <p:spPr>
          <a:xfrm>
            <a:off x="8229600" y="1874520"/>
            <a:ext cx="914400" cy="914400"/>
          </a:xfrm>
          <a:prstGeom prst="rect">
            <a:avLst/>
          </a:prstGeom>
        </p:spPr>
      </p:pic>
      <p:sp>
        <p:nvSpPr>
          <p:cNvPr id="7" name="ikon-alt-86"/>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500" b="1" dirty="0">
                <a:solidFill>
                  <a:schemeClr val="tx1"/>
                </a:solidFill>
              </a:rPr>
              <a:t>Safralı kusma: aksi kanıtlanana dek obstrüksiyon</a:t>
            </a:r>
            <a:endParaRPr lang="en-US" sz="1500" dirty="0"/>
          </a:p>
        </p:txBody>
      </p:sp>
      <p:sp>
        <p:nvSpPr>
          <p:cNvPr id="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22,34,35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3 · Organik ayırıcı tanı</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Diğer anatomik ve özofageal nedenler</a:t>
            </a:r>
            <a:endParaRPr lang="en-US" sz="2600" dirty="0"/>
          </a:p>
        </p:txBody>
      </p:sp>
      <p:sp>
        <p:nvSpPr>
          <p:cNvPr id="4" name="govde-87"/>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SMA sendromu (n=22): kusma %50; kilo kaybı şart değil; tanı %82 üst GİS grafisiyle</a:t>
            </a:r>
            <a:r>
              <a:rPr lang="en-US" sz="2200" baseline="30000" dirty="0">
                <a:solidFill>
                  <a:schemeClr val="accent4"/>
                </a:solidFill>
              </a:rPr>
              <a:t>⁠[36]</a:t>
            </a:r>
            <a:endParaRPr lang="en-US" sz="2200" dirty="0"/>
          </a:p>
          <a:p>
            <a:pPr marL="254000" indent="-254000">
              <a:spcAft>
                <a:spcPts val="1800"/>
              </a:spcAft>
              <a:buSzPct val="100000"/>
              <a:buChar char="•"/>
            </a:pPr>
            <a:r>
              <a:rPr lang="en-US" sz="2200" dirty="0">
                <a:solidFill>
                  <a:schemeClr val="tx1"/>
                </a:solidFill>
              </a:rPr>
              <a:t>Duplikasyon (n=72): ağrı 57/72, bulantı-kusma; USG ile değerlendirilir</a:t>
            </a:r>
            <a:r>
              <a:rPr lang="en-US" sz="2200" baseline="30000" dirty="0">
                <a:solidFill>
                  <a:schemeClr val="accent4"/>
                </a:solidFill>
              </a:rPr>
              <a:t>⁠[37]</a:t>
            </a:r>
            <a:endParaRPr lang="en-US" sz="2200" dirty="0"/>
          </a:p>
          <a:p>
            <a:pPr marL="254000" indent="-254000">
              <a:spcAft>
                <a:spcPts val="1800"/>
              </a:spcAft>
              <a:buSzPct val="100000"/>
              <a:buChar char="•"/>
            </a:pPr>
            <a:r>
              <a:rPr lang="en-US" sz="2200" dirty="0">
                <a:solidFill>
                  <a:schemeClr val="tx1"/>
                </a:solidFill>
              </a:rPr>
              <a:t>Akalazya (n=126): disfaji %73,8, kusma %53,2, kilo kaybı %38,9</a:t>
            </a:r>
            <a:r>
              <a:rPr lang="en-US" sz="2200" baseline="30000" dirty="0">
                <a:solidFill>
                  <a:schemeClr val="accent4"/>
                </a:solidFill>
              </a:rPr>
              <a:t>⁠[9]</a:t>
            </a:r>
            <a:endParaRPr lang="en-US" sz="2200" dirty="0"/>
          </a:p>
        </p:txBody>
      </p:sp>
      <p:sp>
        <p:nvSpPr>
          <p:cNvPr id="5"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9,36,37 · tam liste sondaki kaynak slaytlarında</a:t>
            </a:r>
            <a:endParaRPr lang="en-US" sz="1100" dirty="0"/>
          </a:p>
        </p:txBody>
      </p:sp>
      <p:sp>
        <p:nvSpPr>
          <p:cNvPr id="6" name="mini-kart-88"/>
          <p:cNvSpPr/>
          <p:nvPr/>
        </p:nvSpPr>
        <p:spPr>
          <a:xfrm>
            <a:off x="8001000" y="1600200"/>
            <a:ext cx="3639312" cy="1188720"/>
          </a:xfrm>
          <a:prstGeom prst="roundRect">
            <a:avLst>
              <a:gd name="adj" fmla="val 7692"/>
            </a:avLst>
          </a:prstGeom>
          <a:solidFill>
            <a:schemeClr val="bg2"/>
          </a:solidFill>
          <a:ln/>
        </p:spPr>
      </p:sp>
      <p:sp>
        <p:nvSpPr>
          <p:cNvPr id="7" name="mini-sayi-89"/>
          <p:cNvSpPr txBox="1"/>
          <p:nvPr/>
        </p:nvSpPr>
        <p:spPr>
          <a:xfrm>
            <a:off x="8183880" y="1709928"/>
            <a:ext cx="1600200" cy="9601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%50</a:t>
            </a:r>
            <a:endParaRPr lang="en-US" sz="3000" dirty="0"/>
          </a:p>
        </p:txBody>
      </p:sp>
      <p:sp>
        <p:nvSpPr>
          <p:cNvPr id="8" name="mini-alt-90"/>
          <p:cNvSpPr txBox="1"/>
          <p:nvPr/>
        </p:nvSpPr>
        <p:spPr>
          <a:xfrm>
            <a:off x="9829800" y="1709928"/>
            <a:ext cx="1691640" cy="960120"/>
          </a:xfrm>
          <a:prstGeom prst="rect">
            <a:avLst/>
          </a:prstGeom>
          <a:noFill/>
          <a:ln/>
        </p:spPr>
        <p:txBody>
          <a:bodyPr wrap="square" lIns="0" tIns="0" rIns="0" bIns="0" rtlCol="0" anchor="ctr"/>
          <a:lstStyle/>
          <a:p>
            <a:pPr indent="0" marL="0">
              <a:buNone/>
            </a:pPr>
            <a:r>
              <a:rPr lang="en-US" sz="1400" dirty="0">
                <a:solidFill>
                  <a:schemeClr val="tx1"/>
                </a:solidFill>
              </a:rPr>
              <a:t>SMA sendromunda kusma</a:t>
            </a:r>
            <a:endParaRPr lang="en-US" sz="1400" dirty="0"/>
          </a:p>
        </p:txBody>
      </p:sp>
      <p:sp>
        <p:nvSpPr>
          <p:cNvPr id="9" name="mini-kart-91"/>
          <p:cNvSpPr/>
          <p:nvPr/>
        </p:nvSpPr>
        <p:spPr>
          <a:xfrm>
            <a:off x="8001000" y="2971800"/>
            <a:ext cx="3639312" cy="1188720"/>
          </a:xfrm>
          <a:prstGeom prst="roundRect">
            <a:avLst>
              <a:gd name="adj" fmla="val 7692"/>
            </a:avLst>
          </a:prstGeom>
          <a:solidFill>
            <a:schemeClr val="bg2"/>
          </a:solidFill>
          <a:ln/>
        </p:spPr>
      </p:sp>
      <p:sp>
        <p:nvSpPr>
          <p:cNvPr id="10" name="mini-sayi-92"/>
          <p:cNvSpPr txBox="1"/>
          <p:nvPr/>
        </p:nvSpPr>
        <p:spPr>
          <a:xfrm>
            <a:off x="8183880" y="3081528"/>
            <a:ext cx="1600200" cy="9601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57/72</a:t>
            </a:r>
            <a:endParaRPr lang="en-US" sz="3000" dirty="0"/>
          </a:p>
        </p:txBody>
      </p:sp>
      <p:sp>
        <p:nvSpPr>
          <p:cNvPr id="11" name="mini-alt-93"/>
          <p:cNvSpPr txBox="1"/>
          <p:nvPr/>
        </p:nvSpPr>
        <p:spPr>
          <a:xfrm>
            <a:off x="9829800" y="3081528"/>
            <a:ext cx="1691640" cy="960120"/>
          </a:xfrm>
          <a:prstGeom prst="rect">
            <a:avLst/>
          </a:prstGeom>
          <a:noFill/>
          <a:ln/>
        </p:spPr>
        <p:txBody>
          <a:bodyPr wrap="square" lIns="0" tIns="0" rIns="0" bIns="0" rtlCol="0" anchor="ctr"/>
          <a:lstStyle/>
          <a:p>
            <a:pPr indent="0" marL="0">
              <a:buNone/>
            </a:pPr>
            <a:r>
              <a:rPr lang="en-US" sz="1400" dirty="0">
                <a:solidFill>
                  <a:schemeClr val="tx1"/>
                </a:solidFill>
              </a:rPr>
              <a:t>duplikasyonda ağrı</a:t>
            </a:r>
            <a:endParaRPr lang="en-US" sz="1400" dirty="0"/>
          </a:p>
        </p:txBody>
      </p:sp>
      <p:sp>
        <p:nvSpPr>
          <p:cNvPr id="12" name="mini-kart-94"/>
          <p:cNvSpPr/>
          <p:nvPr/>
        </p:nvSpPr>
        <p:spPr>
          <a:xfrm>
            <a:off x="8001000" y="4343400"/>
            <a:ext cx="3639312" cy="1188720"/>
          </a:xfrm>
          <a:prstGeom prst="roundRect">
            <a:avLst>
              <a:gd name="adj" fmla="val 7692"/>
            </a:avLst>
          </a:prstGeom>
          <a:solidFill>
            <a:schemeClr val="bg2"/>
          </a:solidFill>
          <a:ln/>
        </p:spPr>
      </p:sp>
      <p:sp>
        <p:nvSpPr>
          <p:cNvPr id="13" name="mini-sayi-95"/>
          <p:cNvSpPr txBox="1"/>
          <p:nvPr/>
        </p:nvSpPr>
        <p:spPr>
          <a:xfrm>
            <a:off x="8183880" y="4453128"/>
            <a:ext cx="1600200" cy="9601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%73,8</a:t>
            </a:r>
            <a:endParaRPr lang="en-US" sz="3000" dirty="0"/>
          </a:p>
        </p:txBody>
      </p:sp>
      <p:sp>
        <p:nvSpPr>
          <p:cNvPr id="14" name="mini-alt-96"/>
          <p:cNvSpPr txBox="1"/>
          <p:nvPr/>
        </p:nvSpPr>
        <p:spPr>
          <a:xfrm>
            <a:off x="9829800" y="4453128"/>
            <a:ext cx="1691640" cy="960120"/>
          </a:xfrm>
          <a:prstGeom prst="rect">
            <a:avLst/>
          </a:prstGeom>
          <a:noFill/>
          <a:ln/>
        </p:spPr>
        <p:txBody>
          <a:bodyPr wrap="square" lIns="0" tIns="0" rIns="0" bIns="0" rtlCol="0" anchor="ctr"/>
          <a:lstStyle/>
          <a:p>
            <a:pPr indent="0" marL="0">
              <a:buNone/>
            </a:pPr>
            <a:r>
              <a:rPr lang="en-US" sz="1400" dirty="0">
                <a:solidFill>
                  <a:schemeClr val="tx1"/>
                </a:solidFill>
              </a:rPr>
              <a:t>akalazyada disfaji</a:t>
            </a:r>
            <a:endParaRPr lang="en-US" sz="14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3 · Organik ayırıcı tanı</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Mukozal nedenler: EoE, çölyak, H. pylori, İSPA/FPIES</a:t>
            </a:r>
            <a:endParaRPr lang="en-US" sz="2600" dirty="0"/>
          </a:p>
        </p:txBody>
      </p:sp>
      <p:sp>
        <p:nvSpPr>
          <p:cNvPr id="4" name="govde-97"/>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EoE: kusmayla başvurabilir; mukoza normal görünse de ≥2 seviyeden çoklu biyopsi</a:t>
            </a:r>
            <a:r>
              <a:rPr lang="en-US" sz="2200" baseline="30000" dirty="0">
                <a:solidFill>
                  <a:schemeClr val="accent4"/>
                </a:solidFill>
              </a:rPr>
              <a:t>⁠[38]</a:t>
            </a:r>
            <a:endParaRPr lang="en-US" sz="2200" dirty="0"/>
          </a:p>
          <a:p>
            <a:pPr marL="254000" indent="-254000">
              <a:spcAft>
                <a:spcPts val="1800"/>
              </a:spcAft>
              <a:buSzPct val="100000"/>
              <a:buChar char="•"/>
            </a:pPr>
            <a:r>
              <a:rPr lang="en-US" sz="2200" dirty="0">
                <a:solidFill>
                  <a:schemeClr val="tx1"/>
                </a:solidFill>
              </a:rPr>
              <a:t>Çölyak: kusmada seroloji önerisi derleme düzeyinde</a:t>
            </a:r>
            <a:r>
              <a:rPr lang="en-US" sz="2200" baseline="30000" dirty="0">
                <a:solidFill>
                  <a:schemeClr val="accent4"/>
                </a:solidFill>
              </a:rPr>
              <a:t>⁠[39]</a:t>
            </a:r>
            <a:r>
              <a:rPr lang="en-US" sz="2200" dirty="0">
                <a:solidFill>
                  <a:schemeClr val="tx1"/>
                </a:solidFill>
              </a:rPr>
              <a:t>; total IgA + TGA-IgA</a:t>
            </a:r>
            <a:r>
              <a:rPr lang="en-US" sz="2200" baseline="30000" dirty="0">
                <a:solidFill>
                  <a:schemeClr val="accent4"/>
                </a:solidFill>
              </a:rPr>
              <a:t>⁠[40]</a:t>
            </a:r>
            <a:endParaRPr lang="en-US" sz="2200" dirty="0"/>
          </a:p>
          <a:p>
            <a:pPr marL="254000" indent="-254000">
              <a:spcAft>
                <a:spcPts val="1800"/>
              </a:spcAft>
              <a:buSzPct val="100000"/>
              <a:buChar char="•"/>
            </a:pPr>
            <a:r>
              <a:rPr lang="en-US" sz="2200" dirty="0">
                <a:solidFill>
                  <a:schemeClr val="tx1"/>
                </a:solidFill>
              </a:rPr>
              <a:t>H. pylori: tanı duyarlılık testli invaziv yöntemle</a:t>
            </a:r>
            <a:r>
              <a:rPr lang="en-US" sz="2200" baseline="30000" dirty="0">
                <a:solidFill>
                  <a:schemeClr val="accent4"/>
                </a:solidFill>
              </a:rPr>
              <a:t>⁠[41]</a:t>
            </a:r>
            <a:endParaRPr lang="en-US" sz="2200" dirty="0"/>
          </a:p>
          <a:p>
            <a:pPr marL="254000" indent="-254000">
              <a:spcAft>
                <a:spcPts val="1800"/>
              </a:spcAft>
              <a:buSzPct val="100000"/>
              <a:buChar char="•"/>
            </a:pPr>
            <a:r>
              <a:rPr lang="en-US" sz="2200" dirty="0">
                <a:solidFill>
                  <a:schemeClr val="tx1"/>
                </a:solidFill>
              </a:rPr>
              <a:t>Kronik FPIES: büyüme geriliği, kilo kaybı</a:t>
            </a:r>
            <a:r>
              <a:rPr lang="en-US" sz="2200" baseline="30000" dirty="0">
                <a:solidFill>
                  <a:schemeClr val="accent4"/>
                </a:solidFill>
              </a:rPr>
              <a:t>⁠[42]</a:t>
            </a:r>
            <a:endParaRPr lang="en-US" sz="2200" dirty="0"/>
          </a:p>
        </p:txBody>
      </p:sp>
      <p:sp>
        <p:nvSpPr>
          <p:cNvPr id="5" name="kart-98"/>
          <p:cNvSpPr/>
          <p:nvPr/>
        </p:nvSpPr>
        <p:spPr>
          <a:xfrm>
            <a:off x="8001000" y="1600200"/>
            <a:ext cx="3639312" cy="2331720"/>
          </a:xfrm>
          <a:prstGeom prst="roundRect">
            <a:avLst>
              <a:gd name="adj" fmla="val 4706"/>
            </a:avLst>
          </a:prstGeom>
          <a:solidFill>
            <a:schemeClr val="bg2"/>
          </a:solidFill>
          <a:ln/>
        </p:spPr>
      </p:sp>
      <p:pic>
        <p:nvPicPr>
          <p:cNvPr id="6" name="ikon-99" descr="Mukoza normal görünse de biyopsi">    </p:cNvPr>
          <p:cNvPicPr>
            <a:picLocks noChangeAspect="1"/>
          </p:cNvPicPr>
          <p:nvPr/>
        </p:nvPicPr>
        <p:blipFill>
          <a:blip r:embed="rId1"/>
          <a:stretch>
            <a:fillRect/>
          </a:stretch>
        </p:blipFill>
        <p:spPr>
          <a:xfrm>
            <a:off x="8229600" y="1874520"/>
            <a:ext cx="914400" cy="914400"/>
          </a:xfrm>
          <a:prstGeom prst="rect">
            <a:avLst/>
          </a:prstGeom>
        </p:spPr>
      </p:pic>
      <p:sp>
        <p:nvSpPr>
          <p:cNvPr id="7" name="ikon-alt-100"/>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500" b="1" dirty="0">
                <a:solidFill>
                  <a:schemeClr val="tx1"/>
                </a:solidFill>
              </a:rPr>
              <a:t>Mukoza normal görünse de biyopsi</a:t>
            </a:r>
            <a:endParaRPr lang="en-US" sz="1500" dirty="0"/>
          </a:p>
        </p:txBody>
      </p:sp>
      <p:sp>
        <p:nvSpPr>
          <p:cNvPr id="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38–42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3 · Organik ayırıcı tanı</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Nörolojik taklitçiler: KİBAS bulgusu yoksa bile tümörü düşün</a:t>
            </a:r>
            <a:endParaRPr lang="en-US" sz="2600" dirty="0"/>
          </a:p>
        </p:txBody>
      </p:sp>
      <p:sp>
        <p:nvSpPr>
          <p:cNvPr id="4" name="govde-101"/>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Posterior fossa tümöründe bulantı-kusma %75</a:t>
            </a:r>
            <a:r>
              <a:rPr lang="en-US" sz="2200" baseline="30000" dirty="0">
                <a:solidFill>
                  <a:schemeClr val="accent4"/>
                </a:solidFill>
              </a:rPr>
              <a:t>⁠[25]</a:t>
            </a:r>
            <a:endParaRPr lang="en-US" sz="2200" dirty="0"/>
          </a:p>
          <a:p>
            <a:pPr marL="254000" indent="-254000">
              <a:spcAft>
                <a:spcPts val="1800"/>
              </a:spcAft>
              <a:buSzPct val="100000"/>
              <a:buChar char="•"/>
            </a:pPr>
            <a:r>
              <a:rPr lang="en-US" sz="2200" dirty="0">
                <a:solidFill>
                  <a:schemeClr val="tx1"/>
                </a:solidFill>
              </a:rPr>
              <a:t>&lt;3 yaş beyin tümörlü 21 bebeğin 3'ü kusmayla gelip önce batın görüntülemesi aldı</a:t>
            </a:r>
            <a:r>
              <a:rPr lang="en-US" sz="2200" baseline="30000" dirty="0">
                <a:solidFill>
                  <a:schemeClr val="accent4"/>
                </a:solidFill>
              </a:rPr>
              <a:t>⁠[43]</a:t>
            </a:r>
            <a:endParaRPr lang="en-US" sz="2200" dirty="0"/>
          </a:p>
          <a:p>
            <a:pPr marL="254000" indent="-254000">
              <a:spcAft>
                <a:spcPts val="1800"/>
              </a:spcAft>
              <a:buSzPct val="100000"/>
              <a:buChar char="•"/>
            </a:pPr>
            <a:r>
              <a:rPr lang="en-US" sz="2200" dirty="0">
                <a:solidFill>
                  <a:schemeClr val="tx1"/>
                </a:solidFill>
              </a:rPr>
              <a:t>Panayiotopoulos (~3–⁠6 y): iktal kusma, SKS ile karışır; EEG'de çoklu, sıklıkla oksipital odak</a:t>
            </a:r>
            <a:r>
              <a:rPr lang="en-US" sz="2200" baseline="30000" dirty="0">
                <a:solidFill>
                  <a:schemeClr val="accent4"/>
                </a:solidFill>
              </a:rPr>
              <a:t>⁠[19]</a:t>
            </a:r>
            <a:endParaRPr lang="en-US" sz="2200" dirty="0"/>
          </a:p>
          <a:p>
            <a:pPr marL="254000" indent="-254000">
              <a:spcAft>
                <a:spcPts val="1800"/>
              </a:spcAft>
              <a:buSzPct val="100000"/>
              <a:buChar char="•"/>
            </a:pPr>
            <a:r>
              <a:rPr lang="en-US" sz="2200" dirty="0">
                <a:solidFill>
                  <a:schemeClr val="tx1"/>
                </a:solidFill>
              </a:rPr>
              <a:t>Şant disfonksiyonu: bulantı-kusma sık</a:t>
            </a:r>
            <a:r>
              <a:rPr lang="en-US" sz="2200" baseline="30000" dirty="0">
                <a:solidFill>
                  <a:schemeClr val="accent4"/>
                </a:solidFill>
              </a:rPr>
              <a:t>⁠[44]</a:t>
            </a:r>
            <a:endParaRPr lang="en-US" sz="2200" dirty="0"/>
          </a:p>
        </p:txBody>
      </p:sp>
      <p:sp>
        <p:nvSpPr>
          <p:cNvPr id="5" name="kart-102"/>
          <p:cNvSpPr/>
          <p:nvPr/>
        </p:nvSpPr>
        <p:spPr>
          <a:xfrm>
            <a:off x="8001000" y="1600200"/>
            <a:ext cx="3639312" cy="2331720"/>
          </a:xfrm>
          <a:prstGeom prst="roundRect">
            <a:avLst>
              <a:gd name="adj" fmla="val 4706"/>
            </a:avLst>
          </a:prstGeom>
          <a:solidFill>
            <a:schemeClr val="bg2"/>
          </a:solidFill>
          <a:ln/>
        </p:spPr>
      </p:sp>
      <p:pic>
        <p:nvPicPr>
          <p:cNvPr id="6" name="ikon-103" descr="KİBAS bulgusu yokluğu tümörü dışlamaz">    </p:cNvPr>
          <p:cNvPicPr>
            <a:picLocks noChangeAspect="1"/>
          </p:cNvPicPr>
          <p:nvPr/>
        </p:nvPicPr>
        <p:blipFill>
          <a:blip r:embed="rId1"/>
          <a:stretch>
            <a:fillRect/>
          </a:stretch>
        </p:blipFill>
        <p:spPr>
          <a:xfrm>
            <a:off x="8229600" y="1874520"/>
            <a:ext cx="914400" cy="914400"/>
          </a:xfrm>
          <a:prstGeom prst="rect">
            <a:avLst/>
          </a:prstGeom>
        </p:spPr>
      </p:pic>
      <p:sp>
        <p:nvSpPr>
          <p:cNvPr id="7" name="ikon-alt-104"/>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500" b="1" dirty="0">
                <a:solidFill>
                  <a:schemeClr val="tx1"/>
                </a:solidFill>
              </a:rPr>
              <a:t>KİBAS bulgusu yokluğu tümörü dışlamaz</a:t>
            </a:r>
            <a:endParaRPr lang="en-US" sz="1500" dirty="0"/>
          </a:p>
        </p:txBody>
      </p:sp>
      <p:sp>
        <p:nvSpPr>
          <p:cNvPr id="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19,25,43,44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3 · Organik ayırıcı tanı</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Metabolik taklitçiler: atak anındaki biyokimya ipucu verir</a:t>
            </a:r>
            <a:endParaRPr lang="en-US" sz="2600" dirty="0"/>
          </a:p>
        </p:txBody>
      </p:sp>
      <p:sp>
        <p:nvSpPr>
          <p:cNvPr id="4" name="govde-105"/>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ÜDB her yaşta akut/kronik; açıklanamayan ensefalopatide amonyak</a:t>
            </a:r>
            <a:r>
              <a:rPr lang="en-US" sz="2200" baseline="30000" dirty="0">
                <a:solidFill>
                  <a:schemeClr val="accent4"/>
                </a:solidFill>
              </a:rPr>
              <a:t>⁠[45]</a:t>
            </a:r>
            <a:endParaRPr lang="en-US" sz="2200" dirty="0"/>
          </a:p>
          <a:p>
            <a:pPr marL="254000" indent="-254000">
              <a:spcAft>
                <a:spcPts val="1800"/>
              </a:spcAft>
              <a:buSzPct val="100000"/>
              <a:buChar char="•"/>
            </a:pPr>
            <a:r>
              <a:rPr lang="en-US" sz="2200" dirty="0">
                <a:solidFill>
                  <a:schemeClr val="tx1"/>
                </a:solidFill>
              </a:rPr>
              <a:t>OTC eksikliğinde heterozigot kızlarda ağırlık değişken</a:t>
            </a:r>
            <a:r>
              <a:rPr lang="en-US" sz="2200" baseline="30000" dirty="0">
                <a:solidFill>
                  <a:schemeClr val="accent4"/>
                </a:solidFill>
              </a:rPr>
              <a:t>⁠[45]</a:t>
            </a:r>
            <a:endParaRPr lang="en-US" sz="2200" dirty="0"/>
          </a:p>
          <a:p>
            <a:pPr marL="254000" indent="-254000">
              <a:spcAft>
                <a:spcPts val="1800"/>
              </a:spcAft>
              <a:buSzPct val="100000"/>
              <a:buChar char="•"/>
            </a:pPr>
            <a:r>
              <a:rPr lang="en-US" sz="2200" dirty="0">
                <a:solidFill>
                  <a:schemeClr val="tx1"/>
                </a:solidFill>
              </a:rPr>
              <a:t>Atakta hipoketotik hipoglisemi, asidoz, transaminaz/CK/laktat ↑ → YAOB</a:t>
            </a:r>
            <a:r>
              <a:rPr lang="en-US" sz="2200" baseline="30000" dirty="0">
                <a:solidFill>
                  <a:schemeClr val="accent4"/>
                </a:solidFill>
              </a:rPr>
              <a:t>⁠[46]</a:t>
            </a:r>
            <a:endParaRPr lang="en-US" sz="2200" dirty="0"/>
          </a:p>
          <a:p>
            <a:pPr marL="254000" indent="-254000">
              <a:spcAft>
                <a:spcPts val="1800"/>
              </a:spcAft>
              <a:buSzPct val="100000"/>
              <a:buChar char="•"/>
            </a:pPr>
            <a:r>
              <a:rPr lang="en-US" sz="2200" dirty="0">
                <a:solidFill>
                  <a:schemeClr val="tx1"/>
                </a:solidFill>
              </a:rPr>
              <a:t>Organik asidemilerde en sık yatış nedeni kusma</a:t>
            </a:r>
            <a:r>
              <a:rPr lang="en-US" sz="2200" baseline="30000" dirty="0">
                <a:solidFill>
                  <a:schemeClr val="accent4"/>
                </a:solidFill>
              </a:rPr>
              <a:t>⁠[47]</a:t>
            </a:r>
            <a:r>
              <a:rPr lang="en-US" sz="2200" dirty="0">
                <a:solidFill>
                  <a:schemeClr val="tx1"/>
                </a:solidFill>
              </a:rPr>
              <a:t>; adolesanda AİP</a:t>
            </a:r>
            <a:r>
              <a:rPr lang="en-US" sz="2200" baseline="30000" dirty="0">
                <a:solidFill>
                  <a:schemeClr val="accent4"/>
                </a:solidFill>
              </a:rPr>
              <a:t>⁠[46]</a:t>
            </a:r>
            <a:endParaRPr lang="en-US" sz="2200" dirty="0"/>
          </a:p>
        </p:txBody>
      </p:sp>
      <p:sp>
        <p:nvSpPr>
          <p:cNvPr id="5" name="kart-106"/>
          <p:cNvSpPr/>
          <p:nvPr/>
        </p:nvSpPr>
        <p:spPr>
          <a:xfrm>
            <a:off x="8001000" y="1600200"/>
            <a:ext cx="3639312" cy="2331720"/>
          </a:xfrm>
          <a:prstGeom prst="roundRect">
            <a:avLst>
              <a:gd name="adj" fmla="val 4706"/>
            </a:avLst>
          </a:prstGeom>
          <a:solidFill>
            <a:schemeClr val="bg2"/>
          </a:solidFill>
          <a:ln/>
        </p:spPr>
      </p:sp>
      <p:pic>
        <p:nvPicPr>
          <p:cNvPr id="6" name="ikon-107" descr="Atak anındaki biyokimya ipucu verir">    </p:cNvPr>
          <p:cNvPicPr>
            <a:picLocks noChangeAspect="1"/>
          </p:cNvPicPr>
          <p:nvPr/>
        </p:nvPicPr>
        <p:blipFill>
          <a:blip r:embed="rId1"/>
          <a:stretch>
            <a:fillRect/>
          </a:stretch>
        </p:blipFill>
        <p:spPr>
          <a:xfrm>
            <a:off x="8229600" y="1874520"/>
            <a:ext cx="914400" cy="914400"/>
          </a:xfrm>
          <a:prstGeom prst="rect">
            <a:avLst/>
          </a:prstGeom>
        </p:spPr>
      </p:pic>
      <p:sp>
        <p:nvSpPr>
          <p:cNvPr id="7" name="ikon-alt-108"/>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500" b="1" dirty="0">
                <a:solidFill>
                  <a:schemeClr val="tx1"/>
                </a:solidFill>
              </a:rPr>
              <a:t>Atak anındaki biyokimya ipucu verir</a:t>
            </a:r>
            <a:endParaRPr lang="en-US" sz="1500" dirty="0"/>
          </a:p>
        </p:txBody>
      </p:sp>
      <p:sp>
        <p:nvSpPr>
          <p:cNvPr id="8" name="dipnot-109"/>
          <p:cNvSpPr txBox="1"/>
          <p:nvPr/>
        </p:nvSpPr>
        <p:spPr>
          <a:xfrm>
            <a:off x="548640" y="5897880"/>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Häberle öneri derecesi C–D; mitokondri için tek sayı verilmedi (biyokimyasal anormallik tanı değildir).</a:t>
            </a:r>
            <a:endParaRPr lang="en-US" sz="11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45–47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3 · Organik ayırıcı tanı</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Endokrin, renal, toksik nedenler ve başkasına yüklenen yapay bozukluk</a:t>
            </a:r>
            <a:endParaRPr lang="en-US" sz="2600" dirty="0"/>
          </a:p>
        </p:txBody>
      </p:sp>
      <p:sp>
        <p:nvSpPr>
          <p:cNvPr id="4" name="govde-110"/>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Hiponatremi/hipoglisemide Addison ve YAOB dışla</a:t>
            </a:r>
            <a:r>
              <a:rPr lang="en-US" sz="2200" baseline="30000" dirty="0">
                <a:solidFill>
                  <a:schemeClr val="accent4"/>
                </a:solidFill>
              </a:rPr>
              <a:t>⁠[23]</a:t>
            </a:r>
            <a:r>
              <a:rPr lang="en-US" sz="2200" dirty="0">
                <a:solidFill>
                  <a:schemeClr val="tx1"/>
                </a:solidFill>
              </a:rPr>
              <a:t>; ACTH + kortizol eşzamanlı</a:t>
            </a:r>
            <a:r>
              <a:rPr lang="en-US" sz="2200" baseline="30000" dirty="0">
                <a:solidFill>
                  <a:schemeClr val="accent4"/>
                </a:solidFill>
              </a:rPr>
              <a:t>⁠[24]</a:t>
            </a:r>
            <a:endParaRPr lang="en-US" sz="2200" dirty="0"/>
          </a:p>
          <a:p>
            <a:pPr marL="254000" indent="-254000">
              <a:spcAft>
                <a:spcPts val="1800"/>
              </a:spcAft>
              <a:buSzPct val="100000"/>
              <a:buChar char="•"/>
            </a:pPr>
            <a:r>
              <a:rPr lang="en-US" sz="2200" dirty="0">
                <a:solidFill>
                  <a:schemeClr val="tx1"/>
                </a:solidFill>
              </a:rPr>
              <a:t>Aralıklı UPJ darlığı: görüntüleme ağrı atağı sırasında</a:t>
            </a:r>
            <a:r>
              <a:rPr lang="en-US" sz="2200" baseline="30000" dirty="0">
                <a:solidFill>
                  <a:schemeClr val="accent4"/>
                </a:solidFill>
              </a:rPr>
              <a:t>⁠[48]</a:t>
            </a:r>
            <a:endParaRPr lang="en-US" sz="2200" dirty="0"/>
          </a:p>
          <a:p>
            <a:pPr marL="254000" indent="-254000">
              <a:spcAft>
                <a:spcPts val="1800"/>
              </a:spcAft>
              <a:buSzPct val="100000"/>
              <a:buChar char="•"/>
            </a:pPr>
            <a:r>
              <a:rPr lang="en-US" sz="2200" dirty="0">
                <a:solidFill>
                  <a:schemeClr val="tx1"/>
                </a:solidFill>
              </a:rPr>
              <a:t>Kaçırılan DKA: serebral ödem ve ölüm riski artar</a:t>
            </a:r>
            <a:r>
              <a:rPr lang="en-US" sz="2200" baseline="30000" dirty="0">
                <a:solidFill>
                  <a:schemeClr val="accent4"/>
                </a:solidFill>
              </a:rPr>
              <a:t>⁠[49]</a:t>
            </a:r>
            <a:endParaRPr lang="en-US" sz="2200" dirty="0"/>
          </a:p>
          <a:p>
            <a:pPr marL="254000" indent="-254000">
              <a:spcAft>
                <a:spcPts val="1800"/>
              </a:spcAft>
              <a:buSzPct val="100000"/>
              <a:buChar char="•"/>
            </a:pPr>
            <a:r>
              <a:rPr lang="en-US" sz="2200" dirty="0">
                <a:solidFill>
                  <a:schemeClr val="tx1"/>
                </a:solidFill>
              </a:rPr>
              <a:t>Semptom yalnız bakım veren yanında → başkasına yüklenen yapay bozukluk</a:t>
            </a:r>
            <a:r>
              <a:rPr lang="en-US" sz="2200" baseline="30000" dirty="0">
                <a:solidFill>
                  <a:schemeClr val="accent4"/>
                </a:solidFill>
              </a:rPr>
              <a:t>⁠[50,51]</a:t>
            </a:r>
            <a:endParaRPr lang="en-US" sz="2200" dirty="0"/>
          </a:p>
        </p:txBody>
      </p:sp>
      <p:sp>
        <p:nvSpPr>
          <p:cNvPr id="5" name="kart-111"/>
          <p:cNvSpPr/>
          <p:nvPr/>
        </p:nvSpPr>
        <p:spPr>
          <a:xfrm>
            <a:off x="8001000" y="1600200"/>
            <a:ext cx="3639312" cy="2331720"/>
          </a:xfrm>
          <a:prstGeom prst="roundRect">
            <a:avLst>
              <a:gd name="adj" fmla="val 4706"/>
            </a:avLst>
          </a:prstGeom>
          <a:solidFill>
            <a:schemeClr val="bg2"/>
          </a:solidFill>
          <a:ln/>
        </p:spPr>
      </p:sp>
      <p:pic>
        <p:nvPicPr>
          <p:cNvPr id="6" name="ikon-112" descr="ACTH + kortizol eşzamanlı">    </p:cNvPr>
          <p:cNvPicPr>
            <a:picLocks noChangeAspect="1"/>
          </p:cNvPicPr>
          <p:nvPr/>
        </p:nvPicPr>
        <p:blipFill>
          <a:blip r:embed="rId1"/>
          <a:stretch>
            <a:fillRect/>
          </a:stretch>
        </p:blipFill>
        <p:spPr>
          <a:xfrm>
            <a:off x="8229600" y="1874520"/>
            <a:ext cx="914400" cy="914400"/>
          </a:xfrm>
          <a:prstGeom prst="rect">
            <a:avLst/>
          </a:prstGeom>
        </p:spPr>
      </p:pic>
      <p:sp>
        <p:nvSpPr>
          <p:cNvPr id="7" name="ikon-alt-113"/>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500" b="1" dirty="0">
                <a:solidFill>
                  <a:schemeClr val="tx1"/>
                </a:solidFill>
              </a:rPr>
              <a:t>ACTH + kortizol eşzamanlı</a:t>
            </a:r>
            <a:endParaRPr lang="en-US" sz="1500" dirty="0"/>
          </a:p>
        </p:txBody>
      </p:sp>
      <p:sp>
        <p:nvSpPr>
          <p:cNvPr id="8" name="kanit-notu-114"/>
          <p:cNvSpPr txBox="1"/>
          <p:nvPr/>
        </p:nvSpPr>
        <p:spPr>
          <a:xfrm>
            <a:off x="8001000" y="4114800"/>
            <a:ext cx="3639312" cy="868680"/>
          </a:xfrm>
          <a:prstGeom prst="rect">
            <a:avLst/>
          </a:prstGeom>
          <a:solidFill>
            <a:srgbClr val="FDF3DC"/>
          </a:solidFill>
          <a:ln/>
        </p:spPr>
        <p:txBody>
          <a:bodyPr wrap="square" lIns="127000" tIns="127000" rIns="127000" bIns="127000" rtlCol="0" anchor="t"/>
          <a:lstStyle/>
          <a:p>
            <a:pPr indent="0" marL="0">
              <a:buNone/>
            </a:pPr>
            <a:r>
              <a:rPr lang="en-US" sz="1200" dirty="0">
                <a:solidFill>
                  <a:schemeClr val="tx1"/>
                </a:solidFill>
              </a:rPr>
              <a:t>Kanıt notu: son madde vaka düzeyi + AAP klinik raporu.</a:t>
            </a:r>
            <a:endParaRPr lang="en-US" sz="12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23,24,48–51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3 · Organik ayırıcı tanı</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Adolesan: KHS, yeme bozukluğu, ARFID, gebelik</a:t>
            </a:r>
            <a:endParaRPr lang="en-US" sz="2600" dirty="0"/>
          </a:p>
        </p:txBody>
      </p:sp>
      <p:sp>
        <p:nvSpPr>
          <p:cNvPr id="4" name="govde-115"/>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Siklik kusmalı adolesanda KHS düşünülmeli</a:t>
            </a:r>
            <a:r>
              <a:rPr lang="en-US" sz="2200" baseline="30000" dirty="0">
                <a:solidFill>
                  <a:schemeClr val="accent4"/>
                </a:solidFill>
              </a:rPr>
              <a:t>⁠[52]</a:t>
            </a:r>
            <a:r>
              <a:rPr lang="en-US" sz="2200" dirty="0">
                <a:solidFill>
                  <a:schemeClr val="tx1"/>
                </a:solidFill>
              </a:rPr>
              <a:t>; idrar THC destekler, yalancı pozitiflik olabilir</a:t>
            </a:r>
            <a:r>
              <a:rPr lang="en-US" sz="2200" baseline="30000" dirty="0">
                <a:solidFill>
                  <a:schemeClr val="accent4"/>
                </a:solidFill>
              </a:rPr>
              <a:t>⁠[8]</a:t>
            </a:r>
            <a:endParaRPr lang="en-US" sz="2200" dirty="0"/>
          </a:p>
          <a:p>
            <a:pPr marL="254000" indent="-254000">
              <a:spcAft>
                <a:spcPts val="1800"/>
              </a:spcAft>
              <a:buSzPct val="100000"/>
              <a:buChar char="•"/>
            </a:pPr>
            <a:r>
              <a:rPr lang="en-US" sz="2200" dirty="0">
                <a:solidFill>
                  <a:schemeClr val="tx1"/>
                </a:solidFill>
              </a:rPr>
              <a:t>Ruminasyon yeme bozukluğuyla karışır: 6 ruminasyonun 5'inde yeme bozukluğu</a:t>
            </a:r>
            <a:r>
              <a:rPr lang="en-US" sz="2200" baseline="30000" dirty="0">
                <a:solidFill>
                  <a:schemeClr val="accent4"/>
                </a:solidFill>
              </a:rPr>
              <a:t>⁠[21]</a:t>
            </a:r>
            <a:endParaRPr lang="en-US" sz="2200" dirty="0"/>
          </a:p>
          <a:p>
            <a:pPr marL="254000" indent="-254000">
              <a:spcAft>
                <a:spcPts val="1800"/>
              </a:spcAft>
              <a:buSzPct val="100000"/>
              <a:buChar char="•"/>
            </a:pPr>
            <a:r>
              <a:rPr lang="en-US" sz="2200" dirty="0">
                <a:solidFill>
                  <a:schemeClr val="tx1"/>
                </a:solidFill>
              </a:rPr>
              <a:t>Gastroparezi/FD'li çocukların %48,5–⁠66,7'sinde ARFID taraması pozitif</a:t>
            </a:r>
            <a:r>
              <a:rPr lang="en-US" sz="2200" baseline="30000" dirty="0">
                <a:solidFill>
                  <a:schemeClr val="accent4"/>
                </a:solidFill>
              </a:rPr>
              <a:t>⁠[53]</a:t>
            </a:r>
            <a:endParaRPr lang="en-US" sz="2200" dirty="0"/>
          </a:p>
          <a:p>
            <a:pPr marL="254000" indent="-254000">
              <a:spcAft>
                <a:spcPts val="1800"/>
              </a:spcAft>
              <a:buSzPct val="100000"/>
              <a:buChar char="•"/>
            </a:pPr>
            <a:r>
              <a:rPr lang="en-US" sz="2200" dirty="0">
                <a:solidFill>
                  <a:schemeClr val="tx1"/>
                </a:solidFill>
              </a:rPr>
              <a:t>Gebelik testi: eşik düşük</a:t>
            </a:r>
            <a:r>
              <a:rPr lang="en-US" sz="2200" baseline="30000" dirty="0">
                <a:solidFill>
                  <a:schemeClr val="accent4"/>
                </a:solidFill>
              </a:rPr>
              <a:t>⁠[54]</a:t>
            </a:r>
            <a:endParaRPr lang="en-US" sz="2200" dirty="0"/>
          </a:p>
        </p:txBody>
      </p:sp>
      <p:sp>
        <p:nvSpPr>
          <p:cNvPr id="5" name="kart-116"/>
          <p:cNvSpPr/>
          <p:nvPr/>
        </p:nvSpPr>
        <p:spPr>
          <a:xfrm>
            <a:off x="8001000" y="1600200"/>
            <a:ext cx="3639312" cy="2331720"/>
          </a:xfrm>
          <a:prstGeom prst="roundRect">
            <a:avLst>
              <a:gd name="adj" fmla="val 4706"/>
            </a:avLst>
          </a:prstGeom>
          <a:solidFill>
            <a:schemeClr val="bg2"/>
          </a:solidFill>
          <a:ln/>
        </p:spPr>
      </p:sp>
      <p:sp>
        <p:nvSpPr>
          <p:cNvPr id="6" name="sayi-117"/>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%48,5–66,7</a:t>
            </a:r>
            <a:endParaRPr lang="en-US" sz="3400" dirty="0"/>
          </a:p>
        </p:txBody>
      </p:sp>
      <p:sp>
        <p:nvSpPr>
          <p:cNvPr id="7" name="sayi-alt-118"/>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gastroparezi/FD'li çocuklarda ARFID taraması pozitif</a:t>
            </a:r>
            <a:endParaRPr lang="en-US" sz="1400" dirty="0"/>
          </a:p>
        </p:txBody>
      </p:sp>
      <p:sp>
        <p:nvSpPr>
          <p:cNvPr id="8" name="kanit-notu-119"/>
          <p:cNvSpPr txBox="1"/>
          <p:nvPr/>
        </p:nvSpPr>
        <p:spPr>
          <a:xfrm>
            <a:off x="8001000" y="4114800"/>
            <a:ext cx="3639312" cy="868680"/>
          </a:xfrm>
          <a:prstGeom prst="rect">
            <a:avLst/>
          </a:prstGeom>
          <a:solidFill>
            <a:srgbClr val="FDF3DC"/>
          </a:solidFill>
          <a:ln/>
        </p:spPr>
        <p:txBody>
          <a:bodyPr wrap="square" lIns="127000" tIns="127000" rIns="127000" bIns="127000" rtlCol="0" anchor="t"/>
          <a:lstStyle/>
          <a:p>
            <a:pPr indent="0" marL="0">
              <a:buNone/>
            </a:pPr>
            <a:r>
              <a:rPr lang="en-US" sz="1200" dirty="0">
                <a:solidFill>
                  <a:schemeClr val="tx1"/>
                </a:solidFill>
              </a:rPr>
              <a:t>Kanıt notu: gebelik DOLAYLI (karın ağrısı, acil servis).</a:t>
            </a:r>
            <a:endParaRPr lang="en-US" sz="12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8,21,52–54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4 · Basamaklı tetkik</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Basamak 0: aynı saat içinde yapılacaklar (acil dallar)</a:t>
            </a:r>
            <a:endParaRPr lang="en-US" sz="2600" dirty="0"/>
          </a:p>
        </p:txBody>
      </p:sp>
      <p:sp>
        <p:nvSpPr>
          <p:cNvPr id="4" name="acil-kart-120"/>
          <p:cNvSpPr/>
          <p:nvPr/>
        </p:nvSpPr>
        <p:spPr>
          <a:xfrm>
            <a:off x="548640" y="1600200"/>
            <a:ext cx="5440680" cy="1828800"/>
          </a:xfrm>
          <a:prstGeom prst="roundRect">
            <a:avLst>
              <a:gd name="adj" fmla="val 6000"/>
            </a:avLst>
          </a:prstGeom>
          <a:solidFill>
            <a:schemeClr val="accent6"/>
          </a:solidFill>
          <a:ln/>
        </p:spPr>
      </p:sp>
      <p:sp>
        <p:nvSpPr>
          <p:cNvPr id="5" name="acil-tetik-121"/>
          <p:cNvSpPr txBox="1"/>
          <p:nvPr/>
        </p:nvSpPr>
        <p:spPr>
          <a:xfrm>
            <a:off x="822960" y="1764792"/>
            <a:ext cx="4937760" cy="777240"/>
          </a:xfrm>
          <a:prstGeom prst="rect">
            <a:avLst/>
          </a:prstGeom>
          <a:noFill/>
          <a:ln/>
        </p:spPr>
        <p:txBody>
          <a:bodyPr wrap="square" lIns="0" tIns="0" rIns="0" bIns="0" rtlCol="0" anchor="t"/>
          <a:lstStyle/>
          <a:p>
            <a:pPr indent="0" marL="0">
              <a:buNone/>
            </a:pPr>
            <a:r>
              <a:rPr lang="en-US" sz="1700" b="1" dirty="0">
                <a:solidFill>
                  <a:schemeClr val="tx1"/>
                </a:solidFill>
              </a:rPr>
              <a:t>Safralı kusma + karın bulgusu ya da hiç görüntülenmemiş çocukta ilk safralı kusma </a:t>
            </a:r>
            <a:endParaRPr lang="en-US" sz="1700" dirty="0"/>
          </a:p>
        </p:txBody>
      </p:sp>
      <p:sp>
        <p:nvSpPr>
          <p:cNvPr id="6" name="acil-eylem-122"/>
          <p:cNvSpPr txBox="1"/>
          <p:nvPr/>
        </p:nvSpPr>
        <p:spPr>
          <a:xfrm>
            <a:off x="822960" y="2560320"/>
            <a:ext cx="4937760" cy="731520"/>
          </a:xfrm>
          <a:prstGeom prst="rect">
            <a:avLst/>
          </a:prstGeom>
          <a:noFill/>
          <a:ln/>
        </p:spPr>
        <p:txBody>
          <a:bodyPr wrap="square" lIns="0" tIns="0" rIns="0" bIns="0" rtlCol="0" anchor="t"/>
          <a:lstStyle/>
          <a:p>
            <a:pPr indent="0" marL="0">
              <a:buNone/>
            </a:pPr>
            <a:r>
              <a:rPr lang="en-US" sz="1800" b="1" dirty="0">
                <a:solidFill>
                  <a:schemeClr val="accent2"/>
                </a:solidFill>
              </a:rPr>
              <a:t>→ </a:t>
            </a:r>
            <a:r>
              <a:rPr lang="en-US" sz="1800" b="1" dirty="0">
                <a:solidFill>
                  <a:schemeClr val="tx1"/>
                </a:solidFill>
              </a:rPr>
              <a:t>Acil üst GİS grafisi, çocuk cerrahisi</a:t>
            </a:r>
            <a:r>
              <a:rPr lang="en-US" sz="1800" baseline="30000" dirty="0">
                <a:solidFill>
                  <a:schemeClr val="accent4"/>
                </a:solidFill>
              </a:rPr>
              <a:t>⁠[22,34]</a:t>
            </a:r>
            <a:endParaRPr lang="en-US" sz="1800" dirty="0"/>
          </a:p>
        </p:txBody>
      </p:sp>
      <p:sp>
        <p:nvSpPr>
          <p:cNvPr id="7" name="acil-kart-123"/>
          <p:cNvSpPr/>
          <p:nvPr/>
        </p:nvSpPr>
        <p:spPr>
          <a:xfrm>
            <a:off x="6153912" y="1600200"/>
            <a:ext cx="5440680" cy="1828800"/>
          </a:xfrm>
          <a:prstGeom prst="roundRect">
            <a:avLst>
              <a:gd name="adj" fmla="val 6000"/>
            </a:avLst>
          </a:prstGeom>
          <a:solidFill>
            <a:schemeClr val="accent6"/>
          </a:solidFill>
          <a:ln/>
        </p:spPr>
      </p:sp>
      <p:sp>
        <p:nvSpPr>
          <p:cNvPr id="8" name="acil-tetik-124"/>
          <p:cNvSpPr txBox="1"/>
          <p:nvPr/>
        </p:nvSpPr>
        <p:spPr>
          <a:xfrm>
            <a:off x="6428232" y="1764792"/>
            <a:ext cx="4937760" cy="777240"/>
          </a:xfrm>
          <a:prstGeom prst="rect">
            <a:avLst/>
          </a:prstGeom>
          <a:noFill/>
          <a:ln/>
        </p:spPr>
        <p:txBody>
          <a:bodyPr wrap="square" lIns="0" tIns="0" rIns="0" bIns="0" rtlCol="0" anchor="t"/>
          <a:lstStyle/>
          <a:p>
            <a:pPr indent="0" marL="0">
              <a:buNone/>
            </a:pPr>
            <a:r>
              <a:rPr lang="en-US" sz="1700" b="1" dirty="0">
                <a:solidFill>
                  <a:schemeClr val="tx1"/>
                </a:solidFill>
              </a:rPr>
              <a:t>Ensefalopati </a:t>
            </a:r>
            <a:endParaRPr lang="en-US" sz="1700" dirty="0"/>
          </a:p>
        </p:txBody>
      </p:sp>
      <p:sp>
        <p:nvSpPr>
          <p:cNvPr id="9" name="acil-eylem-125"/>
          <p:cNvSpPr txBox="1"/>
          <p:nvPr/>
        </p:nvSpPr>
        <p:spPr>
          <a:xfrm>
            <a:off x="6428232" y="2560320"/>
            <a:ext cx="4937760" cy="731520"/>
          </a:xfrm>
          <a:prstGeom prst="rect">
            <a:avLst/>
          </a:prstGeom>
          <a:noFill/>
          <a:ln/>
        </p:spPr>
        <p:txBody>
          <a:bodyPr wrap="square" lIns="0" tIns="0" rIns="0" bIns="0" rtlCol="0" anchor="t"/>
          <a:lstStyle/>
          <a:p>
            <a:pPr indent="0" marL="0">
              <a:buNone/>
            </a:pPr>
            <a:r>
              <a:rPr lang="en-US" sz="1800" b="1" dirty="0">
                <a:solidFill>
                  <a:schemeClr val="accent2"/>
                </a:solidFill>
              </a:rPr>
              <a:t>→ </a:t>
            </a:r>
            <a:r>
              <a:rPr lang="en-US" sz="1800" b="1" dirty="0">
                <a:solidFill>
                  <a:schemeClr val="tx1"/>
                </a:solidFill>
              </a:rPr>
              <a:t>Glukoz, kan gazı, amonyak (buzda)</a:t>
            </a:r>
            <a:r>
              <a:rPr lang="en-US" sz="1800" baseline="30000" dirty="0">
                <a:solidFill>
                  <a:schemeClr val="accent4"/>
                </a:solidFill>
              </a:rPr>
              <a:t>⁠[45,46]</a:t>
            </a:r>
            <a:endParaRPr lang="en-US" sz="1800" dirty="0"/>
          </a:p>
        </p:txBody>
      </p:sp>
      <p:sp>
        <p:nvSpPr>
          <p:cNvPr id="10" name="acil-kart-126"/>
          <p:cNvSpPr/>
          <p:nvPr/>
        </p:nvSpPr>
        <p:spPr>
          <a:xfrm>
            <a:off x="548640" y="3611880"/>
            <a:ext cx="5440680" cy="1828800"/>
          </a:xfrm>
          <a:prstGeom prst="roundRect">
            <a:avLst>
              <a:gd name="adj" fmla="val 6000"/>
            </a:avLst>
          </a:prstGeom>
          <a:solidFill>
            <a:schemeClr val="accent6"/>
          </a:solidFill>
          <a:ln/>
        </p:spPr>
      </p:sp>
      <p:sp>
        <p:nvSpPr>
          <p:cNvPr id="11" name="acil-tetik-127"/>
          <p:cNvSpPr txBox="1"/>
          <p:nvPr/>
        </p:nvSpPr>
        <p:spPr>
          <a:xfrm>
            <a:off x="822960" y="3776472"/>
            <a:ext cx="4937760" cy="777240"/>
          </a:xfrm>
          <a:prstGeom prst="rect">
            <a:avLst/>
          </a:prstGeom>
          <a:noFill/>
          <a:ln/>
        </p:spPr>
        <p:txBody>
          <a:bodyPr wrap="square" lIns="0" tIns="0" rIns="0" bIns="0" rtlCol="0" anchor="t"/>
          <a:lstStyle/>
          <a:p>
            <a:pPr indent="0" marL="0">
              <a:buNone/>
            </a:pPr>
            <a:r>
              <a:rPr lang="en-US" sz="1700" b="1" dirty="0">
                <a:solidFill>
                  <a:schemeClr val="tx1"/>
                </a:solidFill>
              </a:rPr>
              <a:t>Na↓ / glukoz↓ </a:t>
            </a:r>
            <a:endParaRPr lang="en-US" sz="1700" dirty="0"/>
          </a:p>
        </p:txBody>
      </p:sp>
      <p:sp>
        <p:nvSpPr>
          <p:cNvPr id="12" name="acil-eylem-128"/>
          <p:cNvSpPr txBox="1"/>
          <p:nvPr/>
        </p:nvSpPr>
        <p:spPr>
          <a:xfrm>
            <a:off x="822960" y="4572000"/>
            <a:ext cx="4937760" cy="731520"/>
          </a:xfrm>
          <a:prstGeom prst="rect">
            <a:avLst/>
          </a:prstGeom>
          <a:noFill/>
          <a:ln/>
        </p:spPr>
        <p:txBody>
          <a:bodyPr wrap="square" lIns="0" tIns="0" rIns="0" bIns="0" rtlCol="0" anchor="t"/>
          <a:lstStyle/>
          <a:p>
            <a:pPr indent="0" marL="0">
              <a:buNone/>
            </a:pPr>
            <a:r>
              <a:rPr lang="en-US" sz="1800" b="1" dirty="0">
                <a:solidFill>
                  <a:schemeClr val="accent2"/>
                </a:solidFill>
              </a:rPr>
              <a:t>→ </a:t>
            </a:r>
            <a:r>
              <a:rPr lang="en-US" sz="1800" b="1" dirty="0">
                <a:solidFill>
                  <a:schemeClr val="tx1"/>
                </a:solidFill>
              </a:rPr>
              <a:t>ACTH + kortizol</a:t>
            </a:r>
            <a:r>
              <a:rPr lang="en-US" sz="1800" baseline="30000" dirty="0">
                <a:solidFill>
                  <a:schemeClr val="accent4"/>
                </a:solidFill>
              </a:rPr>
              <a:t>⁠[23,24]</a:t>
            </a:r>
            <a:endParaRPr lang="en-US" sz="1800" dirty="0"/>
          </a:p>
        </p:txBody>
      </p:sp>
      <p:sp>
        <p:nvSpPr>
          <p:cNvPr id="13" name="acil-kart-129"/>
          <p:cNvSpPr/>
          <p:nvPr/>
        </p:nvSpPr>
        <p:spPr>
          <a:xfrm>
            <a:off x="6153912" y="3611880"/>
            <a:ext cx="5440680" cy="1828800"/>
          </a:xfrm>
          <a:prstGeom prst="roundRect">
            <a:avLst>
              <a:gd name="adj" fmla="val 6000"/>
            </a:avLst>
          </a:prstGeom>
          <a:solidFill>
            <a:schemeClr val="accent6"/>
          </a:solidFill>
          <a:ln/>
        </p:spPr>
      </p:sp>
      <p:sp>
        <p:nvSpPr>
          <p:cNvPr id="14" name="acil-tetik-130"/>
          <p:cNvSpPr txBox="1"/>
          <p:nvPr/>
        </p:nvSpPr>
        <p:spPr>
          <a:xfrm>
            <a:off x="6428232" y="3776472"/>
            <a:ext cx="4937760" cy="777240"/>
          </a:xfrm>
          <a:prstGeom prst="rect">
            <a:avLst/>
          </a:prstGeom>
          <a:noFill/>
          <a:ln/>
        </p:spPr>
        <p:txBody>
          <a:bodyPr wrap="square" lIns="0" tIns="0" rIns="0" bIns="0" rtlCol="0" anchor="t"/>
          <a:lstStyle/>
          <a:p>
            <a:pPr indent="0" marL="0">
              <a:buNone/>
            </a:pPr>
            <a:r>
              <a:rPr lang="en-US" sz="1700" b="1" dirty="0">
                <a:solidFill>
                  <a:schemeClr val="tx1"/>
                </a:solidFill>
              </a:rPr>
              <a:t>Papilödem, fokal bulgu, ataksi </a:t>
            </a:r>
            <a:endParaRPr lang="en-US" sz="1700" dirty="0"/>
          </a:p>
        </p:txBody>
      </p:sp>
      <p:sp>
        <p:nvSpPr>
          <p:cNvPr id="15" name="acil-eylem-131"/>
          <p:cNvSpPr txBox="1"/>
          <p:nvPr/>
        </p:nvSpPr>
        <p:spPr>
          <a:xfrm>
            <a:off x="6428232" y="4572000"/>
            <a:ext cx="4937760" cy="731520"/>
          </a:xfrm>
          <a:prstGeom prst="rect">
            <a:avLst/>
          </a:prstGeom>
          <a:noFill/>
          <a:ln/>
        </p:spPr>
        <p:txBody>
          <a:bodyPr wrap="square" lIns="0" tIns="0" rIns="0" bIns="0" rtlCol="0" anchor="t"/>
          <a:lstStyle/>
          <a:p>
            <a:pPr indent="0" marL="0">
              <a:buNone/>
            </a:pPr>
            <a:r>
              <a:rPr lang="en-US" sz="1800" b="1" dirty="0">
                <a:solidFill>
                  <a:schemeClr val="accent2"/>
                </a:solidFill>
              </a:rPr>
              <a:t>→ </a:t>
            </a:r>
            <a:r>
              <a:rPr lang="en-US" sz="1800" b="1" dirty="0">
                <a:solidFill>
                  <a:schemeClr val="tx1"/>
                </a:solidFill>
              </a:rPr>
              <a:t>Beyin MR</a:t>
            </a:r>
            <a:r>
              <a:rPr lang="en-US" sz="1800" baseline="30000" dirty="0">
                <a:solidFill>
                  <a:schemeClr val="accent4"/>
                </a:solidFill>
              </a:rPr>
              <a:t>⁠[23]</a:t>
            </a:r>
            <a:endParaRPr lang="en-US" sz="1800" dirty="0"/>
          </a:p>
        </p:txBody>
      </p:sp>
      <p:sp>
        <p:nvSpPr>
          <p:cNvPr id="16" name="dipnot-132"/>
          <p:cNvSpPr txBox="1"/>
          <p:nvPr/>
        </p:nvSpPr>
        <p:spPr>
          <a:xfrm>
            <a:off x="548640" y="5715000"/>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Stres dozu hidrokortizon için bu çalışmada pediatrik kaynak doğrulanmadı.</a:t>
            </a:r>
            <a:endParaRPr lang="en-US" sz="1100" dirty="0"/>
          </a:p>
        </p:txBody>
      </p:sp>
      <p:sp>
        <p:nvSpPr>
          <p:cNvPr id="17"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22–24,34,45,46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4 · Basamaklı tetkik</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Basamak 1: ilk tetkik paterne göre seçilir</a:t>
            </a:r>
            <a:endParaRPr lang="en-US" sz="2600" dirty="0"/>
          </a:p>
        </p:txBody>
      </p:sp>
      <p:graphicFrame>
        <p:nvGraphicFramePr>
          <p:cNvPr id="24" name="tablo-133"/>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377440"/>
                <a:gridCol w="5532120"/>
                <a:gridCol w="3182112"/>
              </a:tblGrid>
              <a:tr h="731520">
                <a:tc>
                  <a:txBody>
                    <a:bodyPr/>
                    <a:lstStyle/>
                    <a:p>
                      <a:pPr indent="0" marL="0">
                        <a:buNone/>
                      </a:pPr>
                      <a:r>
                        <a:rPr lang="en-US" sz="1800" b="1" dirty="0">
                          <a:solidFill>
                            <a:schemeClr val="bg1"/>
                          </a:solidFill>
                        </a:rPr>
                        <a:t>Patern</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İlk tetkik</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Kanıt</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tx2"/>
                    </a:solidFill>
                  </a:tcPr>
                </a:tc>
              </a:tr>
              <a:tr h="731520">
                <a:tc>
                  <a:txBody>
                    <a:bodyPr/>
                    <a:lstStyle/>
                    <a:p>
                      <a:pPr indent="0" marL="0">
                        <a:buNone/>
                      </a:pPr>
                      <a:r>
                        <a:rPr lang="en-US" sz="1800" dirty="0">
                          <a:solidFill>
                            <a:schemeClr val="tx1"/>
                          </a:solidFill>
                        </a:rPr>
                        <a:t>Siklik (SKS şüphesi)</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Kan + idrar tarama, üst GİS pasaj grafisi; diğer tarama testleri düşük verimli</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NASPGHAN 2025</a:t>
                      </a:r>
                      <a:r>
                        <a:rPr lang="en-US" sz="1800" baseline="30000" dirty="0">
                          <a:solidFill>
                            <a:schemeClr val="accent4"/>
                          </a:solidFill>
                        </a:rPr>
                        <a:t>⁠[55]</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r>
              <a:tr h="731520">
                <a:tc>
                  <a:txBody>
                    <a:bodyPr/>
                    <a:lstStyle/>
                    <a:p>
                      <a:pPr indent="0" marL="0">
                        <a:buNone/>
                      </a:pPr>
                      <a:r>
                        <a:rPr lang="en-US" sz="1800" dirty="0">
                          <a:solidFill>
                            <a:schemeClr val="tx1"/>
                          </a:solidFill>
                        </a:rPr>
                        <a:t>Kronik günlük</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Endoskopi + biyopsi öncelikli; anatomi için grafi</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ÇIKARIM</a:t>
                      </a:r>
                      <a:r>
                        <a:rPr lang="en-US" sz="1800" baseline="30000" dirty="0">
                          <a:solidFill>
                            <a:schemeClr val="accent4"/>
                          </a:solidFill>
                        </a:rPr>
                        <a:t>⁠[3,56]</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r>
              <a:tr h="731520">
                <a:tc>
                  <a:txBody>
                    <a:bodyPr/>
                    <a:lstStyle/>
                    <a:p>
                      <a:pPr indent="0" marL="0">
                        <a:buNone/>
                      </a:pPr>
                      <a:r>
                        <a:rPr lang="en-US" sz="1800" dirty="0">
                          <a:solidFill>
                            <a:schemeClr val="tx1"/>
                          </a:solidFill>
                        </a:rPr>
                        <a:t>Eforsuz regürjitasyon</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Öğün sonrası gözlem; atipikse HRIM-empedans</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Rome V</a:t>
                      </a:r>
                      <a:r>
                        <a:rPr lang="en-US" sz="1800" baseline="30000" dirty="0">
                          <a:solidFill>
                            <a:schemeClr val="accent4"/>
                          </a:solidFill>
                        </a:rPr>
                        <a:t>⁠[8]</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r>
              <a:tr h="731520">
                <a:tc>
                  <a:txBody>
                    <a:bodyPr/>
                    <a:lstStyle/>
                    <a:p>
                      <a:pPr indent="0" marL="0">
                        <a:buNone/>
                      </a:pPr>
                      <a:r>
                        <a:rPr lang="en-US" sz="1800" dirty="0">
                          <a:solidFill>
                            <a:schemeClr val="tx1"/>
                          </a:solidFill>
                        </a:rPr>
                        <a:t>Adolesan</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Öyküye göre idrar THC; gebelik testi</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Rome V</a:t>
                      </a:r>
                      <a:r>
                        <a:rPr lang="en-US" sz="1800" baseline="30000" dirty="0">
                          <a:solidFill>
                            <a:schemeClr val="accent4"/>
                          </a:solidFill>
                        </a:rPr>
                        <a:t>⁠[8]</a:t>
                      </a:r>
                      <a:r>
                        <a:rPr lang="en-US" sz="1800" dirty="0">
                          <a:solidFill>
                            <a:schemeClr val="tx1"/>
                          </a:solidFill>
                        </a:rPr>
                        <a:t>; DOLAYLI</a:t>
                      </a:r>
                      <a:r>
                        <a:rPr lang="en-US" sz="1800" baseline="30000" dirty="0">
                          <a:solidFill>
                            <a:schemeClr val="accent4"/>
                          </a:solidFill>
                        </a:rPr>
                        <a:t>⁠[54]</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r>
            </a:tbl>
          </a:graphicData>
        </a:graphic>
      </p:graphicFrame>
      <p:sp>
        <p:nvSpPr>
          <p:cNvPr id="5" name="dipnot-134"/>
          <p:cNvSpPr txBox="1"/>
          <p:nvPr/>
        </p:nvSpPr>
        <p:spPr>
          <a:xfrm>
            <a:off x="548640" y="5833872"/>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Batın US: çocukta hidronefroz için önerilir</a:t>
            </a:r>
            <a:r>
              <a:rPr lang="en-US" sz="1100" i="1" baseline="30000" dirty="0">
                <a:solidFill>
                  <a:schemeClr val="accent4"/>
                </a:solidFill>
              </a:rPr>
              <a:t>⁠[57]</a:t>
            </a:r>
            <a:r>
              <a:rPr lang="en-US" sz="1100" i="1" dirty="0">
                <a:solidFill>
                  <a:schemeClr val="accent4"/>
                </a:solidFill>
              </a:rPr>
              <a:t> ↔ NASPGHAN 2025 "diğer taramalar düşük verim": kaynaklar çelişiyor.</a:t>
            </a:r>
            <a:endParaRPr lang="en-US" sz="1100" dirty="0"/>
          </a:p>
        </p:txBody>
      </p:sp>
      <p:sp>
        <p:nvSpPr>
          <p:cNvPr id="6"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3,8,54–57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4 · Basamaklı tetkik</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Kritik örnek: atak sırasında alınır, ama dekstrozu geciktirmez</a:t>
            </a:r>
            <a:endParaRPr lang="en-US" sz="2600" dirty="0"/>
          </a:p>
        </p:txBody>
      </p:sp>
      <p:sp>
        <p:nvSpPr>
          <p:cNvPr id="4" name="kit-kart-135"/>
          <p:cNvSpPr/>
          <p:nvPr/>
        </p:nvSpPr>
        <p:spPr>
          <a:xfrm>
            <a:off x="548640" y="1600200"/>
            <a:ext cx="3520440" cy="2926080"/>
          </a:xfrm>
          <a:prstGeom prst="roundRect">
            <a:avLst>
              <a:gd name="adj" fmla="val 3750"/>
            </a:avLst>
          </a:prstGeom>
          <a:solidFill>
            <a:schemeClr val="bg2"/>
          </a:solidFill>
          <a:ln/>
        </p:spPr>
      </p:sp>
      <p:sp>
        <p:nvSpPr>
          <p:cNvPr id="5" name="kit-baslik-136"/>
          <p:cNvSpPr txBox="1"/>
          <p:nvPr/>
        </p:nvSpPr>
        <p:spPr>
          <a:xfrm>
            <a:off x="777240" y="1737360"/>
            <a:ext cx="31089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Ne zaman?</a:t>
            </a:r>
            <a:endParaRPr lang="en-US" sz="2000" dirty="0"/>
          </a:p>
        </p:txBody>
      </p:sp>
      <p:sp>
        <p:nvSpPr>
          <p:cNvPr id="6" name="kit-govde-137"/>
          <p:cNvSpPr txBox="1"/>
          <p:nvPr/>
        </p:nvSpPr>
        <p:spPr>
          <a:xfrm>
            <a:off x="777240" y="2286000"/>
            <a:ext cx="3108960" cy="2148840"/>
          </a:xfrm>
          <a:prstGeom prst="rect">
            <a:avLst/>
          </a:prstGeom>
          <a:noFill/>
          <a:ln/>
        </p:spPr>
        <p:txBody>
          <a:bodyPr wrap="square" lIns="0" tIns="0" rIns="0" bIns="0" rtlCol="0" anchor="t"/>
          <a:lstStyle/>
          <a:p>
            <a:pPr indent="0" marL="0">
              <a:buNone/>
            </a:pPr>
            <a:r>
              <a:rPr lang="en-US" sz="1900" dirty="0">
                <a:solidFill>
                  <a:schemeClr val="tx1"/>
                </a:solidFill>
              </a:rPr>
              <a:t>Açlık/protein/araya giren hastalık tetiklemesi, &lt;2 yaş başlangıç, ensefalopati</a:t>
            </a:r>
            <a:r>
              <a:rPr lang="en-US" sz="1900" baseline="30000" dirty="0">
                <a:solidFill>
                  <a:schemeClr val="accent4"/>
                </a:solidFill>
              </a:rPr>
              <a:t>⁠[8,23]</a:t>
            </a:r>
            <a:endParaRPr lang="en-US" sz="1900" dirty="0"/>
          </a:p>
        </p:txBody>
      </p:sp>
      <p:sp>
        <p:nvSpPr>
          <p:cNvPr id="7" name="kit-kart-138"/>
          <p:cNvSpPr/>
          <p:nvPr/>
        </p:nvSpPr>
        <p:spPr>
          <a:xfrm>
            <a:off x="4297680" y="1600200"/>
            <a:ext cx="3520440" cy="2926080"/>
          </a:xfrm>
          <a:prstGeom prst="roundRect">
            <a:avLst>
              <a:gd name="adj" fmla="val 3750"/>
            </a:avLst>
          </a:prstGeom>
          <a:solidFill>
            <a:schemeClr val="bg2"/>
          </a:solidFill>
          <a:ln/>
        </p:spPr>
      </p:sp>
      <p:sp>
        <p:nvSpPr>
          <p:cNvPr id="8" name="kit-baslik-139"/>
          <p:cNvSpPr txBox="1"/>
          <p:nvPr/>
        </p:nvSpPr>
        <p:spPr>
          <a:xfrm>
            <a:off x="4526280" y="1737360"/>
            <a:ext cx="31089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Kan</a:t>
            </a:r>
            <a:endParaRPr lang="en-US" sz="2000" dirty="0"/>
          </a:p>
        </p:txBody>
      </p:sp>
      <p:sp>
        <p:nvSpPr>
          <p:cNvPr id="9" name="kit-govde-140"/>
          <p:cNvSpPr txBox="1"/>
          <p:nvPr/>
        </p:nvSpPr>
        <p:spPr>
          <a:xfrm>
            <a:off x="4526280" y="2286000"/>
            <a:ext cx="3108960" cy="2148840"/>
          </a:xfrm>
          <a:prstGeom prst="rect">
            <a:avLst/>
          </a:prstGeom>
          <a:noFill/>
          <a:ln/>
        </p:spPr>
        <p:txBody>
          <a:bodyPr wrap="square" lIns="0" tIns="0" rIns="0" bIns="0" rtlCol="0" anchor="t"/>
          <a:lstStyle/>
          <a:p>
            <a:pPr indent="0" marL="0">
              <a:buNone/>
            </a:pPr>
            <a:r>
              <a:rPr lang="en-US" sz="1900" dirty="0">
                <a:solidFill>
                  <a:schemeClr val="tx1"/>
                </a:solidFill>
              </a:rPr>
              <a:t>Glukoz, kan gazı + elektrolit (anyon açığı), laktat, amonyak, aminoasit, açilkarnitin; Na↓/glukoz↓'de ACTH + kortizol</a:t>
            </a:r>
            <a:r>
              <a:rPr lang="en-US" sz="1900" baseline="30000" dirty="0">
                <a:solidFill>
                  <a:schemeClr val="accent4"/>
                </a:solidFill>
              </a:rPr>
              <a:t>⁠[23,24]</a:t>
            </a:r>
            <a:endParaRPr lang="en-US" sz="1900" dirty="0"/>
          </a:p>
        </p:txBody>
      </p:sp>
      <p:sp>
        <p:nvSpPr>
          <p:cNvPr id="10" name="kit-kart-141"/>
          <p:cNvSpPr/>
          <p:nvPr/>
        </p:nvSpPr>
        <p:spPr>
          <a:xfrm>
            <a:off x="8046720" y="1600200"/>
            <a:ext cx="3520440" cy="2926080"/>
          </a:xfrm>
          <a:prstGeom prst="roundRect">
            <a:avLst>
              <a:gd name="adj" fmla="val 3750"/>
            </a:avLst>
          </a:prstGeom>
          <a:solidFill>
            <a:schemeClr val="bg2"/>
          </a:solidFill>
          <a:ln/>
        </p:spPr>
      </p:sp>
      <p:sp>
        <p:nvSpPr>
          <p:cNvPr id="11" name="kit-baslik-142"/>
          <p:cNvSpPr txBox="1"/>
          <p:nvPr/>
        </p:nvSpPr>
        <p:spPr>
          <a:xfrm>
            <a:off x="8275320" y="1737360"/>
            <a:ext cx="31089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İdrar</a:t>
            </a:r>
            <a:endParaRPr lang="en-US" sz="2000" dirty="0"/>
          </a:p>
        </p:txBody>
      </p:sp>
      <p:sp>
        <p:nvSpPr>
          <p:cNvPr id="12" name="kit-govde-143"/>
          <p:cNvSpPr txBox="1"/>
          <p:nvPr/>
        </p:nvSpPr>
        <p:spPr>
          <a:xfrm>
            <a:off x="8275320" y="2286000"/>
            <a:ext cx="3108960" cy="2148840"/>
          </a:xfrm>
          <a:prstGeom prst="rect">
            <a:avLst/>
          </a:prstGeom>
          <a:noFill/>
          <a:ln/>
        </p:spPr>
        <p:txBody>
          <a:bodyPr wrap="square" lIns="0" tIns="0" rIns="0" bIns="0" rtlCol="0" anchor="t"/>
          <a:lstStyle/>
          <a:p>
            <a:pPr indent="0" marL="0">
              <a:buNone/>
            </a:pPr>
            <a:r>
              <a:rPr lang="en-US" sz="1900" dirty="0">
                <a:solidFill>
                  <a:schemeClr val="tx1"/>
                </a:solidFill>
              </a:rPr>
              <a:t>Keton, organik asit, ALA/PBG; fazla plazma-idrar dondur</a:t>
            </a:r>
            <a:r>
              <a:rPr lang="en-US" sz="1900" baseline="30000" dirty="0">
                <a:solidFill>
                  <a:schemeClr val="accent4"/>
                </a:solidFill>
              </a:rPr>
              <a:t>⁠[23]</a:t>
            </a:r>
            <a:endParaRPr lang="en-US" sz="1900" dirty="0"/>
          </a:p>
        </p:txBody>
      </p:sp>
      <p:sp>
        <p:nvSpPr>
          <p:cNvPr id="13" name="dekstroz-144"/>
          <p:cNvSpPr txBox="1"/>
          <p:nvPr/>
        </p:nvSpPr>
        <p:spPr>
          <a:xfrm>
            <a:off x="548640" y="4709160"/>
            <a:ext cx="7223760" cy="685800"/>
          </a:xfrm>
          <a:prstGeom prst="roundRect">
            <a:avLst>
              <a:gd name="adj" fmla="val 13333"/>
            </a:avLst>
          </a:prstGeom>
          <a:solidFill>
            <a:schemeClr val="accent1"/>
          </a:solidFill>
          <a:ln/>
        </p:spPr>
        <p:txBody>
          <a:bodyPr wrap="square" lIns="177800" tIns="50800" rIns="177800" bIns="50800" rtlCol="0" anchor="ctr"/>
          <a:lstStyle/>
          <a:p>
            <a:pPr indent="0" marL="0">
              <a:buNone/>
            </a:pPr>
            <a:r>
              <a:rPr lang="en-US" sz="1800" b="1" dirty="0">
                <a:solidFill>
                  <a:schemeClr val="bg1"/>
                </a:solidFill>
              </a:rPr>
              <a:t>Ardından %10 dekstroz, idamenin 1,5 katı</a:t>
            </a:r>
            <a:r>
              <a:rPr lang="en-US" sz="1800" baseline="30000" dirty="0">
                <a:solidFill>
                  <a:schemeClr val="bg1"/>
                </a:solidFill>
              </a:rPr>
              <a:t>⁠[23]</a:t>
            </a:r>
            <a:endParaRPr lang="en-US" sz="1800" dirty="0"/>
          </a:p>
        </p:txBody>
      </p:sp>
      <p:sp>
        <p:nvSpPr>
          <p:cNvPr id="14" name="uyari-145"/>
          <p:cNvSpPr txBox="1"/>
          <p:nvPr/>
        </p:nvSpPr>
        <p:spPr>
          <a:xfrm>
            <a:off x="8001000" y="4709160"/>
            <a:ext cx="3639312" cy="685800"/>
          </a:xfrm>
          <a:prstGeom prst="roundRect">
            <a:avLst>
              <a:gd name="adj" fmla="val 13333"/>
            </a:avLst>
          </a:prstGeom>
          <a:solidFill>
            <a:schemeClr val="accent2"/>
          </a:solidFill>
          <a:ln/>
        </p:spPr>
        <p:txBody>
          <a:bodyPr wrap="square" lIns="50800" tIns="50800" rIns="50800" bIns="50800" rtlCol="0" anchor="ctr"/>
          <a:lstStyle/>
          <a:p>
            <a:pPr algn="ctr" indent="0" marL="0">
              <a:buNone/>
            </a:pPr>
            <a:r>
              <a:rPr lang="en-US" sz="1700" b="1" dirty="0">
                <a:solidFill>
                  <a:schemeClr val="bg1"/>
                </a:solidFill>
              </a:rPr>
              <a:t>Dekstroz tanı için geciktirilmez</a:t>
            </a:r>
            <a:endParaRPr lang="en-US" sz="1700" dirty="0"/>
          </a:p>
        </p:txBody>
      </p:sp>
      <p:sp>
        <p:nvSpPr>
          <p:cNvPr id="15" name="dipnot-146"/>
          <p:cNvSpPr txBox="1"/>
          <p:nvPr/>
        </p:nvSpPr>
        <p:spPr>
          <a:xfrm>
            <a:off x="548640" y="5623560"/>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"Dekstroz tanı için geciktirilmez"</a:t>
            </a:r>
            <a:r>
              <a:rPr lang="en-US" sz="1100" i="1" baseline="30000" dirty="0">
                <a:solidFill>
                  <a:schemeClr val="accent4"/>
                </a:solidFill>
              </a:rPr>
              <a:t>⁠[46]</a:t>
            </a:r>
            <a:r>
              <a:rPr lang="en-US" sz="1100" i="1" dirty="0">
                <a:solidFill>
                  <a:schemeClr val="accent4"/>
                </a:solidFill>
              </a:rPr>
              <a:t>. Raucci listesi koşullu (metabolik uyarı varsa).</a:t>
            </a:r>
            <a:endParaRPr lang="en-US" sz="1100" dirty="0"/>
          </a:p>
        </p:txBody>
      </p:sp>
      <p:sp>
        <p:nvSpPr>
          <p:cNvPr id="16"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8,23,24,46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4 · Basamaklı tetkik</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Görüntüleme: zamanlama ve endikasyon belirleyicidir</a:t>
            </a:r>
            <a:endParaRPr lang="en-US" sz="2600" dirty="0"/>
          </a:p>
        </p:txBody>
      </p:sp>
      <p:sp>
        <p:nvSpPr>
          <p:cNvPr id="4" name="govde-147"/>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Üst GİS grafisi: malrotasyon; doğru pozisyonlama</a:t>
            </a:r>
            <a:r>
              <a:rPr lang="en-US" sz="2200" baseline="30000" dirty="0">
                <a:solidFill>
                  <a:schemeClr val="accent4"/>
                </a:solidFill>
              </a:rPr>
              <a:t>⁠[35]</a:t>
            </a:r>
            <a:endParaRPr lang="en-US" sz="2200" dirty="0"/>
          </a:p>
          <a:p>
            <a:pPr marL="254000" indent="-254000">
              <a:spcAft>
                <a:spcPts val="1800"/>
              </a:spcAft>
              <a:buSzPct val="100000"/>
              <a:buChar char="•"/>
            </a:pPr>
            <a:r>
              <a:rPr lang="en-US" sz="2200" dirty="0">
                <a:solidFill>
                  <a:schemeClr val="tx1"/>
                </a:solidFill>
              </a:rPr>
              <a:t>Batın US: aralıklı UPJ darlığında atak sırasında</a:t>
            </a:r>
            <a:r>
              <a:rPr lang="en-US" sz="2200" baseline="30000" dirty="0">
                <a:solidFill>
                  <a:schemeClr val="accent4"/>
                </a:solidFill>
              </a:rPr>
              <a:t>⁠[48]</a:t>
            </a:r>
            <a:endParaRPr lang="en-US" sz="2200" dirty="0"/>
          </a:p>
          <a:p>
            <a:pPr marL="254000" indent="-254000">
              <a:spcAft>
                <a:spcPts val="1800"/>
              </a:spcAft>
              <a:buSzPct val="100000"/>
              <a:buChar char="•"/>
            </a:pPr>
            <a:r>
              <a:rPr lang="en-US" sz="2200" dirty="0">
                <a:solidFill>
                  <a:schemeClr val="tx1"/>
                </a:solidFill>
              </a:rPr>
              <a:t>Beyin MR: anormal nörolojik muayenede</a:t>
            </a:r>
            <a:r>
              <a:rPr lang="en-US" sz="2200" baseline="30000" dirty="0">
                <a:solidFill>
                  <a:schemeClr val="accent4"/>
                </a:solidFill>
              </a:rPr>
              <a:t>⁠[23]</a:t>
            </a:r>
            <a:r>
              <a:rPr lang="en-US" sz="2200" dirty="0">
                <a:solidFill>
                  <a:schemeClr val="tx1"/>
                </a:solidFill>
              </a:rPr>
              <a:t>; süt çocuğunda bulgu olmasa da düşün</a:t>
            </a:r>
            <a:r>
              <a:rPr lang="en-US" sz="2200" baseline="30000" dirty="0">
                <a:solidFill>
                  <a:schemeClr val="accent4"/>
                </a:solidFill>
              </a:rPr>
              <a:t>⁠[43]</a:t>
            </a:r>
            <a:endParaRPr lang="en-US" sz="2200" dirty="0"/>
          </a:p>
          <a:p>
            <a:pPr marL="254000" indent="-254000">
              <a:spcAft>
                <a:spcPts val="1800"/>
              </a:spcAft>
              <a:buSzPct val="100000"/>
              <a:buChar char="•"/>
            </a:pPr>
            <a:r>
              <a:rPr lang="en-US" sz="2200" dirty="0">
                <a:solidFill>
                  <a:schemeClr val="tx1"/>
                </a:solidFill>
              </a:rPr>
              <a:t>106 SKS'li çocuk: nörogörüntüleme &lt;%10 yeni bulgu (hiçbiri kusmayı açıklamadı); 61 grafi normal</a:t>
            </a:r>
            <a:r>
              <a:rPr lang="en-US" sz="2200" baseline="30000" dirty="0">
                <a:solidFill>
                  <a:schemeClr val="accent4"/>
                </a:solidFill>
              </a:rPr>
              <a:t>⁠[58]</a:t>
            </a:r>
            <a:endParaRPr lang="en-US" sz="2200" dirty="0"/>
          </a:p>
        </p:txBody>
      </p:sp>
      <p:sp>
        <p:nvSpPr>
          <p:cNvPr id="5" name="kart-148"/>
          <p:cNvSpPr/>
          <p:nvPr/>
        </p:nvSpPr>
        <p:spPr>
          <a:xfrm>
            <a:off x="8001000" y="1600200"/>
            <a:ext cx="3639312" cy="2331720"/>
          </a:xfrm>
          <a:prstGeom prst="roundRect">
            <a:avLst>
              <a:gd name="adj" fmla="val 4706"/>
            </a:avLst>
          </a:prstGeom>
          <a:solidFill>
            <a:schemeClr val="bg2"/>
          </a:solidFill>
          <a:ln/>
        </p:spPr>
      </p:sp>
      <p:pic>
        <p:nvPicPr>
          <p:cNvPr id="6" name="ikon-149" descr="Zamanlama: US atak sırasında">    </p:cNvPr>
          <p:cNvPicPr>
            <a:picLocks noChangeAspect="1"/>
          </p:cNvPicPr>
          <p:nvPr/>
        </p:nvPicPr>
        <p:blipFill>
          <a:blip r:embed="rId1"/>
          <a:stretch>
            <a:fillRect/>
          </a:stretch>
        </p:blipFill>
        <p:spPr>
          <a:xfrm>
            <a:off x="8229600" y="1874520"/>
            <a:ext cx="914400" cy="914400"/>
          </a:xfrm>
          <a:prstGeom prst="rect">
            <a:avLst/>
          </a:prstGeom>
        </p:spPr>
      </p:pic>
      <p:sp>
        <p:nvSpPr>
          <p:cNvPr id="7" name="ikon-alt-150"/>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500" b="1" dirty="0">
                <a:solidFill>
                  <a:schemeClr val="tx1"/>
                </a:solidFill>
              </a:rPr>
              <a:t>Zamanlama: US atak sırasında</a:t>
            </a:r>
            <a:endParaRPr lang="en-US" sz="1500" dirty="0"/>
          </a:p>
        </p:txBody>
      </p:sp>
      <p:sp>
        <p:nvSpPr>
          <p:cNvPr id="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23,35,43,48,58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4 · Basamaklı tetkik</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Endoskopi: SKS'de rutin değil;</a:t>
            </a:r>
            <a:endParaRPr lang="en-US" sz="2600" dirty="0"/>
          </a:p>
          <a:p>
            <a:pPr algn="l" indent="0" marL="0">
              <a:buNone/>
            </a:pPr>
            <a:r>
              <a:rPr lang="en-US" sz="2600" b="1" dirty="0">
                <a:solidFill>
                  <a:schemeClr val="tx1"/>
                </a:solidFill>
              </a:rPr>
              <a:t>günlük kusmada ve ataklar arası semptomda</a:t>
            </a:r>
            <a:endParaRPr lang="en-US" sz="2600" dirty="0"/>
          </a:p>
        </p:txBody>
      </p:sp>
      <p:sp>
        <p:nvSpPr>
          <p:cNvPr id="4" name="govde-151"/>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Çocuk SKS'de kronik GİS semptomu yoksa gerekmez (erişkinde önerilir)</a:t>
            </a:r>
            <a:r>
              <a:rPr lang="en-US" sz="2200" baseline="30000" dirty="0">
                <a:solidFill>
                  <a:schemeClr val="accent4"/>
                </a:solidFill>
              </a:rPr>
              <a:t>⁠[57]</a:t>
            </a:r>
            <a:endParaRPr lang="en-US" sz="2200" dirty="0"/>
          </a:p>
          <a:p>
            <a:pPr marL="254000" indent="-254000">
              <a:spcAft>
                <a:spcPts val="1800"/>
              </a:spcAft>
              <a:buSzPct val="100000"/>
              <a:buChar char="•"/>
            </a:pPr>
            <a:r>
              <a:rPr lang="en-US" sz="2200" dirty="0">
                <a:solidFill>
                  <a:schemeClr val="tx1"/>
                </a:solidFill>
              </a:rPr>
              <a:t>Ataklar arası süren üst GİS yakınmasında endoskopi düşünülür</a:t>
            </a:r>
            <a:r>
              <a:rPr lang="en-US" sz="2200" baseline="30000" dirty="0">
                <a:solidFill>
                  <a:schemeClr val="accent4"/>
                </a:solidFill>
              </a:rPr>
              <a:t>⁠[23]</a:t>
            </a:r>
            <a:endParaRPr lang="en-US" sz="2200" dirty="0"/>
          </a:p>
          <a:p>
            <a:pPr marL="254000" indent="-254000">
              <a:spcAft>
                <a:spcPts val="1800"/>
              </a:spcAft>
              <a:buSzPct val="100000"/>
              <a:buChar char="•"/>
            </a:pPr>
            <a:r>
              <a:rPr lang="en-US" sz="2200" dirty="0">
                <a:solidFill>
                  <a:schemeClr val="tx1"/>
                </a:solidFill>
              </a:rPr>
              <a:t>Alarm bulgusuz 287 çocukta EGD yönetimi %7,0'de değiştirdi</a:t>
            </a:r>
            <a:r>
              <a:rPr lang="en-US" sz="2200" baseline="30000" dirty="0">
                <a:solidFill>
                  <a:schemeClr val="accent4"/>
                </a:solidFill>
              </a:rPr>
              <a:t>⁠[59]</a:t>
            </a:r>
            <a:endParaRPr lang="en-US" sz="2200" dirty="0"/>
          </a:p>
          <a:p>
            <a:pPr marL="254000" indent="-254000">
              <a:spcAft>
                <a:spcPts val="1800"/>
              </a:spcAft>
              <a:buSzPct val="100000"/>
              <a:buChar char="•"/>
            </a:pPr>
            <a:r>
              <a:rPr lang="en-US" sz="2200" dirty="0">
                <a:solidFill>
                  <a:schemeClr val="tx1"/>
                </a:solidFill>
              </a:rPr>
              <a:t>FD'de alarm yoksa EGD rutin değil</a:t>
            </a:r>
            <a:r>
              <a:rPr lang="en-US" sz="2200" baseline="30000" dirty="0">
                <a:solidFill>
                  <a:schemeClr val="accent4"/>
                </a:solidFill>
              </a:rPr>
              <a:t>⁠[8]</a:t>
            </a:r>
            <a:endParaRPr lang="en-US" sz="2200" dirty="0"/>
          </a:p>
        </p:txBody>
      </p:sp>
      <p:sp>
        <p:nvSpPr>
          <p:cNvPr id="5" name="kart-152"/>
          <p:cNvSpPr/>
          <p:nvPr/>
        </p:nvSpPr>
        <p:spPr>
          <a:xfrm>
            <a:off x="8001000" y="1600200"/>
            <a:ext cx="3639312" cy="2331720"/>
          </a:xfrm>
          <a:prstGeom prst="roundRect">
            <a:avLst>
              <a:gd name="adj" fmla="val 4706"/>
            </a:avLst>
          </a:prstGeom>
          <a:solidFill>
            <a:schemeClr val="bg2"/>
          </a:solidFill>
          <a:ln/>
        </p:spPr>
      </p:sp>
      <p:sp>
        <p:nvSpPr>
          <p:cNvPr id="6" name="sayi-153"/>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%7,0</a:t>
            </a:r>
            <a:endParaRPr lang="en-US" sz="4800" dirty="0"/>
          </a:p>
        </p:txBody>
      </p:sp>
      <p:sp>
        <p:nvSpPr>
          <p:cNvPr id="7" name="sayi-alt-154"/>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alarm bulgusuz EGD'de yönetim değişikliği (n=287)</a:t>
            </a:r>
            <a:endParaRPr lang="en-US" sz="1400" dirty="0"/>
          </a:p>
        </p:txBody>
      </p:sp>
      <p:sp>
        <p:nvSpPr>
          <p:cNvPr id="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8,23,57,59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4 · Basamaklı tetkik</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Motilite testleri: doğru soru, doğru test, pediatrik yorum</a:t>
            </a:r>
            <a:endParaRPr lang="en-US" sz="2600" dirty="0"/>
          </a:p>
        </p:txBody>
      </p:sp>
      <p:sp>
        <p:nvSpPr>
          <p:cNvPr id="4" name="govde-155"/>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Ruminasyon: HRIM-empedans; test öğünü + 30–⁠60 dk kayıt</a:t>
            </a:r>
            <a:r>
              <a:rPr lang="en-US" sz="2200" baseline="30000" dirty="0">
                <a:solidFill>
                  <a:schemeClr val="accent4"/>
                </a:solidFill>
              </a:rPr>
              <a:t>⁠[60]</a:t>
            </a:r>
            <a:endParaRPr lang="en-US" sz="2200" dirty="0"/>
          </a:p>
          <a:p>
            <a:pPr marL="254000" indent="-254000">
              <a:spcAft>
                <a:spcPts val="1800"/>
              </a:spcAft>
              <a:buSzPct val="100000"/>
              <a:buChar char="•"/>
            </a:pPr>
            <a:r>
              <a:rPr lang="en-US" sz="2200" dirty="0">
                <a:solidFill>
                  <a:schemeClr val="tx1"/>
                </a:solidFill>
              </a:rPr>
              <a:t>HRIM ile ruminasyon saptananların %47'si klinik kriterleri karşılamıyordu</a:t>
            </a:r>
            <a:r>
              <a:rPr lang="en-US" sz="2200" baseline="30000" dirty="0">
                <a:solidFill>
                  <a:schemeClr val="accent4"/>
                </a:solidFill>
              </a:rPr>
              <a:t>⁠[61]</a:t>
            </a:r>
            <a:endParaRPr lang="en-US" sz="2200" dirty="0"/>
          </a:p>
          <a:p>
            <a:pPr marL="254000" indent="-254000">
              <a:spcAft>
                <a:spcPts val="1800"/>
              </a:spcAft>
              <a:buSzPct val="100000"/>
              <a:buChar char="•"/>
            </a:pPr>
            <a:r>
              <a:rPr lang="en-US" sz="2200" dirty="0">
                <a:solidFill>
                  <a:schemeClr val="tx1"/>
                </a:solidFill>
              </a:rPr>
              <a:t>Mide boşalma: pediatrik 4. saat retansiyon 95. persentili %22</a:t>
            </a:r>
            <a:r>
              <a:rPr lang="en-US" sz="2200" baseline="30000" dirty="0">
                <a:solidFill>
                  <a:schemeClr val="accent4"/>
                </a:solidFill>
              </a:rPr>
              <a:t>⁠[62]</a:t>
            </a:r>
            <a:r>
              <a:rPr lang="en-US" sz="2200" dirty="0">
                <a:solidFill>
                  <a:schemeClr val="tx1"/>
                </a:solidFill>
              </a:rPr>
              <a:t>; erişkin eşiğiyle çocukların %26'sı "gecikmiş"</a:t>
            </a:r>
            <a:r>
              <a:rPr lang="en-US" sz="2200" baseline="30000" dirty="0">
                <a:solidFill>
                  <a:schemeClr val="accent4"/>
                </a:solidFill>
              </a:rPr>
              <a:t>⁠[63]</a:t>
            </a:r>
            <a:endParaRPr lang="en-US" sz="2200" dirty="0"/>
          </a:p>
          <a:p>
            <a:pPr marL="254000" indent="-254000">
              <a:spcAft>
                <a:spcPts val="1800"/>
              </a:spcAft>
              <a:buSzPct val="100000"/>
              <a:buChar char="•"/>
            </a:pPr>
            <a:r>
              <a:rPr lang="en-US" sz="2200" dirty="0">
                <a:solidFill>
                  <a:schemeClr val="tx1"/>
                </a:solidFill>
              </a:rPr>
              <a:t>Ruminasyonlu çocukların %36'sında gecikmiş boşalma</a:t>
            </a:r>
            <a:r>
              <a:rPr lang="en-US" sz="2200" baseline="30000" dirty="0">
                <a:solidFill>
                  <a:schemeClr val="accent4"/>
                </a:solidFill>
              </a:rPr>
              <a:t>⁠[64]</a:t>
            </a:r>
            <a:endParaRPr lang="en-US" sz="2200" dirty="0"/>
          </a:p>
        </p:txBody>
      </p:sp>
      <p:sp>
        <p:nvSpPr>
          <p:cNvPr id="5" name="kart-156"/>
          <p:cNvSpPr/>
          <p:nvPr/>
        </p:nvSpPr>
        <p:spPr>
          <a:xfrm>
            <a:off x="8001000" y="1600200"/>
            <a:ext cx="3639312" cy="2331720"/>
          </a:xfrm>
          <a:prstGeom prst="roundRect">
            <a:avLst>
              <a:gd name="adj" fmla="val 4706"/>
            </a:avLst>
          </a:prstGeom>
          <a:solidFill>
            <a:schemeClr val="bg2"/>
          </a:solidFill>
          <a:ln/>
        </p:spPr>
      </p:sp>
      <p:sp>
        <p:nvSpPr>
          <p:cNvPr id="6" name="sayi-157"/>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%22</a:t>
            </a:r>
            <a:endParaRPr lang="en-US" sz="4800" dirty="0"/>
          </a:p>
        </p:txBody>
      </p:sp>
      <p:sp>
        <p:nvSpPr>
          <p:cNvPr id="7" name="sayi-alt-158"/>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pediatrik 4. saat retansiyonun 95. persentili</a:t>
            </a:r>
            <a:endParaRPr lang="en-US" sz="1400" dirty="0"/>
          </a:p>
        </p:txBody>
      </p:sp>
      <p:sp>
        <p:nvSpPr>
          <p:cNvPr id="8" name="dipnot-159"/>
          <p:cNvSpPr txBox="1"/>
          <p:nvPr/>
        </p:nvSpPr>
        <p:spPr>
          <a:xfrm>
            <a:off x="548640" y="5897880"/>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Malik normu tek merkez, n=30, vejetaryen öğün; doğrulanmış pediatrik standart yok.</a:t>
            </a:r>
            <a:endParaRPr lang="en-US" sz="11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60–64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4 · Basamaklı tetkik</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Tek sayfa basamaklı algoritma</a:t>
            </a:r>
            <a:endParaRPr lang="en-US" sz="2600" dirty="0"/>
          </a:p>
        </p:txBody>
      </p:sp>
      <p:sp>
        <p:nvSpPr>
          <p:cNvPr id="4" name="algo-kutu-160"/>
          <p:cNvSpPr/>
          <p:nvPr/>
        </p:nvSpPr>
        <p:spPr>
          <a:xfrm>
            <a:off x="548640" y="1371600"/>
            <a:ext cx="11091672" cy="914400"/>
          </a:xfrm>
          <a:prstGeom prst="roundRect">
            <a:avLst>
              <a:gd name="adj" fmla="val 10000"/>
            </a:avLst>
          </a:prstGeom>
          <a:solidFill>
            <a:schemeClr val="accent6"/>
          </a:solidFill>
          <a:ln/>
        </p:spPr>
      </p:sp>
      <p:sp>
        <p:nvSpPr>
          <p:cNvPr id="5" name="algo-yazi-161"/>
          <p:cNvSpPr txBox="1"/>
          <p:nvPr/>
        </p:nvSpPr>
        <p:spPr>
          <a:xfrm>
            <a:off x="685800" y="1444752"/>
            <a:ext cx="10817352" cy="768096"/>
          </a:xfrm>
          <a:prstGeom prst="rect">
            <a:avLst/>
          </a:prstGeom>
          <a:noFill/>
          <a:ln/>
        </p:spPr>
        <p:txBody>
          <a:bodyPr wrap="square" lIns="0" tIns="0" rIns="0" bIns="0" rtlCol="0" anchor="t"/>
          <a:lstStyle/>
          <a:p>
            <a:pPr indent="0" marL="0">
              <a:buNone/>
            </a:pPr>
            <a:r>
              <a:rPr lang="en-US" sz="1600" b="1" dirty="0">
                <a:solidFill>
                  <a:schemeClr val="tx2"/>
                </a:solidFill>
              </a:rPr>
              <a:t>Basamak 0 · Acil (aynı saat)</a:t>
            </a:r>
            <a:endParaRPr lang="en-US" sz="1600" dirty="0"/>
          </a:p>
          <a:p>
            <a:pPr indent="0" marL="0">
              <a:buNone/>
            </a:pPr>
            <a:r>
              <a:rPr lang="en-US" sz="1500" dirty="0">
                <a:solidFill>
                  <a:schemeClr val="tx1"/>
                </a:solidFill>
              </a:rPr>
              <a:t>Safralı kusma + karın bulgusu → acil grafi + cerrahi · Ensefalopati → glukoz, kan gazı, amonyak · Na↓/glukoz↓ → ACTH + kortizol · Nörolojik bulgu → beyin MR</a:t>
            </a:r>
            <a:r>
              <a:rPr lang="en-US" sz="1500" baseline="30000" dirty="0">
                <a:solidFill>
                  <a:schemeClr val="accent4"/>
                </a:solidFill>
              </a:rPr>
              <a:t> [22–24,34,45,46]</a:t>
            </a:r>
            <a:endParaRPr lang="en-US" sz="1600" dirty="0"/>
          </a:p>
        </p:txBody>
      </p:sp>
      <p:sp>
        <p:nvSpPr>
          <p:cNvPr id="6" name="ok-162"/>
          <p:cNvSpPr/>
          <p:nvPr/>
        </p:nvSpPr>
        <p:spPr>
          <a:xfrm>
            <a:off x="6094476" y="2286000"/>
            <a:ext cx="0" cy="137160"/>
          </a:xfrm>
          <a:prstGeom prst="line">
            <a:avLst/>
          </a:prstGeom>
          <a:noFill/>
          <a:ln w="19050">
            <a:solidFill>
              <a:srgbClr val="5B6B73"/>
            </a:solidFill>
            <a:prstDash val="solid"/>
            <a:tailEnd type="triangle"/>
          </a:ln>
        </p:spPr>
      </p:sp>
      <p:sp>
        <p:nvSpPr>
          <p:cNvPr id="7" name="algo-kutu-163"/>
          <p:cNvSpPr/>
          <p:nvPr/>
        </p:nvSpPr>
        <p:spPr>
          <a:xfrm>
            <a:off x="548640" y="2423160"/>
            <a:ext cx="3575304" cy="1143000"/>
          </a:xfrm>
          <a:prstGeom prst="roundRect">
            <a:avLst>
              <a:gd name="adj" fmla="val 8000"/>
            </a:avLst>
          </a:prstGeom>
          <a:solidFill>
            <a:schemeClr val="bg2"/>
          </a:solidFill>
          <a:ln/>
        </p:spPr>
      </p:sp>
      <p:sp>
        <p:nvSpPr>
          <p:cNvPr id="8" name="algo-yazi-164"/>
          <p:cNvSpPr txBox="1"/>
          <p:nvPr/>
        </p:nvSpPr>
        <p:spPr>
          <a:xfrm>
            <a:off x="685800" y="2496312"/>
            <a:ext cx="3300984" cy="996696"/>
          </a:xfrm>
          <a:prstGeom prst="rect">
            <a:avLst/>
          </a:prstGeom>
          <a:noFill/>
          <a:ln/>
        </p:spPr>
        <p:txBody>
          <a:bodyPr wrap="square" lIns="0" tIns="0" rIns="0" bIns="0" rtlCol="0" anchor="t"/>
          <a:lstStyle/>
          <a:p>
            <a:pPr indent="0" marL="0">
              <a:buNone/>
            </a:pPr>
            <a:r>
              <a:rPr lang="en-US" sz="1600" b="1" dirty="0">
                <a:solidFill>
                  <a:schemeClr val="tx2"/>
                </a:solidFill>
              </a:rPr>
              <a:t>Basamak 1 · Siklik patern</a:t>
            </a:r>
            <a:endParaRPr lang="en-US" sz="1600" dirty="0"/>
          </a:p>
          <a:p>
            <a:pPr indent="0" marL="0">
              <a:buNone/>
            </a:pPr>
            <a:r>
              <a:rPr lang="en-US" sz="1500" dirty="0">
                <a:solidFill>
                  <a:schemeClr val="tx1"/>
                </a:solidFill>
              </a:rPr>
              <a:t>Kan + idrar tarama, üst GİS pasaj grafisi</a:t>
            </a:r>
            <a:r>
              <a:rPr lang="en-US" sz="1500" baseline="30000" dirty="0">
                <a:solidFill>
                  <a:schemeClr val="accent4"/>
                </a:solidFill>
              </a:rPr>
              <a:t> [55]</a:t>
            </a:r>
            <a:endParaRPr lang="en-US" sz="1600" dirty="0"/>
          </a:p>
        </p:txBody>
      </p:sp>
      <p:sp>
        <p:nvSpPr>
          <p:cNvPr id="9" name="algo-kutu-165"/>
          <p:cNvSpPr/>
          <p:nvPr/>
        </p:nvSpPr>
        <p:spPr>
          <a:xfrm>
            <a:off x="4306824" y="2423160"/>
            <a:ext cx="3575304" cy="1143000"/>
          </a:xfrm>
          <a:prstGeom prst="roundRect">
            <a:avLst>
              <a:gd name="adj" fmla="val 8000"/>
            </a:avLst>
          </a:prstGeom>
          <a:solidFill>
            <a:srgbClr val="FDF3DC"/>
          </a:solidFill>
          <a:ln w="19050">
            <a:solidFill>
              <a:srgbClr val="E9B44C"/>
            </a:solidFill>
            <a:prstDash val="dash"/>
          </a:ln>
        </p:spPr>
      </p:sp>
      <p:sp>
        <p:nvSpPr>
          <p:cNvPr id="10" name="algo-yazi-166"/>
          <p:cNvSpPr txBox="1"/>
          <p:nvPr/>
        </p:nvSpPr>
        <p:spPr>
          <a:xfrm>
            <a:off x="4443984" y="2496312"/>
            <a:ext cx="3300984" cy="996696"/>
          </a:xfrm>
          <a:prstGeom prst="rect">
            <a:avLst/>
          </a:prstGeom>
          <a:noFill/>
          <a:ln/>
        </p:spPr>
        <p:txBody>
          <a:bodyPr wrap="square" lIns="0" tIns="0" rIns="0" bIns="0" rtlCol="0" anchor="t"/>
          <a:lstStyle/>
          <a:p>
            <a:pPr indent="0" marL="0">
              <a:buNone/>
            </a:pPr>
            <a:r>
              <a:rPr lang="en-US" sz="1600" b="1" dirty="0">
                <a:solidFill>
                  <a:schemeClr val="tx2"/>
                </a:solidFill>
              </a:rPr>
              <a:t>Basamak 1 · Kronik günlük (ÇIKARIM)</a:t>
            </a:r>
            <a:endParaRPr lang="en-US" sz="1600" dirty="0"/>
          </a:p>
          <a:p>
            <a:pPr indent="0" marL="0">
              <a:buNone/>
            </a:pPr>
            <a:r>
              <a:rPr lang="en-US" sz="1500" dirty="0">
                <a:solidFill>
                  <a:schemeClr val="tx1"/>
                </a:solidFill>
              </a:rPr>
              <a:t>Endoskopi + biyopsi öncelikli; anatomi için grafi</a:t>
            </a:r>
            <a:r>
              <a:rPr lang="en-US" sz="1500" baseline="30000" dirty="0">
                <a:solidFill>
                  <a:schemeClr val="accent4"/>
                </a:solidFill>
              </a:rPr>
              <a:t> [3,56]</a:t>
            </a:r>
            <a:endParaRPr lang="en-US" sz="1600" dirty="0"/>
          </a:p>
        </p:txBody>
      </p:sp>
      <p:sp>
        <p:nvSpPr>
          <p:cNvPr id="11" name="algo-kutu-167"/>
          <p:cNvSpPr/>
          <p:nvPr/>
        </p:nvSpPr>
        <p:spPr>
          <a:xfrm>
            <a:off x="8065008" y="2423160"/>
            <a:ext cx="3575304" cy="1143000"/>
          </a:xfrm>
          <a:prstGeom prst="roundRect">
            <a:avLst>
              <a:gd name="adj" fmla="val 8000"/>
            </a:avLst>
          </a:prstGeom>
          <a:solidFill>
            <a:schemeClr val="bg2"/>
          </a:solidFill>
          <a:ln/>
        </p:spPr>
      </p:sp>
      <p:sp>
        <p:nvSpPr>
          <p:cNvPr id="12" name="algo-yazi-168"/>
          <p:cNvSpPr txBox="1"/>
          <p:nvPr/>
        </p:nvSpPr>
        <p:spPr>
          <a:xfrm>
            <a:off x="8202168" y="2496312"/>
            <a:ext cx="3300984" cy="996696"/>
          </a:xfrm>
          <a:prstGeom prst="rect">
            <a:avLst/>
          </a:prstGeom>
          <a:noFill/>
          <a:ln/>
        </p:spPr>
        <p:txBody>
          <a:bodyPr wrap="square" lIns="0" tIns="0" rIns="0" bIns="0" rtlCol="0" anchor="t"/>
          <a:lstStyle/>
          <a:p>
            <a:pPr indent="0" marL="0">
              <a:buNone/>
            </a:pPr>
            <a:r>
              <a:rPr lang="en-US" sz="1600" b="1" dirty="0">
                <a:solidFill>
                  <a:schemeClr val="tx2"/>
                </a:solidFill>
              </a:rPr>
              <a:t>Basamak 1 · Eforsuz regürjitasyon</a:t>
            </a:r>
            <a:endParaRPr lang="en-US" sz="1600" dirty="0"/>
          </a:p>
          <a:p>
            <a:pPr indent="0" marL="0">
              <a:buNone/>
            </a:pPr>
            <a:r>
              <a:rPr lang="en-US" sz="1500" dirty="0">
                <a:solidFill>
                  <a:schemeClr val="tx1"/>
                </a:solidFill>
              </a:rPr>
              <a:t>Öğün sonrası gözlem; atipikse HRIM-empedans</a:t>
            </a:r>
            <a:r>
              <a:rPr lang="en-US" sz="1500" baseline="30000" dirty="0">
                <a:solidFill>
                  <a:schemeClr val="accent4"/>
                </a:solidFill>
              </a:rPr>
              <a:t> [8]</a:t>
            </a:r>
            <a:endParaRPr lang="en-US" sz="1600" dirty="0"/>
          </a:p>
        </p:txBody>
      </p:sp>
      <p:sp>
        <p:nvSpPr>
          <p:cNvPr id="13" name="ok-169"/>
          <p:cNvSpPr/>
          <p:nvPr/>
        </p:nvSpPr>
        <p:spPr>
          <a:xfrm>
            <a:off x="6094476" y="3566160"/>
            <a:ext cx="0" cy="137160"/>
          </a:xfrm>
          <a:prstGeom prst="line">
            <a:avLst/>
          </a:prstGeom>
          <a:noFill/>
          <a:ln w="19050">
            <a:solidFill>
              <a:srgbClr val="5B6B73"/>
            </a:solidFill>
            <a:prstDash val="solid"/>
            <a:tailEnd type="triangle"/>
          </a:ln>
        </p:spPr>
      </p:sp>
      <p:sp>
        <p:nvSpPr>
          <p:cNvPr id="14" name="algo-kutu-170"/>
          <p:cNvSpPr/>
          <p:nvPr/>
        </p:nvSpPr>
        <p:spPr>
          <a:xfrm>
            <a:off x="548640" y="3703320"/>
            <a:ext cx="11091672" cy="868680"/>
          </a:xfrm>
          <a:prstGeom prst="roundRect">
            <a:avLst>
              <a:gd name="adj" fmla="val 10526"/>
            </a:avLst>
          </a:prstGeom>
          <a:solidFill>
            <a:schemeClr val="bg2"/>
          </a:solidFill>
          <a:ln/>
        </p:spPr>
      </p:sp>
      <p:sp>
        <p:nvSpPr>
          <p:cNvPr id="15" name="algo-yazi-171"/>
          <p:cNvSpPr txBox="1"/>
          <p:nvPr/>
        </p:nvSpPr>
        <p:spPr>
          <a:xfrm>
            <a:off x="685800" y="3776472"/>
            <a:ext cx="10817352" cy="722376"/>
          </a:xfrm>
          <a:prstGeom prst="rect">
            <a:avLst/>
          </a:prstGeom>
          <a:noFill/>
          <a:ln/>
        </p:spPr>
        <p:txBody>
          <a:bodyPr wrap="square" lIns="0" tIns="0" rIns="0" bIns="0" rtlCol="0" anchor="t"/>
          <a:lstStyle/>
          <a:p>
            <a:pPr indent="0" marL="0">
              <a:buNone/>
            </a:pPr>
            <a:r>
              <a:rPr lang="en-US" sz="1600" b="1" dirty="0">
                <a:solidFill>
                  <a:schemeClr val="tx2"/>
                </a:solidFill>
              </a:rPr>
              <a:t>Basamak 2 · Bayrağa göre hedefe yönelik</a:t>
            </a:r>
            <a:endParaRPr lang="en-US" sz="1600" dirty="0"/>
          </a:p>
          <a:p>
            <a:pPr indent="0" marL="0">
              <a:buNone/>
            </a:pPr>
            <a:r>
              <a:rPr lang="en-US" sz="1500" dirty="0">
                <a:solidFill>
                  <a:schemeClr val="tx1"/>
                </a:solidFill>
              </a:rPr>
              <a:t>Metabolik bayrak → atakta kritik örnek (dekstrozu geciktirmeden) · Ataklar arası üst GİS yakınması → endoskopi · Aralıklı UPJ şüphesi → atak sırasında US</a:t>
            </a:r>
            <a:r>
              <a:rPr lang="en-US" sz="1500" baseline="30000" dirty="0">
                <a:solidFill>
                  <a:schemeClr val="accent4"/>
                </a:solidFill>
              </a:rPr>
              <a:t> [8,23,46,48]</a:t>
            </a:r>
            <a:endParaRPr lang="en-US" sz="1600" dirty="0"/>
          </a:p>
        </p:txBody>
      </p:sp>
      <p:sp>
        <p:nvSpPr>
          <p:cNvPr id="16" name="ok-172"/>
          <p:cNvSpPr/>
          <p:nvPr/>
        </p:nvSpPr>
        <p:spPr>
          <a:xfrm>
            <a:off x="6094476" y="4572000"/>
            <a:ext cx="0" cy="109728"/>
          </a:xfrm>
          <a:prstGeom prst="line">
            <a:avLst/>
          </a:prstGeom>
          <a:noFill/>
          <a:ln w="19050">
            <a:solidFill>
              <a:srgbClr val="5B6B73"/>
            </a:solidFill>
            <a:prstDash val="solid"/>
            <a:tailEnd type="triangle"/>
          </a:ln>
        </p:spPr>
      </p:sp>
      <p:sp>
        <p:nvSpPr>
          <p:cNvPr id="17" name="algo-kutu-173"/>
          <p:cNvSpPr/>
          <p:nvPr/>
        </p:nvSpPr>
        <p:spPr>
          <a:xfrm>
            <a:off x="548640" y="4681728"/>
            <a:ext cx="11091672" cy="566928"/>
          </a:xfrm>
          <a:prstGeom prst="roundRect">
            <a:avLst>
              <a:gd name="adj" fmla="val 16129"/>
            </a:avLst>
          </a:prstGeom>
          <a:solidFill>
            <a:srgbClr val="F1F3F4"/>
          </a:solidFill>
          <a:ln/>
        </p:spPr>
      </p:sp>
      <p:sp>
        <p:nvSpPr>
          <p:cNvPr id="18" name="algo-yazi-174"/>
          <p:cNvSpPr txBox="1"/>
          <p:nvPr/>
        </p:nvSpPr>
        <p:spPr>
          <a:xfrm>
            <a:off x="685800" y="4754880"/>
            <a:ext cx="10817352" cy="420624"/>
          </a:xfrm>
          <a:prstGeom prst="rect">
            <a:avLst/>
          </a:prstGeom>
          <a:noFill/>
          <a:ln/>
        </p:spPr>
        <p:txBody>
          <a:bodyPr wrap="square" lIns="0" tIns="0" rIns="0" bIns="0" rtlCol="0" anchor="t"/>
          <a:lstStyle/>
          <a:p>
            <a:pPr indent="0" marL="0">
              <a:buNone/>
            </a:pPr>
            <a:r>
              <a:rPr lang="en-US" sz="1600" b="1" dirty="0">
                <a:solidFill>
                  <a:schemeClr val="tx2"/>
                </a:solidFill>
              </a:rPr>
              <a:t>Basamak 3 · Bayrak ya da 2 ayda yanıtsızlık (SKS): tanıyı testlerle destekle</a:t>
            </a:r>
            <a:endParaRPr lang="en-US" sz="1600" dirty="0"/>
          </a:p>
          <a:p>
            <a:pPr indent="0" marL="0">
              <a:buNone/>
            </a:pPr>
            <a:r>
              <a:rPr lang="en-US" sz="1500" baseline="30000" dirty="0">
                <a:solidFill>
                  <a:schemeClr val="accent4"/>
                </a:solidFill>
              </a:rPr>
              <a:t> [8]</a:t>
            </a:r>
            <a:endParaRPr lang="en-US" sz="1600" dirty="0"/>
          </a:p>
        </p:txBody>
      </p:sp>
      <p:sp>
        <p:nvSpPr>
          <p:cNvPr id="19" name="ok-175"/>
          <p:cNvSpPr/>
          <p:nvPr/>
        </p:nvSpPr>
        <p:spPr>
          <a:xfrm>
            <a:off x="3321558" y="5248656"/>
            <a:ext cx="0" cy="109728"/>
          </a:xfrm>
          <a:prstGeom prst="line">
            <a:avLst/>
          </a:prstGeom>
          <a:noFill/>
          <a:ln w="19050">
            <a:solidFill>
              <a:srgbClr val="5B6B73"/>
            </a:solidFill>
            <a:prstDash val="solid"/>
            <a:tailEnd type="triangle"/>
          </a:ln>
        </p:spPr>
      </p:sp>
      <p:sp>
        <p:nvSpPr>
          <p:cNvPr id="20" name="ok-176"/>
          <p:cNvSpPr/>
          <p:nvPr/>
        </p:nvSpPr>
        <p:spPr>
          <a:xfrm>
            <a:off x="8867394" y="5248656"/>
            <a:ext cx="0" cy="109728"/>
          </a:xfrm>
          <a:prstGeom prst="line">
            <a:avLst/>
          </a:prstGeom>
          <a:noFill/>
          <a:ln w="19050">
            <a:solidFill>
              <a:srgbClr val="5B6B73"/>
            </a:solidFill>
            <a:prstDash val="solid"/>
            <a:tailEnd type="triangle"/>
          </a:ln>
        </p:spPr>
      </p:sp>
      <p:sp>
        <p:nvSpPr>
          <p:cNvPr id="21" name="algo-kutu-177"/>
          <p:cNvSpPr/>
          <p:nvPr/>
        </p:nvSpPr>
        <p:spPr>
          <a:xfrm>
            <a:off x="548640" y="5358384"/>
            <a:ext cx="5454396" cy="822960"/>
          </a:xfrm>
          <a:prstGeom prst="roundRect">
            <a:avLst>
              <a:gd name="adj" fmla="val 11111"/>
            </a:avLst>
          </a:prstGeom>
          <a:solidFill>
            <a:schemeClr val="bg2"/>
          </a:solidFill>
          <a:ln/>
        </p:spPr>
      </p:sp>
      <p:sp>
        <p:nvSpPr>
          <p:cNvPr id="22" name="algo-yazi-178"/>
          <p:cNvSpPr txBox="1"/>
          <p:nvPr/>
        </p:nvSpPr>
        <p:spPr>
          <a:xfrm>
            <a:off x="685800" y="5431536"/>
            <a:ext cx="5180076" cy="676656"/>
          </a:xfrm>
          <a:prstGeom prst="rect">
            <a:avLst/>
          </a:prstGeom>
          <a:noFill/>
          <a:ln/>
        </p:spPr>
        <p:txBody>
          <a:bodyPr wrap="square" lIns="0" tIns="0" rIns="0" bIns="0" rtlCol="0" anchor="t"/>
          <a:lstStyle/>
          <a:p>
            <a:pPr indent="0" marL="0">
              <a:buNone/>
            </a:pPr>
            <a:r>
              <a:rPr lang="en-US" sz="1600" b="1" dirty="0">
                <a:solidFill>
                  <a:schemeClr val="tx2"/>
                </a:solidFill>
              </a:rPr>
              <a:t>Rome V pozitif tanı</a:t>
            </a:r>
            <a:endParaRPr lang="en-US" sz="1600" dirty="0"/>
          </a:p>
          <a:p>
            <a:pPr indent="0" marL="0">
              <a:buNone/>
            </a:pPr>
            <a:r>
              <a:rPr lang="en-US" sz="1500" dirty="0">
                <a:solidFill>
                  <a:schemeClr val="tx1"/>
                </a:solidFill>
              </a:rPr>
              <a:t>SKS · ruminasyon · KBS · FD</a:t>
            </a:r>
            <a:r>
              <a:rPr lang="en-US" sz="1500" baseline="30000" dirty="0">
                <a:solidFill>
                  <a:schemeClr val="accent4"/>
                </a:solidFill>
              </a:rPr>
              <a:t> [8]</a:t>
            </a:r>
            <a:endParaRPr lang="en-US" sz="1600" dirty="0"/>
          </a:p>
        </p:txBody>
      </p:sp>
      <p:sp>
        <p:nvSpPr>
          <p:cNvPr id="23" name="algo-kutu-179"/>
          <p:cNvSpPr/>
          <p:nvPr/>
        </p:nvSpPr>
        <p:spPr>
          <a:xfrm>
            <a:off x="6185916" y="5358384"/>
            <a:ext cx="5454396" cy="822960"/>
          </a:xfrm>
          <a:prstGeom prst="roundRect">
            <a:avLst>
              <a:gd name="adj" fmla="val 11111"/>
            </a:avLst>
          </a:prstGeom>
          <a:solidFill>
            <a:srgbClr val="FDF3DC"/>
          </a:solidFill>
          <a:ln w="19050">
            <a:solidFill>
              <a:srgbClr val="E9B44C"/>
            </a:solidFill>
            <a:prstDash val="dash"/>
          </a:ln>
        </p:spPr>
      </p:sp>
      <p:sp>
        <p:nvSpPr>
          <p:cNvPr id="24" name="algo-yazi-180"/>
          <p:cNvSpPr txBox="1"/>
          <p:nvPr/>
        </p:nvSpPr>
        <p:spPr>
          <a:xfrm>
            <a:off x="6323076" y="5431536"/>
            <a:ext cx="5180076" cy="676656"/>
          </a:xfrm>
          <a:prstGeom prst="rect">
            <a:avLst/>
          </a:prstGeom>
          <a:noFill/>
          <a:ln/>
        </p:spPr>
        <p:txBody>
          <a:bodyPr wrap="square" lIns="0" tIns="0" rIns="0" bIns="0" rtlCol="0" anchor="t"/>
          <a:lstStyle/>
          <a:p>
            <a:pPr indent="0" marL="0">
              <a:buNone/>
            </a:pPr>
            <a:r>
              <a:rPr lang="en-US" sz="1600" b="1" dirty="0">
                <a:solidFill>
                  <a:schemeClr val="tx2"/>
                </a:solidFill>
              </a:rPr>
              <a:t>Kronik günlük kusma (ÇIKARIM)</a:t>
            </a:r>
            <a:endParaRPr lang="en-US" sz="1600" dirty="0"/>
          </a:p>
          <a:p>
            <a:pPr indent="0" marL="0">
              <a:buNone/>
            </a:pPr>
            <a:r>
              <a:rPr lang="en-US" sz="1500" dirty="0">
                <a:solidFill>
                  <a:schemeClr val="tx1"/>
                </a:solidFill>
              </a:rPr>
              <a:t>Rome V pediatrikte karşılığı yok → araştırmayı sürdür</a:t>
            </a:r>
            <a:r>
              <a:rPr lang="en-US" sz="1500" baseline="30000" dirty="0">
                <a:solidFill>
                  <a:schemeClr val="accent4"/>
                </a:solidFill>
              </a:rPr>
              <a:t> [8]</a:t>
            </a:r>
            <a:endParaRPr lang="en-US" sz="1600" dirty="0"/>
          </a:p>
        </p:txBody>
      </p:sp>
      <p:sp>
        <p:nvSpPr>
          <p:cNvPr id="25"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3,8,22–24,34,45,46,48,55,56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4 · Basamaklı tetkik</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Aşırı tetkikin bedeli</a:t>
            </a:r>
            <a:endParaRPr lang="en-US" sz="2600" dirty="0"/>
          </a:p>
        </p:txBody>
      </p:sp>
      <p:sp>
        <p:nvSpPr>
          <p:cNvPr id="4" name="govde-181"/>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135 SKS'li çocukta tetkikler 6'sında (%4,4) yönetimi değiştirdi; hasta başı ortalama fatura 6125 $ (2015, 3. basamak)</a:t>
            </a:r>
            <a:r>
              <a:rPr lang="en-US" sz="2200" baseline="30000" dirty="0">
                <a:solidFill>
                  <a:schemeClr val="accent4"/>
                </a:solidFill>
              </a:rPr>
              <a:t>⁠[65]</a:t>
            </a:r>
            <a:endParaRPr lang="en-US" sz="2200" dirty="0"/>
          </a:p>
          <a:p>
            <a:pPr marL="254000" indent="-254000">
              <a:spcAft>
                <a:spcPts val="1800"/>
              </a:spcAft>
              <a:buSzPct val="100000"/>
              <a:buChar char="•"/>
            </a:pPr>
            <a:r>
              <a:rPr lang="en-US" sz="2200" dirty="0">
                <a:solidFill>
                  <a:schemeClr val="tx1"/>
                </a:solidFill>
              </a:rPr>
              <a:t>Fonksiyonel bulantılı 63 çocuk: 96 endoskopi, 199 radyolojik test, 4 kolesistektomi; çoğu tanısız</a:t>
            </a:r>
            <a:r>
              <a:rPr lang="en-US" sz="2200" baseline="30000" dirty="0">
                <a:solidFill>
                  <a:schemeClr val="accent4"/>
                </a:solidFill>
              </a:rPr>
              <a:t>⁠[66]</a:t>
            </a:r>
            <a:endParaRPr lang="en-US" sz="2200" dirty="0"/>
          </a:p>
          <a:p>
            <a:pPr marL="254000" indent="-254000">
              <a:spcAft>
                <a:spcPts val="1800"/>
              </a:spcAft>
              <a:buSzPct val="100000"/>
              <a:buChar char="•"/>
            </a:pPr>
            <a:r>
              <a:rPr lang="en-US" sz="2200" dirty="0">
                <a:solidFill>
                  <a:schemeClr val="tx1"/>
                </a:solidFill>
              </a:rPr>
              <a:t>Metabolik tetkik: 2/135 tanı değişikliği</a:t>
            </a:r>
            <a:r>
              <a:rPr lang="en-US" sz="2200" baseline="30000" dirty="0">
                <a:solidFill>
                  <a:schemeClr val="accent4"/>
                </a:solidFill>
              </a:rPr>
              <a:t>⁠[65]</a:t>
            </a:r>
            <a:endParaRPr lang="en-US" sz="2200" dirty="0"/>
          </a:p>
        </p:txBody>
      </p:sp>
      <p:sp>
        <p:nvSpPr>
          <p:cNvPr id="5" name="kart-182"/>
          <p:cNvSpPr/>
          <p:nvPr/>
        </p:nvSpPr>
        <p:spPr>
          <a:xfrm>
            <a:off x="8001000" y="1600200"/>
            <a:ext cx="3639312" cy="2331720"/>
          </a:xfrm>
          <a:prstGeom prst="roundRect">
            <a:avLst>
              <a:gd name="adj" fmla="val 4706"/>
            </a:avLst>
          </a:prstGeom>
          <a:solidFill>
            <a:schemeClr val="bg2"/>
          </a:solidFill>
          <a:ln/>
        </p:spPr>
      </p:sp>
      <p:sp>
        <p:nvSpPr>
          <p:cNvPr id="6" name="sayi-183"/>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6125 $</a:t>
            </a:r>
            <a:endParaRPr lang="en-US" sz="4800" dirty="0"/>
          </a:p>
        </p:txBody>
      </p:sp>
      <p:sp>
        <p:nvSpPr>
          <p:cNvPr id="7" name="sayi-alt-184"/>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hasta başı ortalama fatura (2015, 3. basamak)</a:t>
            </a:r>
            <a:endParaRPr lang="en-US" sz="1400" dirty="0"/>
          </a:p>
        </p:txBody>
      </p:sp>
      <p:sp>
        <p:nvSpPr>
          <p:cNvPr id="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65,66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5 · Fonksiyonel tanı: Rome V</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Rome V: pozitif tanı, anatomik sınıflama;</a:t>
            </a:r>
            <a:endParaRPr lang="en-US" sz="2600" dirty="0"/>
          </a:p>
          <a:p>
            <a:pPr algn="l" indent="0" marL="0">
              <a:buNone/>
            </a:pPr>
            <a:r>
              <a:rPr lang="en-US" sz="2600" b="1" dirty="0">
                <a:solidFill>
                  <a:schemeClr val="tx1"/>
                </a:solidFill>
              </a:rPr>
              <a:t>DGBI organik hastalıkla birlikte bulunabilir</a:t>
            </a:r>
            <a:endParaRPr lang="en-US" sz="2600" dirty="0"/>
          </a:p>
        </p:txBody>
      </p:sp>
      <p:sp>
        <p:nvSpPr>
          <p:cNvPr id="4" name="govde-185"/>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Sınıflama yaş yerine anatomik bölge ve patofizyolojiye dayanıyor</a:t>
            </a:r>
            <a:r>
              <a:rPr lang="en-US" sz="2200" baseline="30000" dirty="0">
                <a:solidFill>
                  <a:schemeClr val="accent4"/>
                </a:solidFill>
              </a:rPr>
              <a:t>⁠[67]</a:t>
            </a:r>
            <a:endParaRPr lang="en-US" sz="2200" dirty="0"/>
          </a:p>
          <a:p>
            <a:pPr marL="254000" indent="-254000">
              <a:spcAft>
                <a:spcPts val="1800"/>
              </a:spcAft>
              <a:buSzPct val="100000"/>
              <a:buChar char="•"/>
            </a:pPr>
            <a:r>
              <a:rPr lang="en-US" sz="2200" dirty="0">
                <a:solidFill>
                  <a:schemeClr val="tx1"/>
                </a:solidFill>
              </a:rPr>
              <a:t>Testler kriterlerin birçoğunda daha büyük rol oynuyor (HRM, empedans)</a:t>
            </a:r>
            <a:r>
              <a:rPr lang="en-US" sz="2200" baseline="30000" dirty="0">
                <a:solidFill>
                  <a:schemeClr val="accent4"/>
                </a:solidFill>
              </a:rPr>
              <a:t>⁠[8]</a:t>
            </a:r>
            <a:endParaRPr lang="en-US" sz="2200" dirty="0"/>
          </a:p>
          <a:p>
            <a:pPr marL="254000" indent="-254000">
              <a:spcAft>
                <a:spcPts val="1800"/>
              </a:spcAft>
              <a:buSzPct val="100000"/>
              <a:buChar char="•"/>
            </a:pPr>
            <a:r>
              <a:rPr lang="en-US" sz="2200" dirty="0">
                <a:solidFill>
                  <a:schemeClr val="tx1"/>
                </a:solidFill>
              </a:rPr>
              <a:t>DGBI, GİS semptomu yapan hastalıklarla birlikte bulunabilir</a:t>
            </a:r>
            <a:r>
              <a:rPr lang="en-US" sz="2200" baseline="30000" dirty="0">
                <a:solidFill>
                  <a:schemeClr val="accent4"/>
                </a:solidFill>
              </a:rPr>
              <a:t>⁠[68]</a:t>
            </a:r>
            <a:endParaRPr lang="en-US" sz="2200" dirty="0"/>
          </a:p>
          <a:p>
            <a:pPr marL="254000" indent="-254000">
              <a:spcAft>
                <a:spcPts val="1800"/>
              </a:spcAft>
              <a:buSzPct val="100000"/>
              <a:buChar char="•"/>
            </a:pPr>
            <a:r>
              <a:rPr lang="en-US" sz="2200" dirty="0">
                <a:solidFill>
                  <a:schemeClr val="tx1"/>
                </a:solidFill>
              </a:rPr>
              <a:t>Çölyakta GFD'ye uyumlu 191 çocuğun %43'ünde DGBI</a:t>
            </a:r>
            <a:r>
              <a:rPr lang="en-US" sz="2200" baseline="30000" dirty="0">
                <a:solidFill>
                  <a:schemeClr val="accent4"/>
                </a:solidFill>
              </a:rPr>
              <a:t>⁠[69]</a:t>
            </a:r>
            <a:endParaRPr lang="en-US" sz="2200" dirty="0"/>
          </a:p>
        </p:txBody>
      </p:sp>
      <p:sp>
        <p:nvSpPr>
          <p:cNvPr id="5" name="kart-186"/>
          <p:cNvSpPr/>
          <p:nvPr/>
        </p:nvSpPr>
        <p:spPr>
          <a:xfrm>
            <a:off x="8001000" y="1600200"/>
            <a:ext cx="3639312" cy="2331720"/>
          </a:xfrm>
          <a:prstGeom prst="roundRect">
            <a:avLst>
              <a:gd name="adj" fmla="val 4706"/>
            </a:avLst>
          </a:prstGeom>
          <a:solidFill>
            <a:schemeClr val="bg2"/>
          </a:solidFill>
          <a:ln/>
        </p:spPr>
      </p:sp>
      <p:sp>
        <p:nvSpPr>
          <p:cNvPr id="6" name="sayi-187"/>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%43</a:t>
            </a:r>
            <a:endParaRPr lang="en-US" sz="4800" dirty="0"/>
          </a:p>
        </p:txBody>
      </p:sp>
      <p:sp>
        <p:nvSpPr>
          <p:cNvPr id="7" name="sayi-alt-188"/>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GFD'ye uyumlu çölyaklı çocuklarda DGBI (n=191)</a:t>
            </a:r>
            <a:endParaRPr lang="en-US" sz="1400" dirty="0"/>
          </a:p>
        </p:txBody>
      </p:sp>
      <p:sp>
        <p:nvSpPr>
          <p:cNvPr id="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8,67–69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5 · Fonksiyonel tanı: Rome V</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Kusma alanında Rome IV'ten Rome V'e: beş değişiklik</a:t>
            </a:r>
            <a:endParaRPr lang="en-US" sz="2600" dirty="0"/>
          </a:p>
        </p:txBody>
      </p:sp>
      <p:graphicFrame>
        <p:nvGraphicFramePr>
          <p:cNvPr id="32" name="tablo-189"/>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108960"/>
                <a:gridCol w="7982712"/>
              </a:tblGrid>
              <a:tr h="640080">
                <a:tc>
                  <a:txBody>
                    <a:bodyPr/>
                    <a:lstStyle/>
                    <a:p>
                      <a:pPr indent="0" marL="0">
                        <a:buNone/>
                      </a:pPr>
                      <a:r>
                        <a:rPr lang="en-US" sz="1800" b="1" dirty="0">
                          <a:solidFill>
                            <a:schemeClr val="bg1"/>
                          </a:solidFill>
                        </a:rPr>
                        <a:t>Rome IV</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Rome V</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tx2"/>
                    </a:solidFill>
                  </a:tcPr>
                </a:tc>
              </a:tr>
              <a:tr h="640080">
                <a:tc>
                  <a:txBody>
                    <a:bodyPr/>
                    <a:lstStyle/>
                    <a:p>
                      <a:pPr indent="0" marL="0">
                        <a:buNone/>
                      </a:pPr>
                      <a:r>
                        <a:rPr lang="en-US" sz="1800" dirty="0">
                          <a:solidFill>
                            <a:schemeClr val="tx1"/>
                          </a:solidFill>
                        </a:rPr>
                        <a:t>Fonksiyonel bulantı</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Kronik bulantı sendromu; kriterler benzer, kusma tanım dışı</a:t>
                      </a:r>
                      <a:r>
                        <a:rPr lang="en-US" sz="1800" baseline="30000" dirty="0">
                          <a:solidFill>
                            <a:schemeClr val="accent4"/>
                          </a:solidFill>
                        </a:rPr>
                        <a:t>⁠[8]</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r>
              <a:tr h="640080">
                <a:tc>
                  <a:txBody>
                    <a:bodyPr/>
                    <a:lstStyle/>
                    <a:p>
                      <a:pPr indent="0" marL="0">
                        <a:buNone/>
                      </a:pPr>
                      <a:r>
                        <a:rPr lang="en-US" sz="1800" dirty="0">
                          <a:solidFill>
                            <a:schemeClr val="tx1"/>
                          </a:solidFill>
                        </a:rPr>
                        <a:t>(karşılığı yok)</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KHS, SKS'nin alt grubu</a:t>
                      </a:r>
                      <a:r>
                        <a:rPr lang="en-US" sz="1800" baseline="30000" dirty="0">
                          <a:solidFill>
                            <a:schemeClr val="accent4"/>
                          </a:solidFill>
                        </a:rPr>
                        <a:t>⁠[8]</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r>
              <a:tr h="640080">
                <a:tc>
                  <a:txBody>
                    <a:bodyPr/>
                    <a:lstStyle/>
                    <a:p>
                      <a:pPr indent="0" marL="0">
                        <a:buNone/>
                      </a:pPr>
                      <a:r>
                        <a:rPr lang="en-US" sz="1800" dirty="0">
                          <a:solidFill>
                            <a:schemeClr val="tx1"/>
                          </a:solidFill>
                        </a:rPr>
                        <a:t>Ruminasyon (yaşa göre)</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Tek set; sıvı sonrası eklendi, öğürme dışlaması kalktı, GÖRH tedavisine yanıtsızlık</a:t>
                      </a:r>
                      <a:r>
                        <a:rPr lang="en-US" sz="1800" baseline="30000" dirty="0">
                          <a:solidFill>
                            <a:schemeClr val="accent4"/>
                          </a:solidFill>
                        </a:rPr>
                        <a:t>⁠[8]</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r>
              <a:tr h="640080">
                <a:tc>
                  <a:txBody>
                    <a:bodyPr/>
                    <a:lstStyle/>
                    <a:p>
                      <a:pPr indent="0" marL="0">
                        <a:buNone/>
                      </a:pPr>
                      <a:r>
                        <a:rPr lang="en-US" sz="1800" dirty="0">
                          <a:solidFill>
                            <a:schemeClr val="tx1"/>
                          </a:solidFill>
                        </a:rPr>
                        <a:t>PDS haftada 1 gün</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Haftada 3 gün; postprandiyal = 2 saat içinde</a:t>
                      </a:r>
                      <a:r>
                        <a:rPr lang="en-US" sz="1800" baseline="30000" dirty="0">
                          <a:solidFill>
                            <a:schemeClr val="accent4"/>
                          </a:solidFill>
                        </a:rPr>
                        <a:t>⁠[8]</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r>
              <a:tr h="640080">
                <a:tc>
                  <a:txBody>
                    <a:bodyPr/>
                    <a:lstStyle/>
                    <a:p>
                      <a:pPr indent="0" marL="0">
                        <a:buNone/>
                      </a:pPr>
                      <a:r>
                        <a:rPr lang="en-US" sz="1800" dirty="0">
                          <a:solidFill>
                            <a:schemeClr val="tx1"/>
                          </a:solidFill>
                        </a:rPr>
                        <a:t>Süt çocuğu regürjitasyonu</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Kaldırıldı (İKİNCİL)</a:t>
                      </a:r>
                      <a:r>
                        <a:rPr lang="en-US" sz="1800" baseline="30000" dirty="0">
                          <a:solidFill>
                            <a:schemeClr val="accent4"/>
                          </a:solidFill>
                        </a:rPr>
                        <a:t>⁠[4]</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r>
            </a:tbl>
          </a:graphicData>
        </a:graphic>
      </p:graphicFrame>
      <p:sp>
        <p:nvSpPr>
          <p:cNvPr id="5" name="dipnot-190"/>
          <p:cNvSpPr txBox="1"/>
          <p:nvPr/>
        </p:nvSpPr>
        <p:spPr>
          <a:xfrm>
            <a:off x="548640" y="5833872"/>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"attributed to" → "fully explained by". Rome IV SKS eşikleri verbatim doğrulanamadı → karşılaştırılmadı.</a:t>
            </a:r>
            <a:endParaRPr lang="en-US" sz="1100" dirty="0"/>
          </a:p>
        </p:txBody>
      </p:sp>
      <p:sp>
        <p:nvSpPr>
          <p:cNvPr id="6"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4,8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5 · Fonksiyonel tanı: Rome V</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SKS: Rome V tanı kriterleri</a:t>
            </a:r>
            <a:endParaRPr lang="en-US" sz="2600" dirty="0"/>
          </a:p>
        </p:txBody>
      </p:sp>
      <p:sp>
        <p:nvSpPr>
          <p:cNvPr id="4" name="kriter-191"/>
          <p:cNvSpPr txBox="1"/>
          <p:nvPr/>
        </p:nvSpPr>
        <p:spPr>
          <a:xfrm>
            <a:off x="548640" y="1554480"/>
            <a:ext cx="557784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700" dirty="0">
                <a:solidFill>
                  <a:schemeClr val="tx1"/>
                </a:solidFill>
              </a:rPr>
              <a:t>Akut başlangıçlı, saatte birden çok tekrarlayan kusmalı stereotipik ataklar</a:t>
            </a:r>
            <a:endParaRPr lang="en-US" sz="1700" dirty="0"/>
          </a:p>
          <a:p>
            <a:pPr marL="342900" indent="-342900">
              <a:spcAft>
                <a:spcPts val="800"/>
              </a:spcAft>
              <a:buSzPct val="100000"/>
              <a:buFont typeface="+mj-lt"/>
              <a:buAutoNum type="arabicPeriod" startAt="1"/>
            </a:pPr>
            <a:r>
              <a:rPr lang="en-US" sz="1700" dirty="0">
                <a:solidFill>
                  <a:schemeClr val="tx1"/>
                </a:solidFill>
              </a:rPr>
              <a:t>Son 12 ayda 2 saat–7 gün süren ≥4 ayrı atak</a:t>
            </a:r>
            <a:endParaRPr lang="en-US" sz="1700" dirty="0"/>
          </a:p>
          <a:p>
            <a:pPr marL="342900" indent="-342900">
              <a:spcAft>
                <a:spcPts val="800"/>
              </a:spcAft>
              <a:buSzPct val="100000"/>
              <a:buFont typeface="+mj-lt"/>
              <a:buAutoNum type="arabicPeriod" startAt="1"/>
            </a:pPr>
            <a:r>
              <a:rPr lang="en-US" sz="1700" dirty="0">
                <a:solidFill>
                  <a:schemeClr val="tx1"/>
                </a:solidFill>
              </a:rPr>
              <a:t>Ataklar arası en az 1 hafta</a:t>
            </a:r>
            <a:endParaRPr lang="en-US" sz="1700" dirty="0"/>
          </a:p>
          <a:p>
            <a:pPr marL="342900" indent="-342900">
              <a:spcAft>
                <a:spcPts val="800"/>
              </a:spcAft>
              <a:buSzPct val="100000"/>
              <a:buFont typeface="+mj-lt"/>
              <a:buAutoNum type="arabicPeriod" startAt="1"/>
            </a:pPr>
            <a:r>
              <a:rPr lang="en-US" sz="1700" dirty="0">
                <a:solidFill>
                  <a:schemeClr val="tx1"/>
                </a:solidFill>
              </a:rPr>
              <a:t>Ataklar arasında bazal sağlığa dönüş</a:t>
            </a:r>
            <a:endParaRPr lang="en-US" sz="1700" dirty="0"/>
          </a:p>
          <a:p>
            <a:pPr marL="342900" indent="-342900">
              <a:spcAft>
                <a:spcPts val="800"/>
              </a:spcAft>
              <a:buSzPct val="100000"/>
              <a:buFont typeface="+mj-lt"/>
              <a:buAutoNum type="arabicPeriod" startAt="1"/>
            </a:pPr>
            <a:r>
              <a:rPr lang="en-US" sz="1700" dirty="0">
                <a:solidFill>
                  <a:schemeClr val="tx1"/>
                </a:solidFill>
              </a:rPr>
              <a:t>Uygun değerlendirmeden sonra başka bir durumla </a:t>
            </a:r>
            <a:r>
              <a:rPr lang="en-US" sz="1700" b="1" dirty="0">
                <a:solidFill>
                  <a:schemeClr val="tx1"/>
                </a:solidFill>
              </a:rPr>
              <a:t>tam olarak</a:t>
            </a:r>
            <a:r>
              <a:rPr lang="en-US" sz="1700" dirty="0">
                <a:solidFill>
                  <a:schemeClr val="tx1"/>
                </a:solidFill>
              </a:rPr>
              <a:t> açıklanamaz</a:t>
            </a:r>
            <a:r>
              <a:rPr lang="en-US" sz="1700" baseline="30000" dirty="0">
                <a:solidFill>
                  <a:schemeClr val="accent4"/>
                </a:solidFill>
              </a:rPr>
              <a:t>⁠[8]</a:t>
            </a:r>
            <a:endParaRPr lang="en-US" sz="1700" dirty="0"/>
          </a:p>
        </p:txBody>
      </p:sp>
      <p:pic>
        <p:nvPicPr>
          <p:cNvPr id="5" name="sekil-192" descr="SKS kriter zaman çizelgesi (şematik)">    </p:cNvPr>
          <p:cNvPicPr>
            <a:picLocks noChangeAspect="1"/>
          </p:cNvPicPr>
          <p:nvPr/>
        </p:nvPicPr>
        <p:blipFill>
          <a:blip r:embed="rId1"/>
          <a:stretch>
            <a:fillRect/>
          </a:stretch>
        </p:blipFill>
        <p:spPr>
          <a:xfrm>
            <a:off x="6355080" y="1600200"/>
            <a:ext cx="5285232" cy="2304288"/>
          </a:xfrm>
          <a:prstGeom prst="rect">
            <a:avLst/>
          </a:prstGeom>
        </p:spPr>
      </p:pic>
      <p:sp>
        <p:nvSpPr>
          <p:cNvPr id="6" name="gri-193"/>
          <p:cNvSpPr txBox="1"/>
          <p:nvPr/>
        </p:nvSpPr>
        <p:spPr>
          <a:xfrm>
            <a:off x="548640" y="4617720"/>
            <a:ext cx="11091672" cy="1143000"/>
          </a:xfrm>
          <a:prstGeom prst="roundRect">
            <a:avLst>
              <a:gd name="adj" fmla="val 8000"/>
            </a:avLst>
          </a:prstGeom>
          <a:solidFill>
            <a:srgbClr val="F1F3F4"/>
          </a:solidFill>
          <a:ln/>
        </p:spPr>
        <p:txBody>
          <a:bodyPr wrap="square" lIns="152400" tIns="76200" rIns="152400" bIns="76200" rtlCol="0" anchor="t"/>
          <a:lstStyle/>
          <a:p>
            <a:pPr indent="0" marL="0">
              <a:buNone/>
            </a:pPr>
            <a:r>
              <a:rPr lang="en-US" sz="1400" b="1" dirty="0">
                <a:solidFill>
                  <a:schemeClr val="tx2"/>
                </a:solidFill>
              </a:rPr>
              <a:t>Kutudaki ikinci liste (statüsü tam metinde belirtilmemiş): </a:t>
            </a:r>
            <a:r>
              <a:rPr lang="en-US" sz="1400" dirty="0">
                <a:solidFill>
                  <a:schemeClr val="tx1"/>
                </a:solidFill>
              </a:rPr>
              <a:t>migren öyküsü/aile öyküsü; ataklarda halsizlik-durgunluk, terleme, fotofobi, dinmeyen bulantı, karın ağrısı ve/veya mide boşaldıktan sonra da süren öğürme; ataklar arası daha hafif/aralıklı karın ağrısı ve bulantı olabilir.</a:t>
            </a:r>
            <a:endParaRPr lang="en-US" sz="1400" dirty="0"/>
          </a:p>
        </p:txBody>
      </p:sp>
      <p:sp>
        <p:nvSpPr>
          <p:cNvPr id="7"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5 · Fonksiyonel tanı: Rome V</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Ruminasyon, KBS ve FD; Rome V'te "fonksiyonel kusma" yok</a:t>
            </a:r>
            <a:endParaRPr lang="en-US" sz="2600" dirty="0"/>
          </a:p>
        </p:txBody>
      </p:sp>
      <p:sp>
        <p:nvSpPr>
          <p:cNvPr id="4" name="rome-kart-194"/>
          <p:cNvSpPr/>
          <p:nvPr/>
        </p:nvSpPr>
        <p:spPr>
          <a:xfrm>
            <a:off x="548640" y="1600200"/>
            <a:ext cx="3520440" cy="3291840"/>
          </a:xfrm>
          <a:prstGeom prst="roundRect">
            <a:avLst>
              <a:gd name="adj" fmla="val 3333"/>
            </a:avLst>
          </a:prstGeom>
          <a:solidFill>
            <a:schemeClr val="bg2"/>
          </a:solidFill>
          <a:ln/>
        </p:spPr>
      </p:sp>
      <p:sp>
        <p:nvSpPr>
          <p:cNvPr id="5" name="rome-baslik-195"/>
          <p:cNvSpPr txBox="1"/>
          <p:nvPr/>
        </p:nvSpPr>
        <p:spPr>
          <a:xfrm>
            <a:off x="777240" y="1737360"/>
            <a:ext cx="31089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Ruminasyon</a:t>
            </a:r>
            <a:endParaRPr lang="en-US" sz="2000" dirty="0"/>
          </a:p>
        </p:txBody>
      </p:sp>
      <p:sp>
        <p:nvSpPr>
          <p:cNvPr id="6" name="rome-govde-196"/>
          <p:cNvSpPr txBox="1"/>
          <p:nvPr/>
        </p:nvSpPr>
        <p:spPr>
          <a:xfrm>
            <a:off x="777240" y="2240280"/>
            <a:ext cx="3108960" cy="256032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tx1"/>
                </a:solidFill>
              </a:rPr>
              <a:t>≥2 ay, 3 aylıktan sonra</a:t>
            </a:r>
            <a:endParaRPr lang="en-US" sz="1700" dirty="0"/>
          </a:p>
          <a:p>
            <a:pPr marL="203200" indent="-203200">
              <a:spcAft>
                <a:spcPts val="800"/>
              </a:spcAft>
              <a:buSzPct val="100000"/>
              <a:buChar char="•"/>
            </a:pPr>
            <a:r>
              <a:rPr lang="en-US" sz="1700" dirty="0">
                <a:solidFill>
                  <a:schemeClr val="tx1"/>
                </a:solidFill>
              </a:rPr>
              <a:t>Yemek/sıvı sırasında ya da hemen sonra görünüşte zahmetsiz regürjitasyon</a:t>
            </a:r>
            <a:endParaRPr lang="en-US" sz="1700" dirty="0"/>
          </a:p>
          <a:p>
            <a:pPr marL="203200" indent="-203200">
              <a:spcAft>
                <a:spcPts val="800"/>
              </a:spcAft>
              <a:buSzPct val="100000"/>
              <a:buChar char="•"/>
            </a:pPr>
            <a:r>
              <a:rPr lang="en-US" sz="1700" dirty="0">
                <a:solidFill>
                  <a:schemeClr val="tx1"/>
                </a:solidFill>
              </a:rPr>
              <a:t>Uykuda yok</a:t>
            </a:r>
            <a:endParaRPr lang="en-US" sz="1700" dirty="0"/>
          </a:p>
          <a:p>
            <a:pPr marL="203200" indent="-203200">
              <a:spcAft>
                <a:spcPts val="800"/>
              </a:spcAft>
              <a:buSzPct val="100000"/>
              <a:buChar char="•"/>
            </a:pPr>
            <a:r>
              <a:rPr lang="en-US" sz="1700" dirty="0">
                <a:solidFill>
                  <a:schemeClr val="tx1"/>
                </a:solidFill>
              </a:rPr>
              <a:t>GÖRH tedavisine yanıtsız</a:t>
            </a:r>
            <a:endParaRPr lang="en-US" sz="1700" dirty="0"/>
          </a:p>
          <a:p>
            <a:pPr marL="203200" indent="-203200">
              <a:spcAft>
                <a:spcPts val="800"/>
              </a:spcAft>
              <a:buSzPct val="100000"/>
              <a:buChar char="•"/>
            </a:pPr>
            <a:r>
              <a:rPr lang="en-US" sz="1700" dirty="0">
                <a:solidFill>
                  <a:schemeClr val="tx1"/>
                </a:solidFill>
              </a:rPr>
              <a:t>Yeme bozukluğu dışlanmalı</a:t>
            </a:r>
            <a:r>
              <a:rPr lang="en-US" sz="1700" baseline="30000" dirty="0">
                <a:solidFill>
                  <a:schemeClr val="accent4"/>
                </a:solidFill>
              </a:rPr>
              <a:t>⁠[8]</a:t>
            </a:r>
            <a:endParaRPr lang="en-US" sz="1700" dirty="0"/>
          </a:p>
        </p:txBody>
      </p:sp>
      <p:sp>
        <p:nvSpPr>
          <p:cNvPr id="7" name="rome-kart-197"/>
          <p:cNvSpPr/>
          <p:nvPr/>
        </p:nvSpPr>
        <p:spPr>
          <a:xfrm>
            <a:off x="4297680" y="1600200"/>
            <a:ext cx="3520440" cy="3291840"/>
          </a:xfrm>
          <a:prstGeom prst="roundRect">
            <a:avLst>
              <a:gd name="adj" fmla="val 3333"/>
            </a:avLst>
          </a:prstGeom>
          <a:solidFill>
            <a:schemeClr val="bg2"/>
          </a:solidFill>
          <a:ln/>
        </p:spPr>
      </p:sp>
      <p:sp>
        <p:nvSpPr>
          <p:cNvPr id="8" name="rome-baslik-198"/>
          <p:cNvSpPr txBox="1"/>
          <p:nvPr/>
        </p:nvSpPr>
        <p:spPr>
          <a:xfrm>
            <a:off x="4526280" y="1737360"/>
            <a:ext cx="31089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KBS</a:t>
            </a:r>
            <a:endParaRPr lang="en-US" sz="2000" dirty="0"/>
          </a:p>
        </p:txBody>
      </p:sp>
      <p:sp>
        <p:nvSpPr>
          <p:cNvPr id="9" name="rome-govde-199"/>
          <p:cNvSpPr txBox="1"/>
          <p:nvPr/>
        </p:nvSpPr>
        <p:spPr>
          <a:xfrm>
            <a:off x="4526280" y="2240280"/>
            <a:ext cx="3108960" cy="256032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tx1"/>
                </a:solidFill>
              </a:rPr>
              <a:t>Haftada ≥2 rahatsız edici bulantı</a:t>
            </a:r>
            <a:endParaRPr lang="en-US" sz="1700" dirty="0"/>
          </a:p>
          <a:p>
            <a:pPr marL="203200" indent="-203200">
              <a:spcAft>
                <a:spcPts val="800"/>
              </a:spcAft>
              <a:buSzPct val="100000"/>
              <a:buChar char="•"/>
            </a:pPr>
            <a:r>
              <a:rPr lang="en-US" sz="1700" dirty="0">
                <a:solidFill>
                  <a:schemeClr val="tx1"/>
                </a:solidFill>
              </a:rPr>
              <a:t>Kusmayla ilişkili değil</a:t>
            </a:r>
            <a:endParaRPr lang="en-US" sz="1700" dirty="0"/>
          </a:p>
          <a:p>
            <a:pPr marL="203200" indent="-203200">
              <a:spcAft>
                <a:spcPts val="800"/>
              </a:spcAft>
              <a:buSzPct val="100000"/>
              <a:buChar char="•"/>
            </a:pPr>
            <a:r>
              <a:rPr lang="en-US" sz="1700" dirty="0">
                <a:solidFill>
                  <a:schemeClr val="tx1"/>
                </a:solidFill>
              </a:rPr>
              <a:t>≥2 ay</a:t>
            </a:r>
            <a:r>
              <a:rPr lang="en-US" sz="1700" baseline="30000" dirty="0">
                <a:solidFill>
                  <a:schemeClr val="accent4"/>
                </a:solidFill>
              </a:rPr>
              <a:t>⁠[8]</a:t>
            </a:r>
            <a:endParaRPr lang="en-US" sz="1700" dirty="0"/>
          </a:p>
        </p:txBody>
      </p:sp>
      <p:sp>
        <p:nvSpPr>
          <p:cNvPr id="10" name="rome-kart-200"/>
          <p:cNvSpPr/>
          <p:nvPr/>
        </p:nvSpPr>
        <p:spPr>
          <a:xfrm>
            <a:off x="8046720" y="1600200"/>
            <a:ext cx="3520440" cy="3291840"/>
          </a:xfrm>
          <a:prstGeom prst="roundRect">
            <a:avLst>
              <a:gd name="adj" fmla="val 3333"/>
            </a:avLst>
          </a:prstGeom>
          <a:solidFill>
            <a:schemeClr val="bg2"/>
          </a:solidFill>
          <a:ln/>
        </p:spPr>
      </p:sp>
      <p:sp>
        <p:nvSpPr>
          <p:cNvPr id="11" name="rome-baslik-201"/>
          <p:cNvSpPr txBox="1"/>
          <p:nvPr/>
        </p:nvSpPr>
        <p:spPr>
          <a:xfrm>
            <a:off x="8275320" y="1737360"/>
            <a:ext cx="31089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FD</a:t>
            </a:r>
            <a:endParaRPr lang="en-US" sz="2000" dirty="0"/>
          </a:p>
        </p:txBody>
      </p:sp>
      <p:sp>
        <p:nvSpPr>
          <p:cNvPr id="12" name="rome-govde-202"/>
          <p:cNvSpPr txBox="1"/>
          <p:nvPr/>
        </p:nvSpPr>
        <p:spPr>
          <a:xfrm>
            <a:off x="8275320" y="2240280"/>
            <a:ext cx="3108960" cy="256032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tx1"/>
                </a:solidFill>
              </a:rPr>
              <a:t>Postprandiyal dolgunluk, erken doyma ya da epigastrik ağrı/yanma</a:t>
            </a:r>
            <a:endParaRPr lang="en-US" sz="1700" dirty="0"/>
          </a:p>
          <a:p>
            <a:pPr marL="203200" indent="-203200">
              <a:spcAft>
                <a:spcPts val="800"/>
              </a:spcAft>
              <a:buSzPct val="100000"/>
              <a:buChar char="•"/>
            </a:pPr>
            <a:r>
              <a:rPr lang="en-US" sz="1700" dirty="0">
                <a:solidFill>
                  <a:schemeClr val="tx1"/>
                </a:solidFill>
              </a:rPr>
              <a:t>≥2 ay</a:t>
            </a:r>
            <a:endParaRPr lang="en-US" sz="1700" dirty="0"/>
          </a:p>
          <a:p>
            <a:pPr marL="203200" indent="-203200">
              <a:spcAft>
                <a:spcPts val="800"/>
              </a:spcAft>
              <a:buSzPct val="100000"/>
              <a:buChar char="•"/>
            </a:pPr>
            <a:r>
              <a:rPr lang="en-US" sz="1700" dirty="0">
                <a:solidFill>
                  <a:schemeClr val="tx1"/>
                </a:solidFill>
              </a:rPr>
              <a:t>PDS ≥3 gün/hafta, EPS ≥1 gün/hafta</a:t>
            </a:r>
            <a:r>
              <a:rPr lang="en-US" sz="1700" baseline="30000" dirty="0">
                <a:solidFill>
                  <a:schemeClr val="accent4"/>
                </a:solidFill>
              </a:rPr>
              <a:t>⁠[8]</a:t>
            </a:r>
            <a:endParaRPr lang="en-US" sz="1700" dirty="0"/>
          </a:p>
        </p:txBody>
      </p:sp>
      <p:sp>
        <p:nvSpPr>
          <p:cNvPr id="13" name="band-203"/>
          <p:cNvSpPr txBox="1"/>
          <p:nvPr/>
        </p:nvSpPr>
        <p:spPr>
          <a:xfrm>
            <a:off x="548640" y="5029200"/>
            <a:ext cx="11091672" cy="658368"/>
          </a:xfrm>
          <a:prstGeom prst="roundRect">
            <a:avLst>
              <a:gd name="adj" fmla="val 13889"/>
            </a:avLst>
          </a:prstGeom>
          <a:solidFill>
            <a:srgbClr val="FDF3DC"/>
          </a:solidFill>
          <a:ln w="19050">
            <a:solidFill>
              <a:srgbClr val="E9B44C"/>
            </a:solidFill>
            <a:prstDash val="dash"/>
          </a:ln>
        </p:spPr>
        <p:txBody>
          <a:bodyPr wrap="square" lIns="177800" tIns="50800" rIns="177800" bIns="50800" rtlCol="0" anchor="ctr"/>
          <a:lstStyle/>
          <a:p>
            <a:pPr indent="0" marL="0">
              <a:buNone/>
            </a:pPr>
            <a:r>
              <a:rPr lang="en-US" sz="1700" b="1" dirty="0">
                <a:solidFill>
                  <a:schemeClr val="tx1"/>
                </a:solidFill>
              </a:rPr>
              <a:t>Kronik, epizodik olmayan kusmanın Rome V pediatrikte fonksiyonel karşılığı yok → araştırmayı sürdür</a:t>
            </a:r>
            <a:r>
              <a:rPr lang="en-US" sz="1700" dirty="0">
                <a:solidFill>
                  <a:schemeClr val="tx1"/>
                </a:solidFill>
              </a:rPr>
              <a:t> (ÇIKARIM)</a:t>
            </a:r>
            <a:endParaRPr lang="en-US" sz="1700" dirty="0"/>
          </a:p>
        </p:txBody>
      </p:sp>
      <p:sp>
        <p:nvSpPr>
          <p:cNvPr id="14" name="dipnot-204"/>
          <p:cNvSpPr txBox="1"/>
          <p:nvPr/>
        </p:nvSpPr>
        <p:spPr>
          <a:xfrm>
            <a:off x="548640" y="5815584"/>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KBS ve EPS kutularındaki niceleyici ("Must include … of") PDF'ten doğrulanmadı.</a:t>
            </a:r>
            <a:endParaRPr lang="en-US" sz="1100" dirty="0"/>
          </a:p>
        </p:txBody>
      </p:sp>
      <p:sp>
        <p:nvSpPr>
          <p:cNvPr id="15"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5 · Fonksiyonel tanı: Rome V</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Adolesan KHS: kriterler, tuzaklar, sınıflama</a:t>
            </a:r>
            <a:endParaRPr lang="en-US" sz="2600" dirty="0"/>
          </a:p>
        </p:txBody>
      </p:sp>
      <p:sp>
        <p:nvSpPr>
          <p:cNvPr id="4" name="govde-205"/>
          <p:cNvSpPr txBox="1"/>
          <p:nvPr/>
        </p:nvSpPr>
        <p:spPr>
          <a:xfrm>
            <a:off x="548640" y="1600200"/>
            <a:ext cx="11091672" cy="182880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Rome V: SKS benzeri ataklar; uzun (ör. 1–⁠2 yıl), neredeyse günlük kullanım; ≥6 ay bırakmayla düzelme</a:t>
            </a:r>
            <a:r>
              <a:rPr lang="en-US" sz="2200" baseline="30000" dirty="0">
                <a:solidFill>
                  <a:schemeClr val="accent4"/>
                </a:solidFill>
              </a:rPr>
              <a:t>⁠[8]</a:t>
            </a:r>
            <a:endParaRPr lang="en-US" sz="2200" dirty="0"/>
          </a:p>
          <a:p>
            <a:pPr marL="254000" indent="-254000">
              <a:spcAft>
                <a:spcPts val="1800"/>
              </a:spcAft>
              <a:buSzPct val="100000"/>
              <a:buChar char="•"/>
            </a:pPr>
            <a:r>
              <a:rPr lang="en-US" sz="2200" dirty="0">
                <a:solidFill>
                  <a:schemeClr val="tx1"/>
                </a:solidFill>
              </a:rPr>
              <a:t>Sıcak banyo SKS'de de görülür</a:t>
            </a:r>
            <a:r>
              <a:rPr lang="en-US" sz="2200" baseline="30000" dirty="0">
                <a:solidFill>
                  <a:schemeClr val="accent4"/>
                </a:solidFill>
              </a:rPr>
              <a:t>⁠[8]</a:t>
            </a:r>
            <a:endParaRPr lang="en-US" sz="2200" dirty="0"/>
          </a:p>
        </p:txBody>
      </p:sp>
      <p:sp>
        <p:nvSpPr>
          <p:cNvPr id="5" name="siniflama-206"/>
          <p:cNvSpPr txBox="1"/>
          <p:nvPr/>
        </p:nvSpPr>
        <p:spPr>
          <a:xfrm>
            <a:off x="548640" y="3749040"/>
            <a:ext cx="3520440" cy="1371600"/>
          </a:xfrm>
          <a:prstGeom prst="roundRect">
            <a:avLst>
              <a:gd name="adj" fmla="val 8000"/>
            </a:avLst>
          </a:prstGeom>
          <a:solidFill>
            <a:schemeClr val="tx2"/>
          </a:solidFill>
          <a:ln/>
        </p:spPr>
        <p:txBody>
          <a:bodyPr wrap="square" lIns="101600" tIns="101600" rIns="101600" bIns="101600" rtlCol="0" anchor="ctr"/>
          <a:lstStyle/>
          <a:p>
            <a:pPr algn="ctr" indent="0" marL="0">
              <a:buNone/>
            </a:pPr>
            <a:r>
              <a:rPr lang="en-US" sz="1700" b="1" dirty="0">
                <a:solidFill>
                  <a:schemeClr val="bg1"/>
                </a:solidFill>
              </a:rPr>
              <a:t>Rome V pediatrik: SKS alt grubu</a:t>
            </a:r>
            <a:endParaRPr lang="en-US" sz="1700" dirty="0"/>
          </a:p>
        </p:txBody>
      </p:sp>
      <p:sp>
        <p:nvSpPr>
          <p:cNvPr id="6" name="siniflama-207"/>
          <p:cNvSpPr txBox="1"/>
          <p:nvPr/>
        </p:nvSpPr>
        <p:spPr>
          <a:xfrm>
            <a:off x="4297680" y="3749040"/>
            <a:ext cx="3520440" cy="1371600"/>
          </a:xfrm>
          <a:prstGeom prst="roundRect">
            <a:avLst>
              <a:gd name="adj" fmla="val 8000"/>
            </a:avLst>
          </a:prstGeom>
          <a:solidFill>
            <a:schemeClr val="tx2"/>
          </a:solidFill>
          <a:ln/>
        </p:spPr>
        <p:txBody>
          <a:bodyPr wrap="square" lIns="101600" tIns="101600" rIns="101600" bIns="101600" rtlCol="0" anchor="ctr"/>
          <a:lstStyle/>
          <a:p>
            <a:pPr algn="ctr" indent="0" marL="0">
              <a:buNone/>
            </a:pPr>
            <a:r>
              <a:rPr lang="en-US" sz="1700" b="1" dirty="0">
                <a:solidFill>
                  <a:schemeClr val="bg1"/>
                </a:solidFill>
              </a:rPr>
              <a:t>NASPGHAN 2025: ayrı antite</a:t>
            </a:r>
            <a:r>
              <a:rPr lang="en-US" sz="1700" baseline="30000" dirty="0">
                <a:solidFill>
                  <a:schemeClr val="bg1"/>
                </a:solidFill>
              </a:rPr>
              <a:t>⁠[55]</a:t>
            </a:r>
            <a:endParaRPr lang="en-US" sz="1700" dirty="0"/>
          </a:p>
        </p:txBody>
      </p:sp>
      <p:sp>
        <p:nvSpPr>
          <p:cNvPr id="7" name="siniflama-208"/>
          <p:cNvSpPr txBox="1"/>
          <p:nvPr/>
        </p:nvSpPr>
        <p:spPr>
          <a:xfrm>
            <a:off x="8046720" y="3749040"/>
            <a:ext cx="3520440" cy="1371600"/>
          </a:xfrm>
          <a:prstGeom prst="roundRect">
            <a:avLst>
              <a:gd name="adj" fmla="val 8000"/>
            </a:avLst>
          </a:prstGeom>
          <a:solidFill>
            <a:schemeClr val="accent4"/>
          </a:solidFill>
          <a:ln/>
        </p:spPr>
        <p:txBody>
          <a:bodyPr wrap="square" lIns="101600" tIns="101600" rIns="101600" bIns="101600" rtlCol="0" anchor="ctr"/>
          <a:lstStyle/>
          <a:p>
            <a:pPr algn="ctr" indent="0" marL="0">
              <a:buNone/>
            </a:pPr>
            <a:r>
              <a:rPr lang="en-US" sz="1700" b="1" dirty="0">
                <a:solidFill>
                  <a:schemeClr val="bg1"/>
                </a:solidFill>
              </a:rPr>
              <a:t>Rome V erişkin: ayrı kod</a:t>
            </a:r>
            <a:r>
              <a:rPr lang="en-US" sz="1700" baseline="30000" dirty="0">
                <a:solidFill>
                  <a:schemeClr val="bg1"/>
                </a:solidFill>
              </a:rPr>
              <a:t>⁠[70]</a:t>
            </a:r>
            <a:endParaRPr lang="en-US" sz="1700" dirty="0"/>
          </a:p>
        </p:txBody>
      </p:sp>
      <p:sp>
        <p:nvSpPr>
          <p:cNvPr id="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8,55,70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6 · Yönetim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Tedavi açıklamayla başlar; yaşam tarzı herkese</a:t>
            </a:r>
            <a:endParaRPr lang="en-US" sz="2600" dirty="0"/>
          </a:p>
        </p:txBody>
      </p:sp>
      <p:sp>
        <p:nvSpPr>
          <p:cNvPr id="4" name="govde-209"/>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Rome V: atak şiddeti, yeti yitimi ve psikososyal etkiye göre basamaklı, bireysel tedavi</a:t>
            </a:r>
            <a:r>
              <a:rPr lang="en-US" sz="2200" baseline="30000" dirty="0">
                <a:solidFill>
                  <a:schemeClr val="accent4"/>
                </a:solidFill>
              </a:rPr>
              <a:t>⁠[8]</a:t>
            </a:r>
            <a:endParaRPr lang="en-US" sz="2200" dirty="0"/>
          </a:p>
          <a:p>
            <a:pPr marL="254000" indent="-254000">
              <a:spcAft>
                <a:spcPts val="1800"/>
              </a:spcAft>
              <a:buSzPct val="100000"/>
              <a:buChar char="•"/>
            </a:pPr>
            <a:r>
              <a:rPr lang="en-US" sz="2200" dirty="0">
                <a:solidFill>
                  <a:schemeClr val="tx1"/>
                </a:solidFill>
              </a:rPr>
              <a:t>Ebeveynlerin %78'i pozitif tanı ve bilgilendirmenin kusma şiddetini etkilediğini düşündü (n=41)</a:t>
            </a:r>
            <a:r>
              <a:rPr lang="en-US" sz="2200" baseline="30000" dirty="0">
                <a:solidFill>
                  <a:schemeClr val="accent4"/>
                </a:solidFill>
              </a:rPr>
              <a:t>⁠[15]</a:t>
            </a:r>
            <a:endParaRPr lang="en-US" sz="2200" dirty="0"/>
          </a:p>
          <a:p>
            <a:pPr marL="254000" indent="-254000">
              <a:spcAft>
                <a:spcPts val="1800"/>
              </a:spcAft>
              <a:buSzPct val="100000"/>
              <a:buChar char="•"/>
            </a:pPr>
            <a:r>
              <a:rPr lang="en-US" sz="2200" dirty="0">
                <a:solidFill>
                  <a:schemeClr val="tx1"/>
                </a:solidFill>
              </a:rPr>
              <a:t>Türkiye kohortu (n=119): yaşam tarzı uyumu %73,9 ve başarıyı öngördürüyor</a:t>
            </a:r>
            <a:r>
              <a:rPr lang="en-US" sz="2200" baseline="30000" dirty="0">
                <a:solidFill>
                  <a:schemeClr val="accent4"/>
                </a:solidFill>
              </a:rPr>
              <a:t>⁠[71]</a:t>
            </a:r>
            <a:endParaRPr lang="en-US" sz="2200" dirty="0"/>
          </a:p>
        </p:txBody>
      </p:sp>
      <p:sp>
        <p:nvSpPr>
          <p:cNvPr id="5" name="kart-210"/>
          <p:cNvSpPr/>
          <p:nvPr/>
        </p:nvSpPr>
        <p:spPr>
          <a:xfrm>
            <a:off x="8001000" y="1600200"/>
            <a:ext cx="3639312" cy="2331720"/>
          </a:xfrm>
          <a:prstGeom prst="roundRect">
            <a:avLst>
              <a:gd name="adj" fmla="val 4706"/>
            </a:avLst>
          </a:prstGeom>
          <a:solidFill>
            <a:schemeClr val="bg2"/>
          </a:solidFill>
          <a:ln/>
        </p:spPr>
      </p:sp>
      <p:sp>
        <p:nvSpPr>
          <p:cNvPr id="6" name="sayi-211"/>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%73,9</a:t>
            </a:r>
            <a:endParaRPr lang="en-US" sz="4800" dirty="0"/>
          </a:p>
        </p:txBody>
      </p:sp>
      <p:sp>
        <p:nvSpPr>
          <p:cNvPr id="7" name="sayi-alt-212"/>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yaşam tarzı uyumu; başarıyı öngördürüyor (Türkiye, n=119)</a:t>
            </a:r>
            <a:endParaRPr lang="en-US" sz="1400" dirty="0"/>
          </a:p>
        </p:txBody>
      </p:sp>
      <p:sp>
        <p:nvSpPr>
          <p:cNvPr id="8" name="dipnot-213"/>
          <p:cNvSpPr txBox="1"/>
          <p:nvPr/>
        </p:nvSpPr>
        <p:spPr>
          <a:xfrm>
            <a:off x="548640" y="5897880"/>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Ebeveyn algısı, kontrolsüz; Türkiye kohortu randomize değil.</a:t>
            </a:r>
            <a:endParaRPr lang="en-US" sz="11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8,15,71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6 · Yönetim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SKS akut atak: erken, oral dışı, antimigren</a:t>
            </a:r>
            <a:endParaRPr lang="en-US" sz="2600" dirty="0"/>
          </a:p>
        </p:txBody>
      </p:sp>
      <p:sp>
        <p:nvSpPr>
          <p:cNvPr id="4" name="govde-214"/>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NASPGHAN 2025: kişisel/ailesel migren öyküsünde antimigren ajan: </a:t>
            </a:r>
            <a:r>
              <a:rPr lang="en-US" sz="2200" b="1" dirty="0">
                <a:solidFill>
                  <a:schemeClr val="tx1"/>
                </a:solidFill>
              </a:rPr>
              <a:t>güçlü öneri</a:t>
            </a:r>
            <a:r>
              <a:rPr lang="en-US" sz="2200" baseline="30000" dirty="0">
                <a:solidFill>
                  <a:schemeClr val="accent4"/>
                </a:solidFill>
              </a:rPr>
              <a:t>⁠[72]</a:t>
            </a:r>
            <a:endParaRPr lang="en-US" sz="2200" dirty="0"/>
          </a:p>
          <a:p>
            <a:pPr marL="254000" indent="-254000">
              <a:spcAft>
                <a:spcPts val="1800"/>
              </a:spcAft>
              <a:buSzPct val="100000"/>
              <a:buChar char="•"/>
            </a:pPr>
            <a:r>
              <a:rPr lang="en-US" sz="2200" dirty="0">
                <a:solidFill>
                  <a:schemeClr val="tx1"/>
                </a:solidFill>
              </a:rPr>
              <a:t>5-HT3 ve NK-1 antagonistleri; IV gerektiğinde erken başvuru: koşullu öneri</a:t>
            </a:r>
            <a:r>
              <a:rPr lang="en-US" sz="2200" baseline="30000" dirty="0">
                <a:solidFill>
                  <a:schemeClr val="accent4"/>
                </a:solidFill>
              </a:rPr>
              <a:t>⁠[72]</a:t>
            </a:r>
            <a:endParaRPr lang="en-US" sz="2200" dirty="0"/>
          </a:p>
          <a:p>
            <a:pPr marL="254000" indent="-254000">
              <a:spcAft>
                <a:spcPts val="1800"/>
              </a:spcAft>
              <a:buSzPct val="100000"/>
              <a:buChar char="•"/>
            </a:pPr>
            <a:r>
              <a:rPr lang="en-US" sz="2200" dirty="0">
                <a:solidFill>
                  <a:schemeClr val="tx1"/>
                </a:solidFill>
              </a:rPr>
              <a:t>Dekstroz: D10 geleneksel (2008); 2025 paneli D10/D5 üstünlüğüne karar veremedi</a:t>
            </a:r>
            <a:r>
              <a:rPr lang="en-US" sz="2200" baseline="30000" dirty="0">
                <a:solidFill>
                  <a:schemeClr val="accent4"/>
                </a:solidFill>
              </a:rPr>
              <a:t>⁠[12,73]</a:t>
            </a:r>
            <a:endParaRPr lang="en-US" sz="2200" dirty="0"/>
          </a:p>
          <a:p>
            <a:pPr marL="254000" indent="-254000">
              <a:spcAft>
                <a:spcPts val="1800"/>
              </a:spcAft>
              <a:buSzPct val="100000"/>
              <a:buChar char="•"/>
            </a:pPr>
            <a:r>
              <a:rPr lang="en-US" sz="2200" dirty="0">
                <a:solidFill>
                  <a:schemeClr val="tx1"/>
                </a:solidFill>
              </a:rPr>
              <a:t>&gt;24 saat gecikme yatışın en güçlü öngördürücüsü</a:t>
            </a:r>
            <a:r>
              <a:rPr lang="en-US" sz="2200" baseline="30000" dirty="0">
                <a:solidFill>
                  <a:schemeClr val="accent4"/>
                </a:solidFill>
              </a:rPr>
              <a:t>⁠[73]</a:t>
            </a:r>
            <a:endParaRPr lang="en-US" sz="2200" dirty="0"/>
          </a:p>
        </p:txBody>
      </p:sp>
      <p:sp>
        <p:nvSpPr>
          <p:cNvPr id="5" name="kart-215"/>
          <p:cNvSpPr/>
          <p:nvPr/>
        </p:nvSpPr>
        <p:spPr>
          <a:xfrm>
            <a:off x="8001000" y="1600200"/>
            <a:ext cx="3639312" cy="2331720"/>
          </a:xfrm>
          <a:prstGeom prst="roundRect">
            <a:avLst>
              <a:gd name="adj" fmla="val 4706"/>
            </a:avLst>
          </a:prstGeom>
          <a:solidFill>
            <a:schemeClr val="bg2"/>
          </a:solidFill>
          <a:ln/>
        </p:spPr>
      </p:sp>
      <p:sp>
        <p:nvSpPr>
          <p:cNvPr id="6" name="sayi-216"/>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güçlü öneri</a:t>
            </a:r>
            <a:endParaRPr lang="en-US" sz="3400" dirty="0"/>
          </a:p>
        </p:txBody>
      </p:sp>
      <p:sp>
        <p:nvSpPr>
          <p:cNvPr id="7" name="sayi-alt-217"/>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migren öyküsünde antimigren ajan (NASPGHAN 2025)</a:t>
            </a:r>
            <a:endParaRPr lang="en-US" sz="1400" dirty="0"/>
          </a:p>
        </p:txBody>
      </p:sp>
      <p:sp>
        <p:nvSpPr>
          <p:cNvPr id="8" name="kanit-notu-218"/>
          <p:cNvSpPr txBox="1"/>
          <p:nvPr/>
        </p:nvSpPr>
        <p:spPr>
          <a:xfrm>
            <a:off x="8001000" y="4114800"/>
            <a:ext cx="3639312" cy="868680"/>
          </a:xfrm>
          <a:prstGeom prst="rect">
            <a:avLst/>
          </a:prstGeom>
          <a:solidFill>
            <a:srgbClr val="FDF3DC"/>
          </a:solidFill>
          <a:ln/>
        </p:spPr>
        <p:txBody>
          <a:bodyPr wrap="square" lIns="127000" tIns="127000" rIns="127000" bIns="127000" rtlCol="0" anchor="t"/>
          <a:lstStyle/>
          <a:p>
            <a:pPr indent="0" marL="0">
              <a:buNone/>
            </a:pPr>
            <a:r>
              <a:rPr lang="en-US" sz="1200" dirty="0">
                <a:solidFill>
                  <a:schemeClr val="tx1"/>
                </a:solidFill>
              </a:rPr>
              <a:t>Kanıt notu: D10/D5 ve 24 saat İKİNCİL (Hernandez özeti).</a:t>
            </a:r>
            <a:endParaRPr lang="en-US" sz="12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12,72,73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6 · Yönetim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SKS profilaksisi:</a:t>
            </a:r>
            <a:endParaRPr lang="en-US" sz="2600" dirty="0"/>
          </a:p>
          <a:p>
            <a:pPr algn="l" indent="0" marL="0">
              <a:buNone/>
            </a:pPr>
            <a:r>
              <a:rPr lang="en-US" sz="2600" b="1" dirty="0">
                <a:solidFill>
                  <a:schemeClr val="tx1"/>
                </a:solidFill>
              </a:rPr>
              <a:t>2025'te dört ilaç sınıfı, 2008 yaş şeması tarihsel</a:t>
            </a:r>
            <a:endParaRPr lang="en-US" sz="2600" dirty="0"/>
          </a:p>
        </p:txBody>
      </p:sp>
      <p:sp>
        <p:nvSpPr>
          <p:cNvPr id="4" name="govde-219"/>
          <p:cNvSpPr txBox="1"/>
          <p:nvPr/>
        </p:nvSpPr>
        <p:spPr>
          <a:xfrm>
            <a:off x="548640" y="1600200"/>
            <a:ext cx="7178040" cy="329184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NASPGHAN 2025: propranolol, siproheptadin, aprepitant, TSA: koşullu; antikonvülzan yalnız refrakterde</a:t>
            </a:r>
            <a:r>
              <a:rPr lang="en-US" sz="2200" baseline="30000" dirty="0">
                <a:solidFill>
                  <a:schemeClr val="accent4"/>
                </a:solidFill>
              </a:rPr>
              <a:t>⁠[72,73]</a:t>
            </a:r>
            <a:endParaRPr lang="en-US" sz="2200" dirty="0"/>
          </a:p>
          <a:p>
            <a:pPr marL="254000" indent="-254000">
              <a:spcAft>
                <a:spcPts val="1800"/>
              </a:spcAft>
              <a:buSzPct val="100000"/>
              <a:buChar char="•"/>
            </a:pPr>
            <a:r>
              <a:rPr lang="en-US" sz="2200" dirty="0">
                <a:solidFill>
                  <a:schemeClr val="tx1"/>
                </a:solidFill>
              </a:rPr>
              <a:t>RCT (n=64, plasebosuz): tam remisyon amitriptilin %65,6 vs siproheptadin %50; yaş etkisi yok</a:t>
            </a:r>
            <a:r>
              <a:rPr lang="en-US" sz="2200" baseline="30000" dirty="0">
                <a:solidFill>
                  <a:schemeClr val="accent4"/>
                </a:solidFill>
              </a:rPr>
              <a:t>⁠[74]</a:t>
            </a:r>
            <a:endParaRPr lang="en-US" sz="2200" dirty="0"/>
          </a:p>
          <a:p>
            <a:pPr marL="254000" indent="-254000">
              <a:spcAft>
                <a:spcPts val="1800"/>
              </a:spcAft>
              <a:buSzPct val="100000"/>
              <a:buChar char="•"/>
            </a:pPr>
            <a:r>
              <a:rPr lang="en-US" sz="2200" dirty="0">
                <a:solidFill>
                  <a:schemeClr val="tx1"/>
                </a:solidFill>
              </a:rPr>
              <a:t>Amitriptilin 1,0–⁠1,5 mg/kg/gün (İKİNCİL); düşük dozdan titrasyon, EKG/QTc (UZMAN)</a:t>
            </a:r>
            <a:r>
              <a:rPr lang="en-US" sz="2200" baseline="30000" dirty="0">
                <a:solidFill>
                  <a:schemeClr val="accent4"/>
                </a:solidFill>
              </a:rPr>
              <a:t>⁠[26,73]</a:t>
            </a:r>
            <a:endParaRPr lang="en-US" sz="2200" dirty="0"/>
          </a:p>
        </p:txBody>
      </p:sp>
      <p:sp>
        <p:nvSpPr>
          <p:cNvPr id="5" name="kart-220"/>
          <p:cNvSpPr/>
          <p:nvPr/>
        </p:nvSpPr>
        <p:spPr>
          <a:xfrm>
            <a:off x="8001000" y="1600200"/>
            <a:ext cx="3639312" cy="2331720"/>
          </a:xfrm>
          <a:prstGeom prst="roundRect">
            <a:avLst>
              <a:gd name="adj" fmla="val 4706"/>
            </a:avLst>
          </a:prstGeom>
          <a:solidFill>
            <a:schemeClr val="bg2"/>
          </a:solidFill>
          <a:ln/>
        </p:spPr>
      </p:sp>
      <p:sp>
        <p:nvSpPr>
          <p:cNvPr id="6" name="sayi-221"/>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%65,6</a:t>
            </a:r>
            <a:endParaRPr lang="en-US" sz="4800" dirty="0"/>
          </a:p>
        </p:txBody>
      </p:sp>
      <p:sp>
        <p:nvSpPr>
          <p:cNvPr id="7" name="sayi-alt-222"/>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amitriptilinle tam remisyon (RCT, n=64, plasebosuz)</a:t>
            </a:r>
            <a:endParaRPr lang="en-US" sz="1400" dirty="0"/>
          </a:p>
        </p:txBody>
      </p:sp>
      <p:sp>
        <p:nvSpPr>
          <p:cNvPr id="8" name="tarihsel-223"/>
          <p:cNvSpPr txBox="1"/>
          <p:nvPr/>
        </p:nvSpPr>
        <p:spPr>
          <a:xfrm>
            <a:off x="548640" y="4983480"/>
            <a:ext cx="11091672" cy="640080"/>
          </a:xfrm>
          <a:prstGeom prst="roundRect">
            <a:avLst>
              <a:gd name="adj" fmla="val 14286"/>
            </a:avLst>
          </a:prstGeom>
          <a:solidFill>
            <a:srgbClr val="F1F3F4"/>
          </a:solidFill>
          <a:ln/>
        </p:spPr>
        <p:txBody>
          <a:bodyPr wrap="square" lIns="177800" tIns="50800" rIns="177800" bIns="50800" rtlCol="0" anchor="ctr"/>
          <a:lstStyle/>
          <a:p>
            <a:pPr indent="0" marL="0">
              <a:buNone/>
            </a:pPr>
            <a:r>
              <a:rPr lang="en-US" sz="1500" b="1" dirty="0">
                <a:solidFill>
                  <a:schemeClr val="accent4"/>
                </a:solidFill>
              </a:rPr>
              <a:t>Tarihsel · </a:t>
            </a:r>
            <a:r>
              <a:rPr lang="en-US" sz="1500" dirty="0">
                <a:solidFill>
                  <a:schemeClr val="accent4"/>
                </a:solidFill>
              </a:rPr>
              <a:t>2008: ≤5 yaş siproheptadin, &gt;5 yaş amitriptilin (tarihsel)</a:t>
            </a:r>
            <a:r>
              <a:rPr lang="en-US" sz="1500" baseline="30000" dirty="0">
                <a:solidFill>
                  <a:schemeClr val="accent4"/>
                </a:solidFill>
              </a:rPr>
              <a:t>⁠[12]</a:t>
            </a:r>
            <a:endParaRPr lang="en-US" sz="15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12,26,72–74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6 · Yönetim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Refrakter SKS: ek seçenekler ve kanıt düzeyleri</a:t>
            </a:r>
            <a:endParaRPr lang="en-US" sz="2600" dirty="0"/>
          </a:p>
        </p:txBody>
      </p:sp>
      <p:sp>
        <p:nvSpPr>
          <p:cNvPr id="4" name="govde-224"/>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Aprepitant (refrakter, n=41, retrospektif): yanıt %76–⁠81</a:t>
            </a:r>
            <a:r>
              <a:rPr lang="en-US" sz="2200" baseline="30000" dirty="0">
                <a:solidFill>
                  <a:schemeClr val="accent4"/>
                </a:solidFill>
              </a:rPr>
              <a:t>⁠[75]</a:t>
            </a:r>
            <a:r>
              <a:rPr lang="en-US" sz="2200" dirty="0">
                <a:solidFill>
                  <a:schemeClr val="tx1"/>
                </a:solidFill>
              </a:rPr>
              <a:t>; OKS etkinliğini azaltabilir</a:t>
            </a:r>
            <a:r>
              <a:rPr lang="en-US" sz="2200" baseline="30000" dirty="0">
                <a:solidFill>
                  <a:schemeClr val="accent4"/>
                </a:solidFill>
              </a:rPr>
              <a:t>⁠[73]</a:t>
            </a:r>
            <a:endParaRPr lang="en-US" sz="2200" dirty="0"/>
          </a:p>
          <a:p>
            <a:pPr marL="254000" indent="-254000">
              <a:spcAft>
                <a:spcPts val="1800"/>
              </a:spcAft>
              <a:buSzPct val="100000"/>
              <a:buChar char="•"/>
            </a:pPr>
            <a:r>
              <a:rPr lang="en-US" sz="2200" dirty="0">
                <a:solidFill>
                  <a:schemeClr val="tx1"/>
                </a:solidFill>
              </a:rPr>
              <a:t>Topiramat: RCT'de atak kesilmesi %39 (amitriptilin %68)</a:t>
            </a:r>
            <a:r>
              <a:rPr lang="en-US" sz="2200" baseline="30000" dirty="0">
                <a:solidFill>
                  <a:schemeClr val="accent4"/>
                </a:solidFill>
              </a:rPr>
              <a:t>⁠[76]</a:t>
            </a:r>
            <a:r>
              <a:rPr lang="en-US" sz="2200" dirty="0">
                <a:solidFill>
                  <a:schemeClr val="tx1"/>
                </a:solidFill>
              </a:rPr>
              <a:t>; Türkiye serisinde %81</a:t>
            </a:r>
            <a:r>
              <a:rPr lang="en-US" sz="2200" baseline="30000" dirty="0">
                <a:solidFill>
                  <a:schemeClr val="accent4"/>
                </a:solidFill>
              </a:rPr>
              <a:t>⁠[77]</a:t>
            </a:r>
            <a:endParaRPr lang="en-US" sz="2200" dirty="0"/>
          </a:p>
          <a:p>
            <a:pPr marL="254000" indent="-254000">
              <a:spcAft>
                <a:spcPts val="1800"/>
              </a:spcAft>
              <a:buSzPct val="100000"/>
              <a:buChar char="•"/>
            </a:pPr>
            <a:r>
              <a:rPr lang="en-US" sz="2200" dirty="0">
                <a:solidFill>
                  <a:schemeClr val="tx1"/>
                </a:solidFill>
              </a:rPr>
              <a:t>PENFS (n=30, kontrolsüz): %80 yanıt</a:t>
            </a:r>
            <a:r>
              <a:rPr lang="en-US" sz="2200" baseline="30000" dirty="0">
                <a:solidFill>
                  <a:schemeClr val="accent4"/>
                </a:solidFill>
              </a:rPr>
              <a:t>⁠[78]</a:t>
            </a:r>
            <a:endParaRPr lang="en-US" sz="2200" dirty="0"/>
          </a:p>
          <a:p>
            <a:pPr marL="254000" indent="-254000">
              <a:spcAft>
                <a:spcPts val="1800"/>
              </a:spcAft>
              <a:buSzPct val="100000"/>
              <a:buChar char="•"/>
            </a:pPr>
            <a:r>
              <a:rPr lang="en-US" sz="2200" dirty="0">
                <a:solidFill>
                  <a:schemeClr val="tx1"/>
                </a:solidFill>
              </a:rPr>
              <a:t>Katamenial SKS: düşük östrojenli OKS/medroksiprogesteron (UZMAN)</a:t>
            </a:r>
            <a:r>
              <a:rPr lang="en-US" sz="2200" baseline="30000" dirty="0">
                <a:solidFill>
                  <a:schemeClr val="accent4"/>
                </a:solidFill>
              </a:rPr>
              <a:t>⁠[26]</a:t>
            </a:r>
            <a:endParaRPr lang="en-US" sz="2200" dirty="0"/>
          </a:p>
        </p:txBody>
      </p:sp>
      <p:sp>
        <p:nvSpPr>
          <p:cNvPr id="5" name="kart-225"/>
          <p:cNvSpPr/>
          <p:nvPr/>
        </p:nvSpPr>
        <p:spPr>
          <a:xfrm>
            <a:off x="8001000" y="1600200"/>
            <a:ext cx="3639312" cy="2331720"/>
          </a:xfrm>
          <a:prstGeom prst="roundRect">
            <a:avLst>
              <a:gd name="adj" fmla="val 4706"/>
            </a:avLst>
          </a:prstGeom>
          <a:solidFill>
            <a:schemeClr val="bg2"/>
          </a:solidFill>
          <a:ln/>
        </p:spPr>
      </p:sp>
      <p:sp>
        <p:nvSpPr>
          <p:cNvPr id="6" name="sayi-226"/>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%80</a:t>
            </a:r>
            <a:endParaRPr lang="en-US" sz="4800" dirty="0"/>
          </a:p>
        </p:txBody>
      </p:sp>
      <p:sp>
        <p:nvSpPr>
          <p:cNvPr id="7" name="sayi-alt-227"/>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PENFS yanıtı (kontrolsüz, n=30)</a:t>
            </a:r>
            <a:endParaRPr lang="en-US" sz="1400" dirty="0"/>
          </a:p>
        </p:txBody>
      </p:sp>
      <p:sp>
        <p:nvSpPr>
          <p:cNvPr id="8" name="dipnot-228"/>
          <p:cNvSpPr txBox="1"/>
          <p:nvPr/>
        </p:nvSpPr>
        <p:spPr>
          <a:xfrm>
            <a:off x="548640" y="5897880"/>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sham-kontrollü pediatrik PENFS RCT'si sürüyor (NCT07465614).</a:t>
            </a:r>
            <a:endParaRPr lang="en-US" sz="11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26,73,75–78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6 · Yönetim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Ruminasyon: açıklama ve diyafragmatik solunum</a:t>
            </a:r>
            <a:endParaRPr lang="en-US" sz="2600" dirty="0"/>
          </a:p>
        </p:txBody>
      </p:sp>
      <p:sp>
        <p:nvSpPr>
          <p:cNvPr id="4" name="govde-229"/>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Mekanizmayı açıkla, güvence ver: %23 yalnız danışmanlıkla düzeldi</a:t>
            </a:r>
            <a:r>
              <a:rPr lang="en-US" sz="2200" baseline="30000" dirty="0">
                <a:solidFill>
                  <a:schemeClr val="accent4"/>
                </a:solidFill>
              </a:rPr>
              <a:t>⁠[8]</a:t>
            </a:r>
            <a:endParaRPr lang="en-US" sz="2200" dirty="0"/>
          </a:p>
          <a:p>
            <a:pPr marL="254000" indent="-254000">
              <a:spcAft>
                <a:spcPts val="1800"/>
              </a:spcAft>
              <a:buSzPct val="100000"/>
              <a:buChar char="•"/>
            </a:pPr>
            <a:r>
              <a:rPr lang="en-US" sz="2200" dirty="0">
                <a:solidFill>
                  <a:schemeClr val="tx1"/>
                </a:solidFill>
              </a:rPr>
              <a:t>Diyafragmatik solunum birinci basamak</a:t>
            </a:r>
            <a:r>
              <a:rPr lang="en-US" sz="2200" baseline="30000" dirty="0">
                <a:solidFill>
                  <a:schemeClr val="accent4"/>
                </a:solidFill>
              </a:rPr>
              <a:t>⁠[8]</a:t>
            </a:r>
            <a:r>
              <a:rPr lang="en-US" sz="2200" dirty="0">
                <a:solidFill>
                  <a:schemeClr val="tx1"/>
                </a:solidFill>
              </a:rPr>
              <a:t>; pediatrik etkinlik verisi sınırlı</a:t>
            </a:r>
            <a:r>
              <a:rPr lang="en-US" sz="2200" baseline="30000" dirty="0">
                <a:solidFill>
                  <a:schemeClr val="accent4"/>
                </a:solidFill>
              </a:rPr>
              <a:t>⁠[79]</a:t>
            </a:r>
            <a:endParaRPr lang="en-US" sz="2200" dirty="0"/>
          </a:p>
          <a:p>
            <a:pPr marL="254000" indent="-254000">
              <a:spcAft>
                <a:spcPts val="1800"/>
              </a:spcAft>
              <a:buSzPct val="100000"/>
              <a:buChar char="•"/>
            </a:pPr>
            <a:r>
              <a:rPr lang="en-US" sz="2200" dirty="0">
                <a:solidFill>
                  <a:schemeClr val="tx1"/>
                </a:solidFill>
              </a:rPr>
              <a:t>Ayaktan BDT (8–⁠18 y): %87 düzelme, %73,9 tam çözülme</a:t>
            </a:r>
            <a:r>
              <a:rPr lang="en-US" sz="2200" baseline="30000" dirty="0">
                <a:solidFill>
                  <a:schemeClr val="accent4"/>
                </a:solidFill>
              </a:rPr>
              <a:t>⁠[80]</a:t>
            </a:r>
            <a:endParaRPr lang="en-US" sz="2200" dirty="0"/>
          </a:p>
          <a:p>
            <a:pPr marL="254000" indent="-254000">
              <a:spcAft>
                <a:spcPts val="1800"/>
              </a:spcAft>
              <a:buSzPct val="100000"/>
              <a:buChar char="•"/>
            </a:pPr>
            <a:r>
              <a:rPr lang="en-US" sz="2200" dirty="0">
                <a:solidFill>
                  <a:schemeClr val="tx1"/>
                </a:solidFill>
              </a:rPr>
              <a:t>Baklofen ek tedavi olabilir (retrospektif, ~%50)</a:t>
            </a:r>
            <a:r>
              <a:rPr lang="en-US" sz="2200" baseline="30000" dirty="0">
                <a:solidFill>
                  <a:schemeClr val="accent4"/>
                </a:solidFill>
              </a:rPr>
              <a:t>⁠[8]</a:t>
            </a:r>
            <a:endParaRPr lang="en-US" sz="2200" dirty="0"/>
          </a:p>
        </p:txBody>
      </p:sp>
      <p:sp>
        <p:nvSpPr>
          <p:cNvPr id="5" name="kart-230"/>
          <p:cNvSpPr/>
          <p:nvPr/>
        </p:nvSpPr>
        <p:spPr>
          <a:xfrm>
            <a:off x="8001000" y="1600200"/>
            <a:ext cx="3639312" cy="2331720"/>
          </a:xfrm>
          <a:prstGeom prst="roundRect">
            <a:avLst>
              <a:gd name="adj" fmla="val 4706"/>
            </a:avLst>
          </a:prstGeom>
          <a:solidFill>
            <a:schemeClr val="bg2"/>
          </a:solidFill>
          <a:ln/>
        </p:spPr>
      </p:sp>
      <p:sp>
        <p:nvSpPr>
          <p:cNvPr id="6" name="sayi-231"/>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4800" b="1" dirty="0">
                <a:solidFill>
                  <a:schemeClr val="tx2"/>
                </a:solidFill>
                <a:latin typeface="Cambria" pitchFamily="34" charset="0"/>
                <a:ea typeface="Cambria" pitchFamily="34" charset="-122"/>
                <a:cs typeface="Cambria" pitchFamily="34" charset="-120"/>
              </a:rPr>
              <a:t>%23</a:t>
            </a:r>
            <a:endParaRPr lang="en-US" sz="4800" dirty="0"/>
          </a:p>
        </p:txBody>
      </p:sp>
      <p:sp>
        <p:nvSpPr>
          <p:cNvPr id="7" name="sayi-alt-232"/>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yalnız danışmanlıkla düzelen ruminasyon</a:t>
            </a:r>
            <a:endParaRPr lang="en-US" sz="1400" dirty="0"/>
          </a:p>
        </p:txBody>
      </p:sp>
      <p:sp>
        <p:nvSpPr>
          <p:cNvPr id="8" name="dipnot-233"/>
          <p:cNvSpPr txBox="1"/>
          <p:nvPr/>
        </p:nvSpPr>
        <p:spPr>
          <a:xfrm>
            <a:off x="548640" y="5897880"/>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Biofeedback</a:t>
            </a:r>
            <a:r>
              <a:rPr lang="en-US" sz="1100" i="1" baseline="30000" dirty="0">
                <a:solidFill>
                  <a:schemeClr val="accent4"/>
                </a:solidFill>
              </a:rPr>
              <a:t>⁠[81]</a:t>
            </a:r>
            <a:r>
              <a:rPr lang="en-US" sz="1100" i="1" dirty="0">
                <a:solidFill>
                  <a:schemeClr val="accent4"/>
                </a:solidFill>
              </a:rPr>
              <a:t> ve baklofen</a:t>
            </a:r>
            <a:r>
              <a:rPr lang="en-US" sz="1100" i="1" baseline="30000" dirty="0">
                <a:solidFill>
                  <a:schemeClr val="accent4"/>
                </a:solidFill>
              </a:rPr>
              <a:t>⁠[82]</a:t>
            </a:r>
            <a:r>
              <a:rPr lang="en-US" sz="1100" i="1" dirty="0">
                <a:solidFill>
                  <a:schemeClr val="accent4"/>
                </a:solidFill>
              </a:rPr>
              <a:t> RCT'leri ERİŞKİN; anti-reflü cerrahi ve botulinum rutin önerilmez</a:t>
            </a:r>
            <a:r>
              <a:rPr lang="en-US" sz="1100" i="1" baseline="30000" dirty="0">
                <a:solidFill>
                  <a:schemeClr val="accent4"/>
                </a:solidFill>
              </a:rPr>
              <a:t>⁠[8]</a:t>
            </a:r>
            <a:r>
              <a:rPr lang="en-US" sz="1100" i="1" dirty="0">
                <a:solidFill>
                  <a:schemeClr val="accent4"/>
                </a:solidFill>
              </a:rPr>
              <a:t>.</a:t>
            </a:r>
            <a:endParaRPr lang="en-US" sz="11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8,79–82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6 · Yönetim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FD ve KBS: ilaç kanıtı zayıf, psikolojik ve otonom yaklaşım öne çıkar</a:t>
            </a:r>
            <a:endParaRPr lang="en-US" sz="2600" dirty="0"/>
          </a:p>
        </p:txBody>
      </p:sp>
      <p:sp>
        <p:nvSpPr>
          <p:cNvPr id="4" name="govde-234"/>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Pediatrik FD/kronik bulantıda ilaç lehine RCT kanıtı yok (SR)</a:t>
            </a:r>
            <a:r>
              <a:rPr lang="en-US" sz="2200" baseline="30000" dirty="0">
                <a:solidFill>
                  <a:schemeClr val="accent4"/>
                </a:solidFill>
              </a:rPr>
              <a:t>⁠[83]</a:t>
            </a:r>
            <a:endParaRPr lang="en-US" sz="2200" dirty="0"/>
          </a:p>
          <a:p>
            <a:pPr marL="254000" indent="-254000">
              <a:spcAft>
                <a:spcPts val="1800"/>
              </a:spcAft>
              <a:buSzPct val="100000"/>
              <a:buChar char="•"/>
            </a:pPr>
            <a:r>
              <a:rPr lang="en-US" sz="2200" dirty="0">
                <a:solidFill>
                  <a:schemeClr val="tx1"/>
                </a:solidFill>
              </a:rPr>
              <a:t>Amitriptilin (n=90) plaseboya üstün değil</a:t>
            </a:r>
            <a:r>
              <a:rPr lang="en-US" sz="2200" baseline="30000" dirty="0">
                <a:solidFill>
                  <a:schemeClr val="accent4"/>
                </a:solidFill>
              </a:rPr>
              <a:t>⁠[84]</a:t>
            </a:r>
            <a:endParaRPr lang="en-US" sz="2200" dirty="0"/>
          </a:p>
          <a:p>
            <a:pPr marL="254000" indent="-254000">
              <a:spcAft>
                <a:spcPts val="1800"/>
              </a:spcAft>
              <a:buSzPct val="100000"/>
              <a:buChar char="•"/>
            </a:pPr>
            <a:r>
              <a:rPr lang="en-US" sz="2200" dirty="0">
                <a:solidFill>
                  <a:schemeClr val="tx1"/>
                </a:solidFill>
              </a:rPr>
              <a:t>Hipnoterapi (n=100): 12. ayda %60 vs %55; fonksiyonel bulantıda üstün</a:t>
            </a:r>
            <a:r>
              <a:rPr lang="en-US" sz="2200" baseline="30000" dirty="0">
                <a:solidFill>
                  <a:schemeClr val="accent4"/>
                </a:solidFill>
              </a:rPr>
              <a:t>⁠[85]</a:t>
            </a:r>
            <a:endParaRPr lang="en-US" sz="2200" dirty="0"/>
          </a:p>
          <a:p>
            <a:pPr marL="254000" indent="-254000">
              <a:spcAft>
                <a:spcPts val="1800"/>
              </a:spcAft>
              <a:buSzPct val="100000"/>
              <a:buChar char="•"/>
            </a:pPr>
            <a:r>
              <a:rPr lang="en-US" sz="2200" dirty="0">
                <a:solidFill>
                  <a:schemeClr val="tx1"/>
                </a:solidFill>
              </a:rPr>
              <a:t>Dirençli olguda mirtazapin (retrospektif %82)</a:t>
            </a:r>
            <a:r>
              <a:rPr lang="en-US" sz="2200" baseline="30000" dirty="0">
                <a:solidFill>
                  <a:schemeClr val="accent4"/>
                </a:solidFill>
              </a:rPr>
              <a:t>⁠[86]</a:t>
            </a:r>
            <a:r>
              <a:rPr lang="en-US" sz="2200" dirty="0">
                <a:solidFill>
                  <a:schemeClr val="tx1"/>
                </a:solidFill>
              </a:rPr>
              <a:t>; POTS'ta sıvı, tuz, uyku, egzersiz</a:t>
            </a:r>
            <a:r>
              <a:rPr lang="en-US" sz="2200" baseline="30000" dirty="0">
                <a:solidFill>
                  <a:schemeClr val="accent4"/>
                </a:solidFill>
              </a:rPr>
              <a:t>⁠[8]</a:t>
            </a:r>
            <a:endParaRPr lang="en-US" sz="2200" dirty="0"/>
          </a:p>
        </p:txBody>
      </p:sp>
      <p:sp>
        <p:nvSpPr>
          <p:cNvPr id="5" name="kart-235"/>
          <p:cNvSpPr/>
          <p:nvPr/>
        </p:nvSpPr>
        <p:spPr>
          <a:xfrm>
            <a:off x="8001000" y="1600200"/>
            <a:ext cx="3639312" cy="2331720"/>
          </a:xfrm>
          <a:prstGeom prst="roundRect">
            <a:avLst>
              <a:gd name="adj" fmla="val 4706"/>
            </a:avLst>
          </a:prstGeom>
          <a:solidFill>
            <a:schemeClr val="bg2"/>
          </a:solidFill>
          <a:ln/>
        </p:spPr>
      </p:sp>
      <p:sp>
        <p:nvSpPr>
          <p:cNvPr id="6" name="sayi-236"/>
          <p:cNvSpPr txBox="1"/>
          <p:nvPr/>
        </p:nvSpPr>
        <p:spPr>
          <a:xfrm>
            <a:off x="8183880" y="1828800"/>
            <a:ext cx="3273552" cy="10515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%60 vs %55</a:t>
            </a:r>
            <a:endParaRPr lang="en-US" sz="3400" dirty="0"/>
          </a:p>
        </p:txBody>
      </p:sp>
      <p:sp>
        <p:nvSpPr>
          <p:cNvPr id="7" name="sayi-alt-237"/>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400" dirty="0">
                <a:solidFill>
                  <a:schemeClr val="tx1"/>
                </a:solidFill>
              </a:rPr>
              <a:t>hipnoterapi vs standart tedavi, 12. ay</a:t>
            </a:r>
            <a:endParaRPr lang="en-US" sz="1400" dirty="0"/>
          </a:p>
        </p:txBody>
      </p:sp>
      <p:sp>
        <p:nvSpPr>
          <p:cNvPr id="8"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8,83–86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6 · Yönetim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Yatış, sevk, izlem ve 18 yaş</a:t>
            </a:r>
            <a:endParaRPr lang="en-US" sz="2600" dirty="0"/>
          </a:p>
        </p:txBody>
      </p:sp>
      <p:sp>
        <p:nvSpPr>
          <p:cNvPr id="4" name="govde-238"/>
          <p:cNvSpPr txBox="1"/>
          <p:nvPr/>
        </p:nvSpPr>
        <p:spPr>
          <a:xfrm>
            <a:off x="548640" y="1600200"/>
            <a:ext cx="7178040" cy="4160520"/>
          </a:xfrm>
          <a:prstGeom prst="rect">
            <a:avLst/>
          </a:prstGeom>
          <a:noFill/>
          <a:ln/>
        </p:spPr>
        <p:txBody>
          <a:bodyPr wrap="square" lIns="0" tIns="0" rIns="0" bIns="0" rtlCol="0" anchor="t"/>
          <a:lstStyle/>
          <a:p>
            <a:pPr marL="254000" indent="-254000">
              <a:spcAft>
                <a:spcPts val="1800"/>
              </a:spcAft>
              <a:buSzPct val="100000"/>
              <a:buChar char="•"/>
            </a:pPr>
            <a:r>
              <a:rPr lang="en-US" sz="2200" dirty="0">
                <a:solidFill>
                  <a:schemeClr val="tx1"/>
                </a:solidFill>
              </a:rPr>
              <a:t>Doğrulanmış yatış kriteri yok. Öngördürücü: erkek, küçük yaş, &gt;24 sa gecikme, antiemetik öncesi bekleme</a:t>
            </a:r>
            <a:r>
              <a:rPr lang="en-US" sz="2200" baseline="30000" dirty="0">
                <a:solidFill>
                  <a:schemeClr val="accent4"/>
                </a:solidFill>
              </a:rPr>
              <a:t>⁠[87]</a:t>
            </a:r>
            <a:endParaRPr lang="en-US" sz="2200" dirty="0"/>
          </a:p>
          <a:p>
            <a:pPr marL="254000" indent="-254000">
              <a:spcAft>
                <a:spcPts val="1800"/>
              </a:spcAft>
              <a:buSzPct val="100000"/>
              <a:buChar char="•"/>
            </a:pPr>
            <a:r>
              <a:rPr lang="en-US" sz="2200" dirty="0">
                <a:solidFill>
                  <a:schemeClr val="tx1"/>
                </a:solidFill>
              </a:rPr>
              <a:t>Rome V (SKS): bayrak ya da 2 ayda yanıtsızlıkta testle destekle</a:t>
            </a:r>
            <a:r>
              <a:rPr lang="en-US" sz="2200" baseline="30000" dirty="0">
                <a:solidFill>
                  <a:schemeClr val="accent4"/>
                </a:solidFill>
              </a:rPr>
              <a:t>⁠[8]</a:t>
            </a:r>
            <a:endParaRPr lang="en-US" sz="2200" dirty="0"/>
          </a:p>
          <a:p>
            <a:pPr marL="254000" indent="-254000">
              <a:spcAft>
                <a:spcPts val="1800"/>
              </a:spcAft>
              <a:buSzPct val="100000"/>
              <a:buChar char="•"/>
            </a:pPr>
            <a:r>
              <a:rPr lang="en-US" sz="2200" dirty="0">
                <a:solidFill>
                  <a:schemeClr val="tx1"/>
                </a:solidFill>
              </a:rPr>
              <a:t>18 yaş, erişkin Rome V: PDS 2 gün/hafta; ruminasyonda öğürme dışlanır; KHS ayrı kod</a:t>
            </a:r>
            <a:r>
              <a:rPr lang="en-US" sz="2200" baseline="30000" dirty="0">
                <a:solidFill>
                  <a:schemeClr val="accent4"/>
                </a:solidFill>
              </a:rPr>
              <a:t>⁠[70]</a:t>
            </a:r>
            <a:endParaRPr lang="en-US" sz="2200" dirty="0"/>
          </a:p>
        </p:txBody>
      </p:sp>
      <p:sp>
        <p:nvSpPr>
          <p:cNvPr id="5" name="kart-239"/>
          <p:cNvSpPr/>
          <p:nvPr/>
        </p:nvSpPr>
        <p:spPr>
          <a:xfrm>
            <a:off x="8001000" y="1600200"/>
            <a:ext cx="3639312" cy="2331720"/>
          </a:xfrm>
          <a:prstGeom prst="roundRect">
            <a:avLst>
              <a:gd name="adj" fmla="val 4706"/>
            </a:avLst>
          </a:prstGeom>
          <a:solidFill>
            <a:schemeClr val="bg2"/>
          </a:solidFill>
          <a:ln/>
        </p:spPr>
      </p:sp>
      <p:pic>
        <p:nvPicPr>
          <p:cNvPr id="6" name="ikon-240" descr="Doğrulanmış pediatrik yatış kriteri yok">    </p:cNvPr>
          <p:cNvPicPr>
            <a:picLocks noChangeAspect="1"/>
          </p:cNvPicPr>
          <p:nvPr/>
        </p:nvPicPr>
        <p:blipFill>
          <a:blip r:embed="rId1"/>
          <a:stretch>
            <a:fillRect/>
          </a:stretch>
        </p:blipFill>
        <p:spPr>
          <a:xfrm>
            <a:off x="8229600" y="1874520"/>
            <a:ext cx="914400" cy="914400"/>
          </a:xfrm>
          <a:prstGeom prst="rect">
            <a:avLst/>
          </a:prstGeom>
        </p:spPr>
      </p:pic>
      <p:sp>
        <p:nvSpPr>
          <p:cNvPr id="7" name="ikon-alt-241"/>
          <p:cNvSpPr txBox="1"/>
          <p:nvPr/>
        </p:nvSpPr>
        <p:spPr>
          <a:xfrm>
            <a:off x="8183880" y="2926080"/>
            <a:ext cx="3273552" cy="868680"/>
          </a:xfrm>
          <a:prstGeom prst="rect">
            <a:avLst/>
          </a:prstGeom>
          <a:noFill/>
          <a:ln/>
        </p:spPr>
        <p:txBody>
          <a:bodyPr wrap="square" lIns="0" tIns="0" rIns="0" bIns="0" rtlCol="0" anchor="t"/>
          <a:lstStyle/>
          <a:p>
            <a:pPr indent="0" marL="0">
              <a:buNone/>
            </a:pPr>
            <a:r>
              <a:rPr lang="en-US" sz="1500" b="1" dirty="0">
                <a:solidFill>
                  <a:schemeClr val="tx1"/>
                </a:solidFill>
              </a:rPr>
              <a:t>Doğrulanmış pediatrik yatış kriteri yok</a:t>
            </a:r>
            <a:endParaRPr lang="en-US" sz="1500" dirty="0"/>
          </a:p>
        </p:txBody>
      </p:sp>
      <p:sp>
        <p:nvSpPr>
          <p:cNvPr id="8" name="kanit-notu-242"/>
          <p:cNvSpPr txBox="1"/>
          <p:nvPr/>
        </p:nvSpPr>
        <p:spPr>
          <a:xfrm>
            <a:off x="8001000" y="4114800"/>
            <a:ext cx="3639312" cy="868680"/>
          </a:xfrm>
          <a:prstGeom prst="rect">
            <a:avLst/>
          </a:prstGeom>
          <a:solidFill>
            <a:srgbClr val="FDF3DC"/>
          </a:solidFill>
          <a:ln/>
        </p:spPr>
        <p:txBody>
          <a:bodyPr wrap="square" lIns="127000" tIns="127000" rIns="127000" bIns="127000" rtlCol="0" anchor="t"/>
          <a:lstStyle/>
          <a:p>
            <a:pPr indent="0" marL="0">
              <a:buNone/>
            </a:pPr>
            <a:r>
              <a:rPr lang="en-US" sz="1200" dirty="0">
                <a:solidFill>
                  <a:schemeClr val="tx1"/>
                </a:solidFill>
              </a:rPr>
              <a:t>Kanıt notu: son madde ERİŞKİN.</a:t>
            </a:r>
            <a:endParaRPr lang="en-US" sz="1200" dirty="0"/>
          </a:p>
        </p:txBody>
      </p:sp>
      <p:sp>
        <p:nvSpPr>
          <p:cNvPr id="9"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8,70,87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92608"/>
          </a:xfrm>
          <a:prstGeom prst="rect">
            <a:avLst/>
          </a:prstGeom>
          <a:noFill/>
          <a:ln/>
        </p:spPr>
        <p:txBody>
          <a:bodyPr wrap="square" lIns="0" tIns="0" rIns="0" bIns="0" rtlCol="0"/>
          <a:lstStyle/>
          <a:p>
            <a:pPr indent="0" marL="0">
              <a:buNone/>
            </a:pPr>
            <a:r>
              <a:rPr lang="en-US" sz="1200" b="1" dirty="0">
                <a:solidFill>
                  <a:schemeClr val="accent1"/>
                </a:solidFill>
              </a:rPr>
              <a:t>6 · Yönetim</a:t>
            </a:r>
            <a:endParaRPr lang="en-US" sz="1200" dirty="0"/>
          </a:p>
        </p:txBody>
      </p:sp>
      <p:sp>
        <p:nvSpPr>
          <p:cNvPr id="3" name="Text 0"/>
          <p:cNvSpPr/>
          <p:nvPr>
            <p:ph idx="101" type="title" hasCustomPrompt="1"/>
          </p:nvPr>
        </p:nvSpPr>
        <p:spPr>
          <a:xfrm>
            <a:off x="548640" y="640080"/>
            <a:ext cx="11091672" cy="914400"/>
          </a:xfrm>
          <a:prstGeom prst="rect">
            <a:avLst/>
          </a:prstGeom>
          <a:noFill/>
          <a:ln/>
        </p:spPr>
        <p:txBody>
          <a:bodyPr wrap="square" lIns="0" tIns="0" rIns="0" bIns="0" rtlCol="0" anchor="t"/>
          <a:lstStyle/>
          <a:p>
            <a:pPr algn="l" indent="0" marL="0">
              <a:buNone/>
            </a:pPr>
            <a:r>
              <a:rPr lang="en-US" sz="2600" b="1" dirty="0">
                <a:solidFill>
                  <a:schemeClr val="tx1"/>
                </a:solidFill>
              </a:rPr>
              <a:t>Kılavuzlar arası farklar</a:t>
            </a:r>
            <a:endParaRPr lang="en-US" sz="2600" dirty="0"/>
          </a:p>
        </p:txBody>
      </p:sp>
      <p:graphicFrame>
        <p:nvGraphicFramePr>
          <p:cNvPr id="43" name="tablo-243"/>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194560"/>
                <a:gridCol w="2834640"/>
                <a:gridCol w="3291840"/>
                <a:gridCol w="2770632"/>
              </a:tblGrid>
              <a:tr h="621792">
                <a:tc>
                  <a:txBody>
                    <a:bodyPr/>
                    <a:lstStyle/>
                    <a:p>
                      <a:pPr indent="0" marL="0">
                        <a:buNone/>
                      </a:pPr>
                      <a:r>
                        <a:rPr lang="en-US" sz="1800" dirty="0">
                          <a:solidFill>
                            <a:srgbClr val="000000"/>
                          </a:solidFill>
                        </a:rPr>
                        <a:t> </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NASPGHAN 2008</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NASPGHAN 2025</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ANMS 2019 (ERİŞKİN)</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tx2"/>
                    </a:solidFill>
                  </a:tcPr>
                </a:tc>
              </a:tr>
              <a:tr h="621792">
                <a:tc>
                  <a:txBody>
                    <a:bodyPr/>
                    <a:lstStyle/>
                    <a:p>
                      <a:pPr indent="0" marL="0">
                        <a:buNone/>
                      </a:pPr>
                      <a:r>
                        <a:rPr lang="en-US" sz="1800" dirty="0">
                          <a:solidFill>
                            <a:schemeClr val="tx1"/>
                          </a:solidFill>
                        </a:rPr>
                        <a:t>Tanı</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Bayrağa göre hedefe yönelik</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Herkese kan + idrar + üst GİS grafisi</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r>
              <a:tr h="621792">
                <a:tc>
                  <a:txBody>
                    <a:bodyPr/>
                    <a:lstStyle/>
                    <a:p>
                      <a:pPr indent="0" marL="0">
                        <a:buNone/>
                      </a:pPr>
                      <a:r>
                        <a:rPr lang="en-US" sz="1800" dirty="0">
                          <a:solidFill>
                            <a:schemeClr val="tx1"/>
                          </a:solidFill>
                        </a:rPr>
                        <a:t>Profilaksi seçimi</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Yaşa göre</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4 sınıf, koşullu; yaş ölçütü (özette) yok</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TSA birinci basamak</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r>
              <a:tr h="621792">
                <a:tc>
                  <a:txBody>
                    <a:bodyPr/>
                    <a:lstStyle/>
                    <a:p>
                      <a:pPr indent="0" marL="0">
                        <a:buNone/>
                      </a:pPr>
                      <a:r>
                        <a:rPr lang="en-US" sz="1800" dirty="0">
                          <a:solidFill>
                            <a:schemeClr val="tx1"/>
                          </a:solidFill>
                        </a:rPr>
                        <a:t>Dekstroz</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D10</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D10/D5 açık</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D5</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r>
              <a:tr h="621792">
                <a:tc>
                  <a:txBody>
                    <a:bodyPr/>
                    <a:lstStyle/>
                    <a:p>
                      <a:pPr indent="0" marL="0">
                        <a:buNone/>
                      </a:pPr>
                      <a:r>
                        <a:rPr lang="en-US" sz="1800" dirty="0">
                          <a:solidFill>
                            <a:schemeClr val="tx1"/>
                          </a:solidFill>
                        </a:rPr>
                        <a:t>Antikonvülzan</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Yalnız refrakter</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Topiramat alternatif</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2"/>
                    </a:solidFill>
                  </a:tcPr>
                </a:tc>
              </a:tr>
              <a:tr h="621792">
                <a:tc>
                  <a:txBody>
                    <a:bodyPr/>
                    <a:lstStyle/>
                    <a:p>
                      <a:pPr indent="0" marL="0">
                        <a:buNone/>
                      </a:pPr>
                      <a:r>
                        <a:rPr lang="en-US" sz="1800" dirty="0">
                          <a:solidFill>
                            <a:schemeClr val="tx1"/>
                          </a:solidFill>
                        </a:rPr>
                        <a:t>KHS</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İlişkili ama ayrı</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a:t>
                      </a:r>
                      <a:endParaRPr lang="en-US" sz="1200" dirty="0"/>
                    </a:p>
                  </a:txBody>
                  <a:tcPr marL="101600" marR="101600" marT="50800" marB="50800" anchor="ctr">
                    <a:lnL w="9525" cap="flat" cmpd="sng" algn="ctr">
                      <a:solidFill>
                        <a:srgbClr val="BFDCD8"/>
                      </a:solidFill>
                      <a:prstDash val="solid"/>
                      <a:round/>
                      <a:headEnd type="none" w="med" len="med"/>
                      <a:tailEnd type="none" w="med" len="med"/>
                    </a:lnL>
                    <a:lnR w="9525" cap="flat" cmpd="sng" algn="ctr">
                      <a:solidFill>
                        <a:srgbClr val="BFDCD8"/>
                      </a:solidFill>
                      <a:prstDash val="solid"/>
                      <a:round/>
                      <a:headEnd type="none" w="med" len="med"/>
                      <a:tailEnd type="none" w="med" len="med"/>
                    </a:lnR>
                    <a:lnT w="9525" cap="flat" cmpd="sng" algn="ctr">
                      <a:solidFill>
                        <a:srgbClr val="BFDCD8"/>
                      </a:solidFill>
                      <a:prstDash val="solid"/>
                      <a:round/>
                      <a:headEnd type="none" w="med" len="med"/>
                      <a:tailEnd type="none" w="med" len="med"/>
                    </a:lnT>
                    <a:lnB w="9525" cap="flat" cmpd="sng" algn="ctr">
                      <a:solidFill>
                        <a:srgbClr val="BFDCD8"/>
                      </a:solidFill>
                      <a:prstDash val="solid"/>
                      <a:round/>
                      <a:headEnd type="none" w="med" len="med"/>
                      <a:tailEnd type="none" w="med" len="med"/>
                    </a:lnB>
                    <a:solidFill>
                      <a:schemeClr val="bg1"/>
                    </a:solidFill>
                  </a:tcPr>
                </a:tc>
              </a:tr>
            </a:tbl>
          </a:graphicData>
        </a:graphic>
      </p:graphicFrame>
      <p:sp>
        <p:nvSpPr>
          <p:cNvPr id="5" name="dipnot-244"/>
          <p:cNvSpPr txBox="1"/>
          <p:nvPr/>
        </p:nvSpPr>
        <p:spPr>
          <a:xfrm>
            <a:off x="548640" y="5833872"/>
            <a:ext cx="11091672" cy="384048"/>
          </a:xfrm>
          <a:prstGeom prst="rect">
            <a:avLst/>
          </a:prstGeom>
          <a:noFill/>
          <a:ln/>
        </p:spPr>
        <p:txBody>
          <a:bodyPr wrap="square" lIns="0" tIns="0" rIns="0" bIns="0" rtlCol="0" anchor="t"/>
          <a:lstStyle/>
          <a:p>
            <a:pPr indent="0" marL="0">
              <a:buNone/>
            </a:pPr>
            <a:r>
              <a:rPr lang="en-US" sz="1100" i="1" dirty="0">
                <a:solidFill>
                  <a:schemeClr val="accent4"/>
                </a:solidFill>
              </a:rPr>
              <a:t>2025 tam metinleri görülmedi; tedavi ayrıntıları ikincil özetten.</a:t>
            </a:r>
            <a:endParaRPr lang="en-US" sz="1100" dirty="0"/>
          </a:p>
        </p:txBody>
      </p:sp>
      <p:sp>
        <p:nvSpPr>
          <p:cNvPr id="6" name="Text 0"/>
          <p:cNvSpPr/>
          <p:nvPr>
            <p:ph idx="102" type="body" hasCustomPrompt="1"/>
          </p:nvPr>
        </p:nvSpPr>
        <p:spPr>
          <a:xfrm>
            <a:off x="548640" y="6272784"/>
            <a:ext cx="10241280" cy="274320"/>
          </a:xfrm>
          <a:prstGeom prst="rect">
            <a:avLst/>
          </a:prstGeom>
          <a:noFill/>
          <a:ln/>
        </p:spPr>
        <p:txBody>
          <a:bodyPr wrap="square" lIns="0" tIns="0" rIns="0" bIns="0" rtlCol="0"/>
          <a:lstStyle/>
          <a:p>
            <a:pPr indent="0" marL="0">
              <a:buNone/>
            </a:pPr>
            <a:r>
              <a:rPr lang="en-US" sz="1100" dirty="0">
                <a:solidFill>
                  <a:schemeClr val="accent4"/>
                </a:solidFill>
              </a:rPr>
              <a:t>Kaynak no: 12,55,72,73,88 · tam liste sondaki kaynak slaytlarında</a:t>
            </a:r>
            <a:endParaRPr lang="en-US" sz="11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822960"/>
          </a:xfrm>
          <a:prstGeom prst="rect">
            <a:avLst/>
          </a:prstGeom>
          <a:noFill/>
          <a:ln/>
        </p:spPr>
        <p:txBody>
          <a:bodyPr wrap="square" lIns="0" tIns="0" rIns="0" bIns="0" rtlCol="0"/>
          <a:lstStyle/>
          <a:p>
            <a:pPr algn="l" indent="0" marL="0">
              <a:buNone/>
            </a:pPr>
            <a:r>
              <a:rPr lang="en-US" sz="3000" b="1" dirty="0">
                <a:solidFill>
                  <a:schemeClr val="bg1"/>
                </a:solidFill>
              </a:rPr>
              <a:t>Eve götürülecek beş mesaj</a:t>
            </a:r>
            <a:endParaRPr lang="en-US" sz="3000" dirty="0"/>
          </a:p>
        </p:txBody>
      </p:sp>
      <p:sp>
        <p:nvSpPr>
          <p:cNvPr id="3" name="mesaj-no-245"/>
          <p:cNvSpPr txBox="1"/>
          <p:nvPr/>
        </p:nvSpPr>
        <p:spPr>
          <a:xfrm>
            <a:off x="548640" y="1508760"/>
            <a:ext cx="658368" cy="658368"/>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4" name="mesaj-246"/>
          <p:cNvSpPr txBox="1"/>
          <p:nvPr/>
        </p:nvSpPr>
        <p:spPr>
          <a:xfrm>
            <a:off x="1463040" y="1508760"/>
            <a:ext cx="10149840" cy="658368"/>
          </a:xfrm>
          <a:prstGeom prst="rect">
            <a:avLst/>
          </a:prstGeom>
          <a:noFill/>
          <a:ln/>
        </p:spPr>
        <p:txBody>
          <a:bodyPr wrap="square" lIns="0" tIns="0" rIns="0" bIns="0" rtlCol="0" anchor="ctr"/>
          <a:lstStyle/>
          <a:p>
            <a:pPr indent="0" marL="0">
              <a:buNone/>
            </a:pPr>
            <a:r>
              <a:rPr lang="en-US" sz="2100" dirty="0">
                <a:solidFill>
                  <a:schemeClr val="bg1"/>
                </a:solidFill>
              </a:rPr>
              <a:t>Önce paterni tanımla: kusma mı, ruminasyon mu; siklik mi, kronik mi?</a:t>
            </a:r>
            <a:endParaRPr lang="en-US" sz="2100" dirty="0"/>
          </a:p>
        </p:txBody>
      </p:sp>
      <p:sp>
        <p:nvSpPr>
          <p:cNvPr id="5" name="mesaj-no-247"/>
          <p:cNvSpPr txBox="1"/>
          <p:nvPr/>
        </p:nvSpPr>
        <p:spPr>
          <a:xfrm>
            <a:off x="548640" y="2423160"/>
            <a:ext cx="658368" cy="658368"/>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6" name="mesaj-248"/>
          <p:cNvSpPr txBox="1"/>
          <p:nvPr/>
        </p:nvSpPr>
        <p:spPr>
          <a:xfrm>
            <a:off x="1463040" y="2423160"/>
            <a:ext cx="10149840" cy="658368"/>
          </a:xfrm>
          <a:prstGeom prst="rect">
            <a:avLst/>
          </a:prstGeom>
          <a:noFill/>
          <a:ln/>
        </p:spPr>
        <p:txBody>
          <a:bodyPr wrap="square" lIns="0" tIns="0" rIns="0" bIns="0" rtlCol="0" anchor="ctr"/>
          <a:lstStyle/>
          <a:p>
            <a:pPr indent="0" marL="0">
              <a:buNone/>
            </a:pPr>
            <a:r>
              <a:rPr lang="en-US" sz="2100" dirty="0">
                <a:solidFill>
                  <a:schemeClr val="bg1"/>
                </a:solidFill>
              </a:rPr>
              <a:t>Safralı kusma acil; safrasız kusma malrotasyonu dışlamaz.</a:t>
            </a:r>
            <a:endParaRPr lang="en-US" sz="2100" dirty="0"/>
          </a:p>
        </p:txBody>
      </p:sp>
      <p:sp>
        <p:nvSpPr>
          <p:cNvPr id="7" name="mesaj-no-249"/>
          <p:cNvSpPr txBox="1"/>
          <p:nvPr/>
        </p:nvSpPr>
        <p:spPr>
          <a:xfrm>
            <a:off x="548640" y="3337560"/>
            <a:ext cx="658368" cy="658368"/>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8" name="mesaj-250"/>
          <p:cNvSpPr txBox="1"/>
          <p:nvPr/>
        </p:nvSpPr>
        <p:spPr>
          <a:xfrm>
            <a:off x="1463040" y="3337560"/>
            <a:ext cx="10149840" cy="658368"/>
          </a:xfrm>
          <a:prstGeom prst="rect">
            <a:avLst/>
          </a:prstGeom>
          <a:noFill/>
          <a:ln/>
        </p:spPr>
        <p:txBody>
          <a:bodyPr wrap="square" lIns="0" tIns="0" rIns="0" bIns="0" rtlCol="0" anchor="ctr"/>
          <a:lstStyle/>
          <a:p>
            <a:pPr indent="0" marL="0">
              <a:buNone/>
            </a:pPr>
            <a:r>
              <a:rPr lang="en-US" sz="2100" dirty="0">
                <a:solidFill>
                  <a:schemeClr val="bg1"/>
                </a:solidFill>
              </a:rPr>
              <a:t>Bayrak yokluğu güvence değil; SKS'de herkese bir kez kan, idrar, üst GİS grafisi.</a:t>
            </a:r>
            <a:endParaRPr lang="en-US" sz="2100" dirty="0"/>
          </a:p>
        </p:txBody>
      </p:sp>
      <p:sp>
        <p:nvSpPr>
          <p:cNvPr id="9" name="mesaj-no-251"/>
          <p:cNvSpPr txBox="1"/>
          <p:nvPr/>
        </p:nvSpPr>
        <p:spPr>
          <a:xfrm>
            <a:off x="548640" y="4251960"/>
            <a:ext cx="658368" cy="658368"/>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0" name="mesaj-252"/>
          <p:cNvSpPr txBox="1"/>
          <p:nvPr/>
        </p:nvSpPr>
        <p:spPr>
          <a:xfrm>
            <a:off x="1463040" y="4251960"/>
            <a:ext cx="10149840" cy="658368"/>
          </a:xfrm>
          <a:prstGeom prst="rect">
            <a:avLst/>
          </a:prstGeom>
          <a:noFill/>
          <a:ln/>
        </p:spPr>
        <p:txBody>
          <a:bodyPr wrap="square" lIns="0" tIns="0" rIns="0" bIns="0" rtlCol="0" anchor="ctr"/>
          <a:lstStyle/>
          <a:p>
            <a:pPr indent="0" marL="0">
              <a:buNone/>
            </a:pPr>
            <a:r>
              <a:rPr lang="en-US" sz="2100" dirty="0">
                <a:solidFill>
                  <a:schemeClr val="bg1"/>
                </a:solidFill>
              </a:rPr>
              <a:t>Metabolik bayrakta kritik örnek atakta, dekstrozu geciktirmeden.</a:t>
            </a:r>
            <a:endParaRPr lang="en-US" sz="2100" dirty="0"/>
          </a:p>
        </p:txBody>
      </p:sp>
      <p:sp>
        <p:nvSpPr>
          <p:cNvPr id="11" name="mesaj-no-253"/>
          <p:cNvSpPr txBox="1"/>
          <p:nvPr/>
        </p:nvSpPr>
        <p:spPr>
          <a:xfrm>
            <a:off x="548640" y="5166360"/>
            <a:ext cx="658368" cy="658368"/>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12" name="mesaj-254"/>
          <p:cNvSpPr txBox="1"/>
          <p:nvPr/>
        </p:nvSpPr>
        <p:spPr>
          <a:xfrm>
            <a:off x="1463040" y="5166360"/>
            <a:ext cx="10149840" cy="658368"/>
          </a:xfrm>
          <a:prstGeom prst="rect">
            <a:avLst/>
          </a:prstGeom>
          <a:noFill/>
          <a:ln/>
        </p:spPr>
        <p:txBody>
          <a:bodyPr wrap="square" lIns="0" tIns="0" rIns="0" bIns="0" rtlCol="0" anchor="ctr"/>
          <a:lstStyle/>
          <a:p>
            <a:pPr indent="0" marL="0">
              <a:buNone/>
            </a:pPr>
            <a:r>
              <a:rPr lang="en-US" sz="2100" dirty="0">
                <a:solidFill>
                  <a:schemeClr val="bg1"/>
                </a:solidFill>
              </a:rPr>
              <a:t>Kronik günlük kusmanın Rome V'te fonksiyonel karşılığı yok: araştırmayı sürdür.</a:t>
            </a:r>
            <a:endParaRPr lang="en-US" sz="2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1672" cy="548640"/>
          </a:xfrm>
          <a:prstGeom prst="rect">
            <a:avLst/>
          </a:prstGeom>
          <a:noFill/>
          <a:ln/>
        </p:spPr>
        <p:txBody>
          <a:bodyPr wrap="square" lIns="0" tIns="0" rIns="0" bIns="0" rtlCol="0"/>
          <a:lstStyle/>
          <a:p>
            <a:pPr algn="l" indent="0" marL="0">
              <a:buNone/>
            </a:pPr>
            <a:r>
              <a:rPr lang="en-US" sz="2400" b="1" dirty="0">
                <a:solidFill>
                  <a:schemeClr val="tx1"/>
                </a:solidFill>
              </a:rPr>
              <a:t>Kaynaklar (1/5)</a:t>
            </a:r>
            <a:endParaRPr lang="en-US" sz="2400" dirty="0"/>
          </a:p>
        </p:txBody>
      </p:sp>
      <p:sp>
        <p:nvSpPr>
          <p:cNvPr id="3" name="kaynak-255"/>
          <p:cNvSpPr txBox="1"/>
          <p:nvPr/>
        </p:nvSpPr>
        <p:spPr>
          <a:xfrm>
            <a:off x="548640" y="1325880"/>
            <a:ext cx="5440680" cy="4846320"/>
          </a:xfrm>
          <a:prstGeom prst="rect">
            <a:avLst/>
          </a:prstGeom>
          <a:noFill/>
          <a:ln/>
        </p:spPr>
        <p:txBody>
          <a:bodyPr wrap="square" lIns="0" tIns="0" rIns="0" bIns="0" rtlCol="0" anchor="t"/>
          <a:lstStyle/>
          <a:p>
            <a:pPr indent="0" marL="0">
              <a:spcAft>
                <a:spcPts val="400"/>
              </a:spcAft>
              <a:buNone/>
            </a:pPr>
            <a:r>
              <a:rPr lang="en-US" sz="1000" dirty="0">
                <a:solidFill>
                  <a:schemeClr val="tx1"/>
                </a:solidFill>
              </a:rPr>
              <a:t>1. Morra ME, Elshafay A, Kansakar AR, et al. Definition of "persistent vomiting" in current medical literature: A systematic review. Medicine (Baltimore). 2017;96(45):e8025. PMID 29137006. doi:10.1097/MD.0000000000008025</a:t>
            </a:r>
            <a:endParaRPr lang="en-US" sz="1000" dirty="0"/>
          </a:p>
          <a:p>
            <a:pPr indent="0" marL="0">
              <a:spcAft>
                <a:spcPts val="400"/>
              </a:spcAft>
              <a:buNone/>
            </a:pPr>
            <a:r>
              <a:rPr lang="en-US" sz="1000" dirty="0">
                <a:solidFill>
                  <a:schemeClr val="tx1"/>
                </a:solidFill>
              </a:rPr>
              <a:t>2. Malagelada C, Keller J, Sifrim D, et al. European Guideline on Chronic Nausea and Vomiting-A UEG and ESNM Consensus for Clinical Management. United European Gastroenterology Journal. 2025;13(3):427-471. PMID 39754724. doi:10.1002/ueg2.12711</a:t>
            </a:r>
            <a:endParaRPr lang="en-US" sz="1000" dirty="0"/>
          </a:p>
          <a:p>
            <a:pPr indent="0" marL="0">
              <a:spcAft>
                <a:spcPts val="400"/>
              </a:spcAft>
              <a:buNone/>
            </a:pPr>
            <a:r>
              <a:rPr lang="en-US" sz="1000" dirty="0">
                <a:solidFill>
                  <a:schemeClr val="tx1"/>
                </a:solidFill>
              </a:rPr>
              <a:t>3. Pfau BT, Li BU, Murray RD, et al. Differentiating cyclic from chronic vomiting patterns in children: quantitative criteria and diagnostic implications. Pediatrics. 1996;97(3):364-368. PMID 8604272</a:t>
            </a:r>
            <a:endParaRPr lang="en-US" sz="1000" dirty="0"/>
          </a:p>
          <a:p>
            <a:pPr indent="0" marL="0">
              <a:spcAft>
                <a:spcPts val="400"/>
              </a:spcAft>
              <a:buNone/>
            </a:pPr>
            <a:r>
              <a:rPr lang="en-US" sz="1000" dirty="0">
                <a:solidFill>
                  <a:schemeClr val="tx1"/>
                </a:solidFill>
              </a:rPr>
              <a:t>4. Nurko S, Taft T, Palsson OS, et al. Multinational prevalence and burden of paediatric disorders of gut-brain interaction: results of the Rome Foundation paediatric global study. Gut. 2026;75(10):1898-1909. PMID 42613193. doi:10.1136/gutjnl-2026-339667</a:t>
            </a:r>
            <a:endParaRPr lang="en-US" sz="1000" dirty="0"/>
          </a:p>
          <a:p>
            <a:pPr indent="0" marL="0">
              <a:spcAft>
                <a:spcPts val="400"/>
              </a:spcAft>
              <a:buNone/>
            </a:pPr>
            <a:r>
              <a:rPr lang="en-US" sz="1000" dirty="0">
                <a:solidFill>
                  <a:schemeClr val="tx1"/>
                </a:solidFill>
              </a:rPr>
              <a:t>5. Ertekin V, Selimoğlu MA, Altnkaynak S. Prevalence of cyclic vomiting syndrome in a sample of Turkish school children in an urban area. Journal of Clinical Gastroenterology. 2006;40(10):896-898. PMID 17063107. doi:10.1097/01.mcg.0000212627.83746.0b</a:t>
            </a:r>
            <a:endParaRPr lang="en-US" sz="1000" dirty="0"/>
          </a:p>
          <a:p>
            <a:pPr indent="0" marL="0">
              <a:spcAft>
                <a:spcPts val="400"/>
              </a:spcAft>
              <a:buNone/>
            </a:pPr>
            <a:r>
              <a:rPr lang="en-US" sz="1000" dirty="0">
                <a:solidFill>
                  <a:schemeClr val="tx1"/>
                </a:solidFill>
              </a:rPr>
              <a:t>6. Haghighat M, Rafie SM, Dehghani SM, et al. Cyclic vomiting syndrome in children: experience with 181 cases from southern Iran. World Journal of Gastroenterology. 2007;13(12):1833-1836. PMID 17465476. doi:10.3748/wjg.v13.i12.1833</a:t>
            </a:r>
            <a:endParaRPr lang="en-US" sz="1000" dirty="0"/>
          </a:p>
          <a:p>
            <a:pPr indent="0" marL="0">
              <a:spcAft>
                <a:spcPts val="400"/>
              </a:spcAft>
              <a:buNone/>
            </a:pPr>
            <a:r>
              <a:rPr lang="en-US" sz="1000" dirty="0">
                <a:solidFill>
                  <a:schemeClr val="tx1"/>
                </a:solidFill>
              </a:rPr>
              <a:t>7. Ananthashayana R, Srivastava A, Aravind A, et al. Clinical features, response to therapy and outcome in pediatric cyclical vomiting syndrome: Experience from the developing world. Indian Journal of Gastroenterology. 2026. PMID 42026408. doi:10.1007/s12664-026-01998-2</a:t>
            </a:r>
            <a:endParaRPr lang="en-US" sz="1000" dirty="0"/>
          </a:p>
          <a:p>
            <a:pPr indent="0" marL="0">
              <a:spcAft>
                <a:spcPts val="400"/>
              </a:spcAft>
              <a:buNone/>
            </a:pPr>
            <a:r>
              <a:rPr lang="en-US" sz="1000" dirty="0">
                <a:solidFill>
                  <a:schemeClr val="tx1"/>
                </a:solidFill>
              </a:rPr>
              <a:t>8. Rosen R, Borrelli O, Faure C, et al. Rome V Pediatric Upper Gastrointestinal Disorders of Gut-Brain Interaction. Gastroenterology. 2026;170(6):1347-1366. PMID 41713704. doi:10.1053/j.gastro.2026.01.039</a:t>
            </a:r>
            <a:endParaRPr lang="en-US" sz="1000" dirty="0"/>
          </a:p>
          <a:p>
            <a:pPr indent="0" marL="0">
              <a:spcAft>
                <a:spcPts val="400"/>
              </a:spcAft>
              <a:buNone/>
            </a:pPr>
            <a:r>
              <a:rPr lang="en-US" sz="1000" dirty="0">
                <a:solidFill>
                  <a:schemeClr val="tx1"/>
                </a:solidFill>
              </a:rPr>
              <a:t>9. Neville JJ, Westwood E, Ladell A, et al. Management and outcomes of paediatric achalasia: multicentre retrospective study in the UK. BJS open. 2025;10(1). PMID 41557457. doi:10.1093/bjsopen/zraf139</a:t>
            </a:r>
            <a:endParaRPr lang="en-US" sz="1000" dirty="0"/>
          </a:p>
          <a:p>
            <a:pPr indent="0" marL="0">
              <a:spcAft>
                <a:spcPts val="400"/>
              </a:spcAft>
              <a:buNone/>
            </a:pPr>
            <a:r>
              <a:rPr lang="en-US" sz="1000" dirty="0">
                <a:solidFill>
                  <a:schemeClr val="tx1"/>
                </a:solidFill>
              </a:rPr>
              <a:t>10. Bujarska M, Bora G, Li BUK, et al. Diagnostic characteristics of pediatric cyclic vomiting syndrome. Journal of Pediatric Gastroenterology and Nutrition. 2024;80(3):417-425. PMID 39737559. doi:10.1002/jpn3.12448</a:t>
            </a:r>
            <a:endParaRPr lang="en-US" sz="1000" dirty="0"/>
          </a:p>
        </p:txBody>
      </p:sp>
      <p:sp>
        <p:nvSpPr>
          <p:cNvPr id="4" name="kaynak-256"/>
          <p:cNvSpPr txBox="1"/>
          <p:nvPr/>
        </p:nvSpPr>
        <p:spPr>
          <a:xfrm>
            <a:off x="6217920" y="1325880"/>
            <a:ext cx="5440680" cy="4846320"/>
          </a:xfrm>
          <a:prstGeom prst="rect">
            <a:avLst/>
          </a:prstGeom>
          <a:noFill/>
          <a:ln/>
        </p:spPr>
        <p:txBody>
          <a:bodyPr wrap="square" lIns="0" tIns="0" rIns="0" bIns="0" rtlCol="0" anchor="t"/>
          <a:lstStyle/>
          <a:p>
            <a:pPr indent="0" marL="0">
              <a:spcAft>
                <a:spcPts val="400"/>
              </a:spcAft>
              <a:buNone/>
            </a:pPr>
            <a:r>
              <a:rPr lang="en-US" sz="1000" dirty="0">
                <a:solidFill>
                  <a:schemeClr val="tx1"/>
                </a:solidFill>
              </a:rPr>
              <a:t>11. Li BU, Murray RD, Heitlinger LA, et al. Heterogeneity of diagnoses presenting as cyclic vomiting. Pediatrics. 1998;102(3 Pt 1):583-587. PMID 9738180. doi:10.1542/peds.102.3.583</a:t>
            </a:r>
            <a:endParaRPr lang="en-US" sz="1000" dirty="0"/>
          </a:p>
          <a:p>
            <a:pPr indent="0" marL="0">
              <a:spcAft>
                <a:spcPts val="400"/>
              </a:spcAft>
              <a:buNone/>
            </a:pPr>
            <a:r>
              <a:rPr lang="en-US" sz="1000" dirty="0">
                <a:solidFill>
                  <a:schemeClr val="tx1"/>
                </a:solidFill>
              </a:rPr>
              <a:t>12. Li BUK, Lefevre F, Chelimsky GG, et al. North American Society for Pediatric Gastroenterology, Hepatology, and Nutrition consensus statement on the diagnosis and management of cyclic vomiting syndrome. Journal of Pediatric Gastroenterology and Nutrition. 2008;47(3):379-393. PMID 18728540. doi:10.1097/MPG.0b013e318173ed39</a:t>
            </a:r>
            <a:endParaRPr lang="en-US" sz="1000" dirty="0"/>
          </a:p>
          <a:p>
            <a:pPr indent="0" marL="0">
              <a:spcAft>
                <a:spcPts val="400"/>
              </a:spcAft>
              <a:buNone/>
            </a:pPr>
            <a:r>
              <a:rPr lang="en-US" sz="1000" dirty="0">
                <a:solidFill>
                  <a:schemeClr val="tx1"/>
                </a:solidFill>
              </a:rPr>
              <a:t>13. Gosalvez-Tejada A, Li BUK, Simpson P, et al. Natural History of Pediatric Cyclic Vomiting Syndrome: Progression to Dysautonomia. Journal of Pediatric Gastroenterology and Nutrition. 2023;76(6):737-742. PMID 36800281. doi:10.1097/MPG.0000000000003738</a:t>
            </a:r>
            <a:endParaRPr lang="en-US" sz="1000" dirty="0"/>
          </a:p>
          <a:p>
            <a:pPr indent="0" marL="0">
              <a:spcAft>
                <a:spcPts val="400"/>
              </a:spcAft>
              <a:buNone/>
            </a:pPr>
            <a:r>
              <a:rPr lang="en-US" sz="1000" dirty="0">
                <a:solidFill>
                  <a:schemeClr val="tx1"/>
                </a:solidFill>
              </a:rPr>
              <a:t>14. Drumm BR, Bourke B, Drummond J, et al. Cyclical vomiting syndrome in children: a prospective study. Neurogastroenterology and Motility. 2012;24(10):922-927. PMID 22762244. doi:10.1111/j.1365-2982.2012.01960.x</a:t>
            </a:r>
            <a:endParaRPr lang="en-US" sz="1000" dirty="0"/>
          </a:p>
          <a:p>
            <a:pPr indent="0" marL="0">
              <a:spcAft>
                <a:spcPts val="400"/>
              </a:spcAft>
              <a:buNone/>
            </a:pPr>
            <a:r>
              <a:rPr lang="en-US" sz="1000" dirty="0">
                <a:solidFill>
                  <a:schemeClr val="tx1"/>
                </a:solidFill>
              </a:rPr>
              <a:t>15. Fitzpatrick E, Bourke B, Drumm B, et al. Outcome for children with cyclical vomiting syndrome. Archives of Disease in Childhood. 2007;92(11):1001-1004. PMID 17588965. doi:10.1136/adc.2007.116608</a:t>
            </a:r>
            <a:endParaRPr lang="en-US" sz="1000" dirty="0"/>
          </a:p>
          <a:p>
            <a:pPr indent="0" marL="0">
              <a:spcAft>
                <a:spcPts val="400"/>
              </a:spcAft>
              <a:buNone/>
            </a:pPr>
            <a:r>
              <a:rPr lang="en-US" sz="1000" dirty="0">
                <a:solidFill>
                  <a:schemeClr val="tx1"/>
                </a:solidFill>
              </a:rPr>
              <a:t>16. Rosen R, Vandenplas Y, Singendonk M, et al. Pediatric Gastroesophageal Reflux Clinical Practice Guidelines: Joint Recommendations of the North American Society for Pediatric Gastroenterology, Hepatology, and Nutrition and the European Society for Pediatric Gastroenterology, Hepatology, and Nutrition. Journal of Pediatric Gastroenterology and Nutrition. 2018;66(3):516-554. PMID 29470322. doi:10.1097/MPG.0000000000001889</a:t>
            </a:r>
            <a:endParaRPr lang="en-US" sz="1000" dirty="0"/>
          </a:p>
          <a:p>
            <a:pPr indent="0" marL="0">
              <a:spcAft>
                <a:spcPts val="400"/>
              </a:spcAft>
              <a:buNone/>
            </a:pPr>
            <a:r>
              <a:rPr lang="en-US" sz="1000" dirty="0">
                <a:solidFill>
                  <a:schemeClr val="tx1"/>
                </a:solidFill>
              </a:rPr>
              <a:t>17. O'Sullivan D, Camila Cardenas M, Ricaurte L, et al. Eosinophilic esophagitis: Does age matter?. Journal of Pediatric Gastroenterology and Nutrition. 2024;78(6):1329-1336. PMID 38562024. doi:10.1002/jpn3.12201</a:t>
            </a:r>
            <a:endParaRPr lang="en-US" sz="1000" dirty="0"/>
          </a:p>
          <a:p>
            <a:pPr indent="0" marL="0">
              <a:spcAft>
                <a:spcPts val="400"/>
              </a:spcAft>
              <a:buNone/>
            </a:pPr>
            <a:r>
              <a:rPr lang="en-US" sz="1000" dirty="0">
                <a:solidFill>
                  <a:schemeClr val="tx1"/>
                </a:solidFill>
              </a:rPr>
              <a:t>18. Abu-Arafeh I, Russell G. Cyclical vomiting syndrome in children: a population-based study. Journal of Pediatric Gastroenterology and Nutrition. 1995;21(4):454-458. PMID 8583299. doi:10.1097/00005176-199511000-00014</a:t>
            </a:r>
            <a:endParaRPr lang="en-US" sz="1000" dirty="0"/>
          </a:p>
          <a:p>
            <a:pPr indent="0" marL="0">
              <a:spcAft>
                <a:spcPts val="400"/>
              </a:spcAft>
              <a:buNone/>
            </a:pPr>
            <a:r>
              <a:rPr lang="en-US" sz="1000" dirty="0">
                <a:solidFill>
                  <a:schemeClr val="tx1"/>
                </a:solidFill>
              </a:rPr>
              <a:t>19. Michael M, Tsatsou K, Ferrie CD. Panayiotopoulos syndrome: an important childhood autonomic epilepsy to be differentiated from occipital epilepsy and acute non-epileptic disorders. Brain &amp; Development. 2009;32(1):4-9. PMID 19386455. doi:10.1016/j.braindev.2009.03.002</a:t>
            </a:r>
            <a:endParaRPr lang="en-US" sz="1000" dirty="0"/>
          </a:p>
          <a:p>
            <a:pPr indent="0" marL="0">
              <a:spcAft>
                <a:spcPts val="400"/>
              </a:spcAft>
              <a:buNone/>
            </a:pPr>
            <a:r>
              <a:rPr lang="en-US" sz="1000" dirty="0">
                <a:solidFill>
                  <a:schemeClr val="tx1"/>
                </a:solidFill>
              </a:rPr>
              <a:t>20. Shah M, Jergel A, George RP, et al. Distinguishing Clinical Features of Cannabinoid Hyperemesis Syndrome and Cyclic Vomiting Syndrome: A Retrospective Cohort Study. The Journal of Pediatrics. 2024;271:114054. PMID 38615942. doi:10.1016/j.jpeds.2024.114054</a:t>
            </a:r>
            <a:endParaRPr lang="en-US" sz="10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1672" cy="548640"/>
          </a:xfrm>
          <a:prstGeom prst="rect">
            <a:avLst/>
          </a:prstGeom>
          <a:noFill/>
          <a:ln/>
        </p:spPr>
        <p:txBody>
          <a:bodyPr wrap="square" lIns="0" tIns="0" rIns="0" bIns="0" rtlCol="0"/>
          <a:lstStyle/>
          <a:p>
            <a:pPr algn="l" indent="0" marL="0">
              <a:buNone/>
            </a:pPr>
            <a:r>
              <a:rPr lang="en-US" sz="2400" b="1" dirty="0">
                <a:solidFill>
                  <a:schemeClr val="tx1"/>
                </a:solidFill>
              </a:rPr>
              <a:t>Kaynaklar (2/5)</a:t>
            </a:r>
            <a:endParaRPr lang="en-US" sz="2400" dirty="0"/>
          </a:p>
        </p:txBody>
      </p:sp>
      <p:sp>
        <p:nvSpPr>
          <p:cNvPr id="3" name="kaynak-257"/>
          <p:cNvSpPr txBox="1"/>
          <p:nvPr/>
        </p:nvSpPr>
        <p:spPr>
          <a:xfrm>
            <a:off x="548640" y="1325880"/>
            <a:ext cx="5440680" cy="4846320"/>
          </a:xfrm>
          <a:prstGeom prst="rect">
            <a:avLst/>
          </a:prstGeom>
          <a:noFill/>
          <a:ln/>
        </p:spPr>
        <p:txBody>
          <a:bodyPr wrap="square" lIns="0" tIns="0" rIns="0" bIns="0" rtlCol="0" anchor="t"/>
          <a:lstStyle/>
          <a:p>
            <a:pPr indent="0" marL="0">
              <a:spcAft>
                <a:spcPts val="400"/>
              </a:spcAft>
              <a:buNone/>
            </a:pPr>
            <a:r>
              <a:rPr lang="en-US" sz="1000" dirty="0">
                <a:solidFill>
                  <a:schemeClr val="tx1"/>
                </a:solidFill>
              </a:rPr>
              <a:t>21. da Silva BC, Araújo M, Tavares M. Rumination Syndrome in Adolescents: Clinical and Psychiatric Correlates From a Case Series. Clinical Child Psychology and Psychiatry. 2026. PMID 42217214. doi:10.1177/13591045261456470</a:t>
            </a:r>
            <a:endParaRPr lang="en-US" sz="1000" dirty="0"/>
          </a:p>
          <a:p>
            <a:pPr indent="0" marL="0">
              <a:spcAft>
                <a:spcPts val="400"/>
              </a:spcAft>
              <a:buNone/>
            </a:pPr>
            <a:r>
              <a:rPr lang="en-US" sz="1000" dirty="0">
                <a:solidFill>
                  <a:schemeClr val="tx1"/>
                </a:solidFill>
              </a:rPr>
              <a:t>22. Parashette KR, Croffie J. Vomiting. Pediatrics in Review. 2013;34(7):307-319. PMID 23818085. doi:10.1542/pir.34-7-307</a:t>
            </a:r>
            <a:endParaRPr lang="en-US" sz="1000" dirty="0"/>
          </a:p>
          <a:p>
            <a:pPr indent="0" marL="0">
              <a:spcAft>
                <a:spcPts val="400"/>
              </a:spcAft>
              <a:buNone/>
            </a:pPr>
            <a:r>
              <a:rPr lang="en-US" sz="1000" dirty="0">
                <a:solidFill>
                  <a:schemeClr val="tx1"/>
                </a:solidFill>
              </a:rPr>
              <a:t>23. Raucci U, Borrelli O, Di Nardo G, et al. Cyclic Vomiting Syndrome in Children. Frontiers in Neurology. 2020;11:583425. PMID 33224097. doi:10.3389/fneur.2020.583425</a:t>
            </a:r>
            <a:endParaRPr lang="en-US" sz="1000" dirty="0"/>
          </a:p>
          <a:p>
            <a:pPr indent="0" marL="0">
              <a:spcAft>
                <a:spcPts val="400"/>
              </a:spcAft>
              <a:buNone/>
            </a:pPr>
            <a:r>
              <a:rPr lang="en-US" sz="1000" dirty="0">
                <a:solidFill>
                  <a:schemeClr val="tx1"/>
                </a:solidFill>
              </a:rPr>
              <a:t>24. Thornton PS, Stanley CA, De Leon DD, et al. Recommendations from the Pediatric Endocrine Society for Evaluation and Management of Persistent Hypoglycemia in Neonates, Infants, and Children. The Journal of pediatrics. 2015;167(2):238-45. PMID 25957977. doi:10.1016/j.jpeds.2015.03.057</a:t>
            </a:r>
            <a:endParaRPr lang="en-US" sz="1000" dirty="0"/>
          </a:p>
          <a:p>
            <a:pPr indent="0" marL="0">
              <a:spcAft>
                <a:spcPts val="400"/>
              </a:spcAft>
              <a:buNone/>
            </a:pPr>
            <a:r>
              <a:rPr lang="en-US" sz="1000" dirty="0">
                <a:solidFill>
                  <a:schemeClr val="tx1"/>
                </a:solidFill>
              </a:rPr>
              <a:t>25. Wilne S, Collier J, Kennedy C, et al. Presentation of childhood CNS tumours: a systematic review and meta-analysis. The Lancet Oncology. 2007;8(8):685-695. PMID 17644483. doi:10.1016/S1470-2045(07)70207-3</a:t>
            </a:r>
            <a:endParaRPr lang="en-US" sz="1000" dirty="0"/>
          </a:p>
          <a:p>
            <a:pPr indent="0" marL="0">
              <a:spcAft>
                <a:spcPts val="400"/>
              </a:spcAft>
              <a:buNone/>
            </a:pPr>
            <a:r>
              <a:rPr lang="en-US" sz="1000" dirty="0">
                <a:solidFill>
                  <a:schemeClr val="tx1"/>
                </a:solidFill>
              </a:rPr>
              <a:t>26. Li BUK. Managing cyclic vomiting syndrome in children: beyond the guidelines. European Journal of Pediatrics. 2018;177(10):1435-1442. PMID 30076469. doi:10.1007/s00431-018-3218-7</a:t>
            </a:r>
            <a:endParaRPr lang="en-US" sz="1000" dirty="0"/>
          </a:p>
          <a:p>
            <a:pPr indent="0" marL="0">
              <a:spcAft>
                <a:spcPts val="400"/>
              </a:spcAft>
              <a:buNone/>
            </a:pPr>
            <a:r>
              <a:rPr lang="en-US" sz="1000" dirty="0">
                <a:solidFill>
                  <a:schemeClr val="tx1"/>
                </a:solidFill>
              </a:rPr>
              <a:t>27. Zheng W, Duan Y, Xia Y, et al. Clinical and genetic characteristics of 42 Chinese paediatric patients with X-linked adrenal hypoplasia congenita. Orphanet Journal of Rare Diseases. 2023;18(1):126. PMID 37237297. doi:10.1186/s13023-023-02737-y</a:t>
            </a:r>
            <a:endParaRPr lang="en-US" sz="1000" dirty="0"/>
          </a:p>
          <a:p>
            <a:pPr indent="0" marL="0">
              <a:spcAft>
                <a:spcPts val="400"/>
              </a:spcAft>
              <a:buNone/>
            </a:pPr>
            <a:r>
              <a:rPr lang="en-US" sz="1000" dirty="0">
                <a:solidFill>
                  <a:schemeClr val="tx1"/>
                </a:solidFill>
              </a:rPr>
              <a:t>28. Goh L, Ho JMD, Chiou FK. Disease characteristics and long-term outcomes of cyclic vomiting syndrome in Singaporean children. World Journal of Gastrointestinal Pharmacology and Therapeutics. 2025;16(2):103971. PMID 40575359. doi:10.4292/wjgpt.v16.i2.103971</a:t>
            </a:r>
            <a:endParaRPr lang="en-US" sz="1000" dirty="0"/>
          </a:p>
          <a:p>
            <a:pPr indent="0" marL="0">
              <a:spcAft>
                <a:spcPts val="400"/>
              </a:spcAft>
              <a:buNone/>
            </a:pPr>
            <a:r>
              <a:rPr lang="en-US" sz="1000" dirty="0">
                <a:solidFill>
                  <a:schemeClr val="tx1"/>
                </a:solidFill>
              </a:rPr>
              <a:t>29. Spatuzzo M, Imondi C, De Angelis P, et al. Endoscopy and noninvasive tests in pediatric disorders of gut-brain interaction: A multicenter retrospective study of the Italian Society of Pediatric Gastroenterology, Hepatology, and Nutrition. Journal of Pediatric Gastroenterology and Nutrition. 2025;81(4):1089-1099. PMID 40692192. doi:10.1002/jpn3.70167</a:t>
            </a:r>
            <a:endParaRPr lang="en-US" sz="1000" dirty="0"/>
          </a:p>
          <a:p>
            <a:pPr indent="0" marL="0">
              <a:spcAft>
                <a:spcPts val="400"/>
              </a:spcAft>
              <a:buNone/>
            </a:pPr>
            <a:r>
              <a:rPr lang="en-US" sz="1000" dirty="0">
                <a:solidFill>
                  <a:schemeClr val="tx1"/>
                </a:solidFill>
              </a:rPr>
              <a:t>30. Tarbell SE, Li BUK. Anxiety Measures Predict Health-Related Quality of Life in Children and Adolescents with Cyclic Vomiting Syndrome. The Journal of Pediatrics. 2015;167(3):633-638.e1. PMID 26095286. doi:10.1016/j.jpeds.2015.05.032</a:t>
            </a:r>
            <a:endParaRPr lang="en-US" sz="1000" dirty="0"/>
          </a:p>
        </p:txBody>
      </p:sp>
      <p:sp>
        <p:nvSpPr>
          <p:cNvPr id="4" name="kaynak-258"/>
          <p:cNvSpPr txBox="1"/>
          <p:nvPr/>
        </p:nvSpPr>
        <p:spPr>
          <a:xfrm>
            <a:off x="6217920" y="1325880"/>
            <a:ext cx="5440680" cy="4846320"/>
          </a:xfrm>
          <a:prstGeom prst="rect">
            <a:avLst/>
          </a:prstGeom>
          <a:noFill/>
          <a:ln/>
        </p:spPr>
        <p:txBody>
          <a:bodyPr wrap="square" lIns="0" tIns="0" rIns="0" bIns="0" rtlCol="0" anchor="t"/>
          <a:lstStyle/>
          <a:p>
            <a:pPr indent="0" marL="0">
              <a:spcAft>
                <a:spcPts val="400"/>
              </a:spcAft>
              <a:buNone/>
            </a:pPr>
            <a:r>
              <a:rPr lang="en-US" sz="1000" dirty="0">
                <a:solidFill>
                  <a:schemeClr val="tx1"/>
                </a:solidFill>
              </a:rPr>
              <a:t>31. Tarbell SE, Li BUK. Health-related quality of life in children and adolescents with cyclic vomiting syndrome: a comparison with published data on youth with irritable bowel syndrome and organic gastrointestinal disorders. The Journal of Pediatrics. 2013;163(2):493-497. PMID 23485030. doi:10.1016/j.jpeds.2013.01.025</a:t>
            </a:r>
            <a:endParaRPr lang="en-US" sz="1000" dirty="0"/>
          </a:p>
          <a:p>
            <a:pPr indent="0" marL="0">
              <a:spcAft>
                <a:spcPts val="400"/>
              </a:spcAft>
              <a:buNone/>
            </a:pPr>
            <a:r>
              <a:rPr lang="en-US" sz="1000" dirty="0">
                <a:solidFill>
                  <a:schemeClr val="tx1"/>
                </a:solidFill>
              </a:rPr>
              <a:t>32. Thavamani A, Velayuthan S, Patel D, et al. Association of Anxiety and Gastrointestinal Comorbidities in Repeat Hospital Admissions in Pediatric Cyclic Vomiting Syndrome. The American Journal of Gastroenterology. 2023;118(8):1439-1445. PMID 37052354. doi:10.14309/ajg.0000000000002292</a:t>
            </a:r>
            <a:endParaRPr lang="en-US" sz="1000" dirty="0"/>
          </a:p>
          <a:p>
            <a:pPr indent="0" marL="0">
              <a:spcAft>
                <a:spcPts val="400"/>
              </a:spcAft>
              <a:buNone/>
            </a:pPr>
            <a:r>
              <a:rPr lang="en-US" sz="1000" dirty="0">
                <a:solidFill>
                  <a:schemeClr val="tx1"/>
                </a:solidFill>
              </a:rPr>
              <a:t>33. Di Lorenzo C, Colletti RB, Lehmann HP, et al. Chronic Abdominal Pain In Children: a Technical Report of the American Academy of Pediatrics and the North American Society for Pediatric Gastroenterology, Hepatology and Nutrition. Journal of Pediatric Gastroenterology and Nutrition. 2005;40(3):249-261. PMID 15735476. doi:10.1097/01.mpg.0000154661.39488.ac</a:t>
            </a:r>
            <a:endParaRPr lang="en-US" sz="1000" dirty="0"/>
          </a:p>
          <a:p>
            <a:pPr indent="0" marL="0">
              <a:spcAft>
                <a:spcPts val="400"/>
              </a:spcAft>
              <a:buNone/>
            </a:pPr>
            <a:r>
              <a:rPr lang="en-US" sz="1000" dirty="0">
                <a:solidFill>
                  <a:schemeClr val="tx1"/>
                </a:solidFill>
              </a:rPr>
              <a:t>34. Powell DM, Othersen HB, Smith CD. Malrotation of the intestines in children: the effect of age on presentation and therapy. Journal of Pediatric Surgery. 1989;24(8):777-780. PMID 2769545. doi:10.1016/s0022-3468(89)80535-4</a:t>
            </a:r>
            <a:endParaRPr lang="en-US" sz="1000" dirty="0"/>
          </a:p>
          <a:p>
            <a:pPr indent="0" marL="0">
              <a:spcAft>
                <a:spcPts val="400"/>
              </a:spcAft>
              <a:buNone/>
            </a:pPr>
            <a:r>
              <a:rPr lang="en-US" sz="1000" dirty="0">
                <a:solidFill>
                  <a:schemeClr val="tx1"/>
                </a:solidFill>
              </a:rPr>
              <a:t>35. Dekker G, Andronikou S, Greyling J, et al. Contrast meals and malrotation in children-metal markers for improved accuracy. Pediatric Radiology. 2012;43(1):115-118. PMID 23160646. doi:10.1007/s00247-012-2503-2</a:t>
            </a:r>
            <a:endParaRPr lang="en-US" sz="1000" dirty="0"/>
          </a:p>
          <a:p>
            <a:pPr indent="0" marL="0">
              <a:spcAft>
                <a:spcPts val="400"/>
              </a:spcAft>
              <a:buNone/>
            </a:pPr>
            <a:r>
              <a:rPr lang="en-US" sz="1000" dirty="0">
                <a:solidFill>
                  <a:schemeClr val="tx1"/>
                </a:solidFill>
              </a:rPr>
              <a:t>36. Biank V, Werlin S. Superior mesenteric artery syndrome in children: a 20-year experience. Journal of Pediatric Gastroenterology and Nutrition. 2006;42(5):522-525. PMID 16707974. doi:10.1097/01.mpg.0000221888.36501.f2</a:t>
            </a:r>
            <a:endParaRPr lang="en-US" sz="1000" dirty="0"/>
          </a:p>
          <a:p>
            <a:pPr indent="0" marL="0">
              <a:spcAft>
                <a:spcPts val="400"/>
              </a:spcAft>
              <a:buNone/>
            </a:pPr>
            <a:r>
              <a:rPr lang="en-US" sz="1000" dirty="0">
                <a:solidFill>
                  <a:schemeClr val="tx1"/>
                </a:solidFill>
              </a:rPr>
              <a:t>37. Xiang L, Lan J, Chen B, et al. Clinical characteristics of gastrointestinal tract duplications in children: A single-institution series review. Medicine. 2019;98(44):e17682. PMID 31689788. doi:10.1097/MD.0000000000017682</a:t>
            </a:r>
            <a:endParaRPr lang="en-US" sz="1000" dirty="0"/>
          </a:p>
          <a:p>
            <a:pPr indent="0" marL="0">
              <a:spcAft>
                <a:spcPts val="400"/>
              </a:spcAft>
              <a:buNone/>
            </a:pPr>
            <a:r>
              <a:rPr lang="en-US" sz="1000" dirty="0">
                <a:solidFill>
                  <a:schemeClr val="tx1"/>
                </a:solidFill>
              </a:rPr>
              <a:t>38. Dellon ES, Liacouras CA, Molina-Infante J, et al. Updated International Consensus Diagnostic Criteria for Eosinophilic Esophagitis: Proceedings of the AGREE Conference. Gastroenterology. 2018;155(4):1022-1033.e10. PMID 30009819. doi:10.1053/j.gastro.2018.07.009</a:t>
            </a:r>
            <a:endParaRPr lang="en-US" sz="1000" dirty="0"/>
          </a:p>
          <a:p>
            <a:pPr indent="0" marL="0">
              <a:spcAft>
                <a:spcPts val="400"/>
              </a:spcAft>
              <a:buNone/>
            </a:pPr>
            <a:r>
              <a:rPr lang="en-US" sz="1000" dirty="0">
                <a:solidFill>
                  <a:schemeClr val="tx1"/>
                </a:solidFill>
              </a:rPr>
              <a:t>39. Sahin Y. Celiac disease in children: A review of the literature. World Journal of Clinical Pediatrics. 2021;10(4):53-71. PMID 34316439. doi:10.5409/wjcp.v10.i4.53</a:t>
            </a:r>
            <a:endParaRPr lang="en-US" sz="1000" dirty="0"/>
          </a:p>
          <a:p>
            <a:pPr indent="0" marL="0">
              <a:spcAft>
                <a:spcPts val="400"/>
              </a:spcAft>
              <a:buNone/>
            </a:pPr>
            <a:r>
              <a:rPr lang="en-US" sz="1000" dirty="0">
                <a:solidFill>
                  <a:schemeClr val="tx1"/>
                </a:solidFill>
              </a:rPr>
              <a:t>40. Husby S, Koletzko S, Korponay-Szabó I, et al. European Society Paediatric Gastroenterology, Hepatology and Nutrition Guidelines for Diagnosing Coeliac Disease 2020. Journal of Pediatric Gastroenterology and Nutrition. 2020;70(1):141-156. PMID 31568151. doi:10.1097/MPG.0000000000002497</a:t>
            </a:r>
            <a:endParaRPr lang="en-US" sz="10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1672" cy="548640"/>
          </a:xfrm>
          <a:prstGeom prst="rect">
            <a:avLst/>
          </a:prstGeom>
          <a:noFill/>
          <a:ln/>
        </p:spPr>
        <p:txBody>
          <a:bodyPr wrap="square" lIns="0" tIns="0" rIns="0" bIns="0" rtlCol="0"/>
          <a:lstStyle/>
          <a:p>
            <a:pPr algn="l" indent="0" marL="0">
              <a:buNone/>
            </a:pPr>
            <a:r>
              <a:rPr lang="en-US" sz="2400" b="1" dirty="0">
                <a:solidFill>
                  <a:schemeClr val="tx1"/>
                </a:solidFill>
              </a:rPr>
              <a:t>Kaynaklar (3/5)</a:t>
            </a:r>
            <a:endParaRPr lang="en-US" sz="2400" dirty="0"/>
          </a:p>
        </p:txBody>
      </p:sp>
      <p:sp>
        <p:nvSpPr>
          <p:cNvPr id="3" name="kaynak-259"/>
          <p:cNvSpPr txBox="1"/>
          <p:nvPr/>
        </p:nvSpPr>
        <p:spPr>
          <a:xfrm>
            <a:off x="548640" y="1325880"/>
            <a:ext cx="5440680" cy="4846320"/>
          </a:xfrm>
          <a:prstGeom prst="rect">
            <a:avLst/>
          </a:prstGeom>
          <a:noFill/>
          <a:ln/>
        </p:spPr>
        <p:txBody>
          <a:bodyPr wrap="square" lIns="0" tIns="0" rIns="0" bIns="0" rtlCol="0" anchor="t"/>
          <a:lstStyle/>
          <a:p>
            <a:pPr indent="0" marL="0">
              <a:spcAft>
                <a:spcPts val="400"/>
              </a:spcAft>
              <a:buNone/>
            </a:pPr>
            <a:r>
              <a:rPr lang="en-US" sz="1000" dirty="0">
                <a:solidFill>
                  <a:schemeClr val="tx1"/>
                </a:solidFill>
              </a:rPr>
              <a:t>41. Homan Mz, Jones NL, Bontems P, et al. Updated joint ESPGHAN/NASPGHAN guidelines for management of Helicobacter pylori infection in children and adolescents (2023). Journal of Pediatric Gastroenterology and Nutrition. 2024;79(3):758-785. PMID 39148213. doi:10.1002/jpn3.12314</a:t>
            </a:r>
            <a:endParaRPr lang="en-US" sz="1000" dirty="0"/>
          </a:p>
          <a:p>
            <a:pPr indent="0" marL="0">
              <a:spcAft>
                <a:spcPts val="400"/>
              </a:spcAft>
              <a:buNone/>
            </a:pPr>
            <a:r>
              <a:rPr lang="en-US" sz="1000" dirty="0">
                <a:solidFill>
                  <a:schemeClr val="tx1"/>
                </a:solidFill>
              </a:rPr>
              <a:t>42. Shah S, Grohman R, Nowak-Wegrzyn A. Food protein-induced enterocolitis syndrome (FPIES): Beyond the guidelines. Journal of Food Allergy. 2023;5(2):55-64. PMID 39022754. doi:10.2500/jfa.2023.5.230014</a:t>
            </a:r>
            <a:endParaRPr lang="en-US" sz="1000" dirty="0"/>
          </a:p>
          <a:p>
            <a:pPr indent="0" marL="0">
              <a:spcAft>
                <a:spcPts val="400"/>
              </a:spcAft>
              <a:buNone/>
            </a:pPr>
            <a:r>
              <a:rPr lang="en-US" sz="1000" dirty="0">
                <a:solidFill>
                  <a:schemeClr val="tx1"/>
                </a:solidFill>
              </a:rPr>
              <a:t>43. Teo WY, Myseros JS. The gut or the brain?--Gastrointestinal misdiagnoses of infantile brain tumors. Child's Nervous System. 2014;30(8):1449-1453. PMID 24535228. doi:10.1007/s00381-014-2386-7</a:t>
            </a:r>
            <a:endParaRPr lang="en-US" sz="1000" dirty="0"/>
          </a:p>
          <a:p>
            <a:pPr indent="0" marL="0">
              <a:spcAft>
                <a:spcPts val="400"/>
              </a:spcAft>
              <a:buNone/>
            </a:pPr>
            <a:r>
              <a:rPr lang="en-US" sz="1000" dirty="0">
                <a:solidFill>
                  <a:schemeClr val="tx1"/>
                </a:solidFill>
              </a:rPr>
              <a:t>44. Kankam SB, Karami S, Nejat A, et al. Odd presentation of shunt malfunction: a case series and review of literature. Child's Nervous System. 2023;39(9):2479-2485. PMID 37010583. doi:10.1007/s00381-023-05946-9</a:t>
            </a:r>
            <a:endParaRPr lang="en-US" sz="1000" dirty="0"/>
          </a:p>
          <a:p>
            <a:pPr indent="0" marL="0">
              <a:spcAft>
                <a:spcPts val="400"/>
              </a:spcAft>
              <a:buNone/>
            </a:pPr>
            <a:r>
              <a:rPr lang="en-US" sz="1000" dirty="0">
                <a:solidFill>
                  <a:schemeClr val="tx1"/>
                </a:solidFill>
              </a:rPr>
              <a:t>45. Häberle J, Boddaert N, Burlina A, et al. Suggested guidelines for the diagnosis and management of urea cycle disorders. Orphanet Journal of Rare Diseases. 2012;7:32. PMID 22642880. doi:10.1186/1750-1172-7-32</a:t>
            </a:r>
            <a:endParaRPr lang="en-US" sz="1000" dirty="0"/>
          </a:p>
          <a:p>
            <a:pPr indent="0" marL="0">
              <a:spcAft>
                <a:spcPts val="400"/>
              </a:spcAft>
              <a:buNone/>
            </a:pPr>
            <a:r>
              <a:rPr lang="en-US" sz="1000" dirty="0">
                <a:solidFill>
                  <a:schemeClr val="tx1"/>
                </a:solidFill>
              </a:rPr>
              <a:t>46. Gelfand AA, Gallagher RC. Cyclic vomiting syndrome versus inborn errors of metabolism: A review with clinical recommendations. Headache. 2015;56(1):215-221. PMID 26678622. doi:10.1111/head.12749</a:t>
            </a:r>
            <a:endParaRPr lang="en-US" sz="1000" dirty="0"/>
          </a:p>
          <a:p>
            <a:pPr indent="0" marL="0">
              <a:spcAft>
                <a:spcPts val="400"/>
              </a:spcAft>
              <a:buNone/>
            </a:pPr>
            <a:r>
              <a:rPr lang="en-US" sz="1000" dirty="0">
                <a:solidFill>
                  <a:schemeClr val="tx1"/>
                </a:solidFill>
              </a:rPr>
              <a:t>47. Chapman KA, Ah Mew N, Mickle N, et al. Propionic acidemia and methylmalonic aciduria: A portrait of the first 3 years-Admissions and complications. Molecular Genetics and Metabolism. 2025;146(4):109289. PMID 41232196. doi:10.1016/j.ymgme.2025.109289</a:t>
            </a:r>
            <a:endParaRPr lang="en-US" sz="1000" dirty="0"/>
          </a:p>
          <a:p>
            <a:pPr indent="0" marL="0">
              <a:spcAft>
                <a:spcPts val="400"/>
              </a:spcAft>
              <a:buNone/>
            </a:pPr>
            <a:r>
              <a:rPr lang="en-US" sz="1000" dirty="0">
                <a:solidFill>
                  <a:schemeClr val="tx1"/>
                </a:solidFill>
              </a:rPr>
              <a:t>48. Tsai JD, Huang FY, Lin CC, et al. Intermittent hydronephrosis secondary to ureteropelvic junction obstruction: clinical and imaging features. Pediatrics. 2006;117(1):139-146. PMID 16396871. doi:10.1542/peds.2005-0583</a:t>
            </a:r>
            <a:endParaRPr lang="en-US" sz="1000" dirty="0"/>
          </a:p>
          <a:p>
            <a:pPr indent="0" marL="0">
              <a:spcAft>
                <a:spcPts val="400"/>
              </a:spcAft>
              <a:buNone/>
            </a:pPr>
            <a:r>
              <a:rPr lang="en-US" sz="1000" dirty="0">
                <a:solidFill>
                  <a:schemeClr val="tx1"/>
                </a:solidFill>
              </a:rPr>
              <a:t>49. Michelson KA, Bachur RG, Grubenhoff JA, et al. Outcomes of missed diagnosis of pediatric appendicitis, new-onset diabetic ketoacidosis, and sepsis in five pediatric hospitals. The Journal of Emergency Medicine. 2023;65(1):e9-e18. PMID 37355425. doi:10.1016/j.jemermed.2023.04.006</a:t>
            </a:r>
            <a:endParaRPr lang="en-US" sz="1000" dirty="0"/>
          </a:p>
          <a:p>
            <a:pPr indent="0" marL="0">
              <a:spcAft>
                <a:spcPts val="400"/>
              </a:spcAft>
              <a:buNone/>
            </a:pPr>
            <a:r>
              <a:rPr lang="en-US" sz="1000" dirty="0">
                <a:solidFill>
                  <a:schemeClr val="tx1"/>
                </a:solidFill>
              </a:rPr>
              <a:t>50. Moldavsky M, Stein D. Munchausen Syndrome by Proxy: two case reports and an update of the literature. International Journal of Psychiatry in Medicine. 2003;33(4):411-423. PMID 15152792. doi:10.2190/MHGG-WQPP-FGQN-WRNH</a:t>
            </a:r>
            <a:endParaRPr lang="en-US" sz="1000" dirty="0"/>
          </a:p>
        </p:txBody>
      </p:sp>
      <p:sp>
        <p:nvSpPr>
          <p:cNvPr id="4" name="kaynak-260"/>
          <p:cNvSpPr txBox="1"/>
          <p:nvPr/>
        </p:nvSpPr>
        <p:spPr>
          <a:xfrm>
            <a:off x="6217920" y="1325880"/>
            <a:ext cx="5440680" cy="4846320"/>
          </a:xfrm>
          <a:prstGeom prst="rect">
            <a:avLst/>
          </a:prstGeom>
          <a:noFill/>
          <a:ln/>
        </p:spPr>
        <p:txBody>
          <a:bodyPr wrap="square" lIns="0" tIns="0" rIns="0" bIns="0" rtlCol="0" anchor="t"/>
          <a:lstStyle/>
          <a:p>
            <a:pPr indent="0" marL="0">
              <a:spcAft>
                <a:spcPts val="400"/>
              </a:spcAft>
              <a:buNone/>
            </a:pPr>
            <a:r>
              <a:rPr lang="en-US" sz="1000" dirty="0">
                <a:solidFill>
                  <a:schemeClr val="tx1"/>
                </a:solidFill>
              </a:rPr>
              <a:t>51. Flaherty EG, Macmillan HL, et al. Caregiver-fabricated illness in a child: a manifestation of child maltreatment. Pediatrics. 2013;132(3):590-597. PMID 23979088. doi:10.1542/peds.2013-2045</a:t>
            </a:r>
            <a:endParaRPr lang="en-US" sz="1000" dirty="0"/>
          </a:p>
          <a:p>
            <a:pPr indent="0" marL="0">
              <a:spcAft>
                <a:spcPts val="400"/>
              </a:spcAft>
              <a:buNone/>
            </a:pPr>
            <a:r>
              <a:rPr lang="en-US" sz="1000" dirty="0">
                <a:solidFill>
                  <a:schemeClr val="tx1"/>
                </a:solidFill>
              </a:rPr>
              <a:t>52. Itriyeva K. Adolescents and cannabis in the 21st century: Current Problems in Pediatric and Adolescent Health Care. Current Problems in Pediatric and Adolescent Health Care. 2025;55(3):101754. PMID 40581515. doi:10.1016/j.cppeds.2025.101754</a:t>
            </a:r>
            <a:endParaRPr lang="en-US" sz="1000" dirty="0"/>
          </a:p>
          <a:p>
            <a:pPr indent="0" marL="0">
              <a:spcAft>
                <a:spcPts val="400"/>
              </a:spcAft>
              <a:buNone/>
            </a:pPr>
            <a:r>
              <a:rPr lang="en-US" sz="1000" dirty="0">
                <a:solidFill>
                  <a:schemeClr val="tx1"/>
                </a:solidFill>
              </a:rPr>
              <a:t>53. Kaul I, Burton-Murray H, Musaad S, et al. Avoidant/restrictive food intake disorder prevalence is high in children with gastroparesis and functional dyspepsia. Neurogastroenterology and Motility. 2024;36(5):e14777. PMID 38454301. doi:10.1111/nmo.14777</a:t>
            </a:r>
            <a:endParaRPr lang="en-US" sz="1000" dirty="0"/>
          </a:p>
          <a:p>
            <a:pPr indent="0" marL="0">
              <a:spcAft>
                <a:spcPts val="400"/>
              </a:spcAft>
              <a:buNone/>
            </a:pPr>
            <a:r>
              <a:rPr lang="en-US" sz="1000" dirty="0">
                <a:solidFill>
                  <a:schemeClr val="tx1"/>
                </a:solidFill>
              </a:rPr>
              <a:t>54. Onwuka AJ, Knaus ME, Lawrence AE, et al. Comparing the Evaluation of Abdominal Pain in Adolescent Females at a Pediatric vs General Emergency Department. Journal of pediatric and adolescent gynecology. 2022;35(5):562-566. PMID 35430344. doi:10.1016/j.jpag.2022.04.002</a:t>
            </a:r>
            <a:endParaRPr lang="en-US" sz="1000" dirty="0"/>
          </a:p>
          <a:p>
            <a:pPr indent="0" marL="0">
              <a:spcAft>
                <a:spcPts val="400"/>
              </a:spcAft>
              <a:buNone/>
            </a:pPr>
            <a:r>
              <a:rPr lang="en-US" sz="1000" dirty="0">
                <a:solidFill>
                  <a:schemeClr val="tx1"/>
                </a:solidFill>
              </a:rPr>
              <a:t>55. Karrento K, Rosen JM, Gelfand AA, et al. North American Society for Pediatric Gastroenterology, Hepatology, and Nutrition 2025 guidelines on the diagnosis of cyclic vomiting syndrome in children. Journal of Pediatric Gastroenterology and Nutrition. 2025;81(5):1346-1359. PMID 40836301. doi:10.1002/jpn3.70193</a:t>
            </a:r>
            <a:endParaRPr lang="en-US" sz="1000" dirty="0"/>
          </a:p>
          <a:p>
            <a:pPr indent="0" marL="0">
              <a:spcAft>
                <a:spcPts val="400"/>
              </a:spcAft>
              <a:buNone/>
            </a:pPr>
            <a:r>
              <a:rPr lang="en-US" sz="1000" dirty="0">
                <a:solidFill>
                  <a:schemeClr val="tx1"/>
                </a:solidFill>
              </a:rPr>
              <a:t>56. Wang S, Qiu X, Chen J, et al. Pediatric esophagogastroduodenoscopy in china: indications, diagnostic yield, and factors associated with findings. BMC Pediatrics. 2022;22(1):522. PMID 36056317. doi:10.1186/s12887-022-03558-x</a:t>
            </a:r>
            <a:endParaRPr lang="en-US" sz="1000" dirty="0"/>
          </a:p>
          <a:p>
            <a:pPr indent="0" marL="0">
              <a:spcAft>
                <a:spcPts val="400"/>
              </a:spcAft>
              <a:buNone/>
            </a:pPr>
            <a:r>
              <a:rPr lang="en-US" sz="1000" dirty="0">
                <a:solidFill>
                  <a:schemeClr val="tx1"/>
                </a:solidFill>
              </a:rPr>
              <a:t>57. Kovacic K, Li BUK. Cyclic vomiting syndrome: A narrative review and guide to management. Headache. 2021;61(2):231-243. PMID 33619730. doi:10.1111/head.14073</a:t>
            </a:r>
            <a:endParaRPr lang="en-US" sz="1000" dirty="0"/>
          </a:p>
          <a:p>
            <a:pPr indent="0" marL="0">
              <a:spcAft>
                <a:spcPts val="400"/>
              </a:spcAft>
              <a:buNone/>
            </a:pPr>
            <a:r>
              <a:rPr lang="en-US" sz="1000" dirty="0">
                <a:solidFill>
                  <a:schemeClr val="tx1"/>
                </a:solidFill>
              </a:rPr>
              <a:t>58. Moses J, Keilman A, Worley S, et al. Approach to the diagnosis and treatment of cyclic vomiting syndrome: a large single-center experience with 106 patients. Pediatric Neurology. 2014;50(6):569-573. PMID 24842256. doi:10.1016/j.pediatrneurol.2014.02.009</a:t>
            </a:r>
            <a:endParaRPr lang="en-US" sz="1000" dirty="0"/>
          </a:p>
          <a:p>
            <a:pPr indent="0" marL="0">
              <a:spcAft>
                <a:spcPts val="400"/>
              </a:spcAft>
              <a:buNone/>
            </a:pPr>
            <a:r>
              <a:rPr lang="en-US" sz="1000" dirty="0">
                <a:solidFill>
                  <a:schemeClr val="tx1"/>
                </a:solidFill>
              </a:rPr>
              <a:t>59. Reedy RA, Filipp SL, Gurka MJ, et al. Utility of Esophagogastroduodenoscopy in the Evaluation of Uncomplicated Abdominal Pain in Children. Global Pediatric Health. 2019;6:2333794X19898345. PMID 35211650. doi:10.1177/2333794X19898345</a:t>
            </a:r>
            <a:endParaRPr lang="en-US" sz="1000" dirty="0"/>
          </a:p>
          <a:p>
            <a:pPr indent="0" marL="0">
              <a:spcAft>
                <a:spcPts val="400"/>
              </a:spcAft>
              <a:buNone/>
            </a:pPr>
            <a:r>
              <a:rPr lang="en-US" sz="1000" dirty="0">
                <a:solidFill>
                  <a:schemeClr val="tx1"/>
                </a:solidFill>
              </a:rPr>
              <a:t>60. Rosen R, Garza JM, Tipnis N, et al. An ANMS-NASPGHAN consensus document on esophageal and antroduodenal manometry in children. Neurogastroenterology and Motility. 2018;30(3). PMID 29178261. doi:10.1111/nmo.13239</a:t>
            </a:r>
            <a:endParaRPr lang="en-US" sz="10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1672" cy="548640"/>
          </a:xfrm>
          <a:prstGeom prst="rect">
            <a:avLst/>
          </a:prstGeom>
          <a:noFill/>
          <a:ln/>
        </p:spPr>
        <p:txBody>
          <a:bodyPr wrap="square" lIns="0" tIns="0" rIns="0" bIns="0" rtlCol="0"/>
          <a:lstStyle/>
          <a:p>
            <a:pPr algn="l" indent="0" marL="0">
              <a:buNone/>
            </a:pPr>
            <a:r>
              <a:rPr lang="en-US" sz="2400" b="1" dirty="0">
                <a:solidFill>
                  <a:schemeClr val="tx1"/>
                </a:solidFill>
              </a:rPr>
              <a:t>Kaynaklar (4/5)</a:t>
            </a:r>
            <a:endParaRPr lang="en-US" sz="2400" dirty="0"/>
          </a:p>
        </p:txBody>
      </p:sp>
      <p:sp>
        <p:nvSpPr>
          <p:cNvPr id="3" name="kaynak-261"/>
          <p:cNvSpPr txBox="1"/>
          <p:nvPr/>
        </p:nvSpPr>
        <p:spPr>
          <a:xfrm>
            <a:off x="548640" y="1325880"/>
            <a:ext cx="5440680" cy="4846320"/>
          </a:xfrm>
          <a:prstGeom prst="rect">
            <a:avLst/>
          </a:prstGeom>
          <a:noFill/>
          <a:ln/>
        </p:spPr>
        <p:txBody>
          <a:bodyPr wrap="square" lIns="0" tIns="0" rIns="0" bIns="0" rtlCol="0" anchor="t"/>
          <a:lstStyle/>
          <a:p>
            <a:pPr indent="0" marL="0">
              <a:spcAft>
                <a:spcPts val="400"/>
              </a:spcAft>
              <a:buNone/>
            </a:pPr>
            <a:r>
              <a:rPr lang="en-US" sz="1000" dirty="0">
                <a:solidFill>
                  <a:schemeClr val="tx1"/>
                </a:solidFill>
              </a:rPr>
              <a:t>61. Puoti MG, Safe M, Thapar N, et al. The role of high-resolution impedance manometry to identify rumination syndrome in children with unexplained foregut symptoms. Journal of Pediatric Gastroenterology and Nutrition. 2024;78(5):1082-1090. PMID 38385686. doi:10.1002/jpn3.12164</a:t>
            </a:r>
            <a:endParaRPr lang="en-US" sz="1000" dirty="0"/>
          </a:p>
          <a:p>
            <a:pPr indent="0" marL="0">
              <a:spcAft>
                <a:spcPts val="400"/>
              </a:spcAft>
              <a:buNone/>
            </a:pPr>
            <a:r>
              <a:rPr lang="en-US" sz="1000" dirty="0">
                <a:solidFill>
                  <a:schemeClr val="tx1"/>
                </a:solidFill>
              </a:rPr>
              <a:t>62. Malik R, Srivastava A, Gambhir S, et al. Assessment of gastric emptying in children: Establishment of control values utilizing a standardized vegetarian meal. Journal of Gastroenterology and Hepatology. 2016;31(2):319-325. PMID 26267844. doi:10.1111/jgh.13145</a:t>
            </a:r>
            <a:endParaRPr lang="en-US" sz="1000" dirty="0"/>
          </a:p>
          <a:p>
            <a:pPr indent="0" marL="0">
              <a:spcAft>
                <a:spcPts val="400"/>
              </a:spcAft>
              <a:buNone/>
            </a:pPr>
            <a:r>
              <a:rPr lang="en-US" sz="1000" dirty="0">
                <a:solidFill>
                  <a:schemeClr val="tx1"/>
                </a:solidFill>
              </a:rPr>
              <a:t>63. Wong GK, Shulman RJ, Chumpitazi BP. Gastric emptying scintigraphy results in children are affected by age, anthropometric factors, and study duration. Neurogastroenterology and Motility. 2015;27(3):356-362. PMID 25557417. doi:10.1111/nmo.12499</a:t>
            </a:r>
            <a:endParaRPr lang="en-US" sz="1000" dirty="0"/>
          </a:p>
          <a:p>
            <a:pPr indent="0" marL="0">
              <a:spcAft>
                <a:spcPts val="400"/>
              </a:spcAft>
              <a:buNone/>
            </a:pPr>
            <a:r>
              <a:rPr lang="en-US" sz="1000" dirty="0">
                <a:solidFill>
                  <a:schemeClr val="tx1"/>
                </a:solidFill>
              </a:rPr>
              <a:t>64. Puoti MG, Pascuzzi MC, Biassoni L, et al. Role of Gastric Motor Abnormalities in Pathophysiology of Rumination Syndrome in Children. Neurogastroenterology and Motility. 2026;38(1):e70239. PMID 41553265. doi:10.1111/nmo.70239</a:t>
            </a:r>
            <a:endParaRPr lang="en-US" sz="1000" dirty="0"/>
          </a:p>
          <a:p>
            <a:pPr indent="0" marL="0">
              <a:spcAft>
                <a:spcPts val="400"/>
              </a:spcAft>
              <a:buNone/>
            </a:pPr>
            <a:r>
              <a:rPr lang="en-US" sz="1000" dirty="0">
                <a:solidFill>
                  <a:schemeClr val="tx1"/>
                </a:solidFill>
              </a:rPr>
              <a:t>65. Lucia-Casadonte CJ, Whaley KG, Chogle AS. Yield and Costs of Evaluating Children With Cyclic Vomiting Syndrome. Journal of Pediatric Gastroenterology and Nutrition. 2018;67(1):13-17. PMID 29373437. doi:10.1097/MPG.0000000000001901</a:t>
            </a:r>
            <a:endParaRPr lang="en-US" sz="1000" dirty="0"/>
          </a:p>
          <a:p>
            <a:pPr indent="0" marL="0">
              <a:spcAft>
                <a:spcPts val="400"/>
              </a:spcAft>
              <a:buNone/>
            </a:pPr>
            <a:r>
              <a:rPr lang="en-US" sz="1000" dirty="0">
                <a:solidFill>
                  <a:schemeClr val="tx1"/>
                </a:solidFill>
              </a:rPr>
              <a:t>66. Tarbell SE, Sullivan EC, Meegan C, et al. Children with Functional Nausea-Comorbidities outside the Gastrointestinal Tract. The Journal of Pediatrics. 2020;225:103-108.e1. PMID 32532651. doi:10.1016/j.jpeds.2020.04.019</a:t>
            </a:r>
            <a:endParaRPr lang="en-US" sz="1000" dirty="0"/>
          </a:p>
          <a:p>
            <a:pPr indent="0" marL="0">
              <a:spcAft>
                <a:spcPts val="400"/>
              </a:spcAft>
              <a:buNone/>
            </a:pPr>
            <a:r>
              <a:rPr lang="en-US" sz="1000" dirty="0">
                <a:solidFill>
                  <a:schemeClr val="tx1"/>
                </a:solidFill>
              </a:rPr>
              <a:t>67. Rosen R, Benninga M, Di Lorenzo C, et al. The Road from Rome V to the Pediatric Clinic: New Perspectives in 2026. The American Journal of Gastroenterology. 2026. PMID 42554323. doi:10.14309/ajg.0000000000004181</a:t>
            </a:r>
            <a:endParaRPr lang="en-US" sz="1000" dirty="0"/>
          </a:p>
          <a:p>
            <a:pPr indent="0" marL="0">
              <a:spcAft>
                <a:spcPts val="400"/>
              </a:spcAft>
              <a:buNone/>
            </a:pPr>
            <a:r>
              <a:rPr lang="en-US" sz="1000" dirty="0">
                <a:solidFill>
                  <a:schemeClr val="tx1"/>
                </a:solidFill>
              </a:rPr>
              <a:t>68. Di Lorenzo C, Saps M, Chumpitazi BP, et al. Lower and Biliary Disorders of Gut-Brain Interaction: Child and Adolescent. Gastroenterology. 2026;170(6):1367-1387. PMID 41713707. doi:10.1053/j.gastro.2026.01.036</a:t>
            </a:r>
            <a:endParaRPr lang="en-US" sz="1000" dirty="0"/>
          </a:p>
          <a:p>
            <a:pPr indent="0" marL="0">
              <a:spcAft>
                <a:spcPts val="400"/>
              </a:spcAft>
              <a:buNone/>
            </a:pPr>
            <a:r>
              <a:rPr lang="en-US" sz="1000" dirty="0">
                <a:solidFill>
                  <a:schemeClr val="tx1"/>
                </a:solidFill>
              </a:rPr>
              <a:t>69. Krueger A, Patel U, Hardy J, et al. The prevalence and predictive factors of overlapping disorders of gut-brain interaction and celiac disease in children. Journal of Pediatric Gastroenterology and Nutrition. 2025;81(3):596-605. PMID 40544377. doi:10.1002/jpn3.70118</a:t>
            </a:r>
            <a:endParaRPr lang="en-US" sz="1000" dirty="0"/>
          </a:p>
          <a:p>
            <a:pPr indent="0" marL="0">
              <a:spcAft>
                <a:spcPts val="400"/>
              </a:spcAft>
              <a:buNone/>
            </a:pPr>
            <a:r>
              <a:rPr lang="en-US" sz="1000" dirty="0">
                <a:solidFill>
                  <a:schemeClr val="tx1"/>
                </a:solidFill>
              </a:rPr>
              <a:t>70. Sperber AD, Hreinsson JP, Simrén M, et al. Rome V global epidemiology and validation survey: prevalence of disorders of gut-brain interaction and comparison with the Rome IV global epidemiology study. Gut. 2026;75(10):1887-1897. PMID 42613194. doi:10.1136/gutjnl-2026-339666</a:t>
            </a:r>
            <a:endParaRPr lang="en-US" sz="1000" dirty="0"/>
          </a:p>
        </p:txBody>
      </p:sp>
      <p:sp>
        <p:nvSpPr>
          <p:cNvPr id="4" name="kaynak-262"/>
          <p:cNvSpPr txBox="1"/>
          <p:nvPr/>
        </p:nvSpPr>
        <p:spPr>
          <a:xfrm>
            <a:off x="6217920" y="1325880"/>
            <a:ext cx="5440680" cy="4846320"/>
          </a:xfrm>
          <a:prstGeom prst="rect">
            <a:avLst/>
          </a:prstGeom>
          <a:noFill/>
          <a:ln/>
        </p:spPr>
        <p:txBody>
          <a:bodyPr wrap="square" lIns="0" tIns="0" rIns="0" bIns="0" rtlCol="0" anchor="t"/>
          <a:lstStyle/>
          <a:p>
            <a:pPr indent="0" marL="0">
              <a:spcAft>
                <a:spcPts val="400"/>
              </a:spcAft>
              <a:buNone/>
            </a:pPr>
            <a:r>
              <a:rPr lang="en-US" sz="1000" dirty="0">
                <a:solidFill>
                  <a:schemeClr val="tx1"/>
                </a:solidFill>
              </a:rPr>
              <a:t>71. Altuntaş C, Sevinçok D, Hilal Dolu M, et al. Lifestyle and SSRI Interventions in Pediatric Cyclic Vomiting Syndrome: Rethinking First-Line Management. Children (Basel, Switzerland). 2025;12(8). PMID 40868416. doi:10.3390/children12080964</a:t>
            </a:r>
            <a:endParaRPr lang="en-US" sz="1000" dirty="0"/>
          </a:p>
          <a:p>
            <a:pPr indent="0" marL="0">
              <a:spcAft>
                <a:spcPts val="400"/>
              </a:spcAft>
              <a:buNone/>
            </a:pPr>
            <a:r>
              <a:rPr lang="en-US" sz="1000" dirty="0">
                <a:solidFill>
                  <a:schemeClr val="tx1"/>
                </a:solidFill>
              </a:rPr>
              <a:t>72. Karrento K, Rosen JM, Tarbell SE, et al. North American Society for Pediatric Gastroenterology, Hepatology, and Nutrition 2025 guidelines for management of cyclic vomiting syndrome in children. Journal of Pediatric Gastroenterology and Nutrition. 2025;80(6):1028-1061. PMID 40223700. doi:10.1002/jpn3.70020</a:t>
            </a:r>
            <a:endParaRPr lang="en-US" sz="1000" dirty="0"/>
          </a:p>
          <a:p>
            <a:pPr indent="0" marL="0">
              <a:spcAft>
                <a:spcPts val="400"/>
              </a:spcAft>
              <a:buNone/>
            </a:pPr>
            <a:r>
              <a:rPr lang="en-US" sz="1000" dirty="0">
                <a:solidFill>
                  <a:schemeClr val="tx1"/>
                </a:solidFill>
              </a:rPr>
              <a:t>73. Hernandez YN, Gardner HM. Clinical guidelines highlight for the hospitalist: Management of cyclic vomiting syndrome in children. Journal of hospital medicine. 2025;21(3):291-293. PMID 41054967. doi:10.1002/jhm.70190</a:t>
            </a:r>
            <a:endParaRPr lang="en-US" sz="1000" dirty="0"/>
          </a:p>
          <a:p>
            <a:pPr indent="0" marL="0">
              <a:spcAft>
                <a:spcPts val="400"/>
              </a:spcAft>
              <a:buNone/>
            </a:pPr>
            <a:r>
              <a:rPr lang="en-US" sz="1000" dirty="0">
                <a:solidFill>
                  <a:schemeClr val="tx1"/>
                </a:solidFill>
              </a:rPr>
              <a:t>74. Badihian N, Saneian H, Badihian S, et al. Prophylactic Therapy of Cyclic Vomiting Syndrome in Children: Comparison of Amitriptyline and Cyproheptadine: A Randomized Clinical Trial. The American journal of gastroenterology. 2017;113(1):135-140. PMID 28719594. doi:10.1038/ajg.2017.194</a:t>
            </a:r>
            <a:endParaRPr lang="en-US" sz="1000" dirty="0"/>
          </a:p>
          <a:p>
            <a:pPr indent="0" marL="0">
              <a:spcAft>
                <a:spcPts val="400"/>
              </a:spcAft>
              <a:buNone/>
            </a:pPr>
            <a:r>
              <a:rPr lang="en-US" sz="1000" dirty="0">
                <a:solidFill>
                  <a:schemeClr val="tx1"/>
                </a:solidFill>
              </a:rPr>
              <a:t>75. Cristofori F, Thapar N, Saliakellis E, et al. Efficacy of the neurokinin-1 receptor antagonist aprepitant in children with cyclical vomiting syndrome. Alimentary pharmacology &amp; therapeutics. 2014;40(3):309-17. PMID 24898244. doi:10.1111/apt.12822</a:t>
            </a:r>
            <a:endParaRPr lang="en-US" sz="1000" dirty="0"/>
          </a:p>
          <a:p>
            <a:pPr indent="0" marL="0">
              <a:spcAft>
                <a:spcPts val="400"/>
              </a:spcAft>
              <a:buNone/>
            </a:pPr>
            <a:r>
              <a:rPr lang="en-US" sz="1000" dirty="0">
                <a:solidFill>
                  <a:schemeClr val="tx1"/>
                </a:solidFill>
              </a:rPr>
              <a:t>76. Bagherian Z, Yaghini O, Saneian H, et al. Comparison of the Efficacy of Amitriptyline and Topiramate in Prophylaxis of Cyclic Vomiting Syndrome. Iranian journal of child neurology. 2019;13(1):37-44. PMID 30613204</a:t>
            </a:r>
            <a:endParaRPr lang="en-US" sz="1000" dirty="0"/>
          </a:p>
          <a:p>
            <a:pPr indent="0" marL="0">
              <a:spcAft>
                <a:spcPts val="400"/>
              </a:spcAft>
              <a:buNone/>
            </a:pPr>
            <a:r>
              <a:rPr lang="en-US" sz="1000" dirty="0">
                <a:solidFill>
                  <a:schemeClr val="tx1"/>
                </a:solidFill>
              </a:rPr>
              <a:t>77. Sezer OB, Sezer T. A New Approach to the Prophylaxis of Cyclic Vomiting: Topiramate. Journal of neurogastroenterology and motility. 2016;22(4):656-660. PMID 27302967. doi:10.5056/jnm16035</a:t>
            </a:r>
            <a:endParaRPr lang="en-US" sz="1000" dirty="0"/>
          </a:p>
          <a:p>
            <a:pPr indent="0" marL="0">
              <a:spcAft>
                <a:spcPts val="400"/>
              </a:spcAft>
              <a:buNone/>
            </a:pPr>
            <a:r>
              <a:rPr lang="en-US" sz="1000" dirty="0">
                <a:solidFill>
                  <a:schemeClr val="tx1"/>
                </a:solidFill>
              </a:rPr>
              <a:t>78. Karrento K, Venkatesan T, Zhang L, et al. Percutaneous Electrical Nerve Field Stimulation for Drug-Refractory Pediatric Cyclic Vomiting Syndrome. Journal of pediatric gastroenterology and nutrition. 2023;77(3):347-353. PMID 37364137. doi:10.1097/MPG.0000000000003876</a:t>
            </a:r>
            <a:endParaRPr lang="en-US" sz="1000" dirty="0"/>
          </a:p>
          <a:p>
            <a:pPr indent="0" marL="0">
              <a:spcAft>
                <a:spcPts val="400"/>
              </a:spcAft>
              <a:buNone/>
            </a:pPr>
            <a:r>
              <a:rPr lang="en-US" sz="1000" dirty="0">
                <a:solidFill>
                  <a:schemeClr val="tx1"/>
                </a:solidFill>
              </a:rPr>
              <a:t>79. Martinez M, Rathod S, Friesen HJ, et al. Rumination Syndrome in Children and Adolescents: A Mini Review. Frontiers in Pediatrics. 2021;9:709326. PMID 34490165. doi:10.3389/fped.2021.709326</a:t>
            </a:r>
            <a:endParaRPr lang="en-US" sz="1000" dirty="0"/>
          </a:p>
          <a:p>
            <a:pPr indent="0" marL="0">
              <a:spcAft>
                <a:spcPts val="400"/>
              </a:spcAft>
              <a:buNone/>
            </a:pPr>
            <a:r>
              <a:rPr lang="en-US" sz="1000" dirty="0">
                <a:solidFill>
                  <a:schemeClr val="tx1"/>
                </a:solidFill>
              </a:rPr>
              <a:t>80. Lamparyk K, Stephens TN. Protocol and Outcome Evaluation of Comprehensive Outpatient Treatment of Adolescent Rumination Syndrome. Journal of pediatric gastroenterology and nutrition. 2022;75(3):e38-e42. PMID 35687569. doi:10.1097/MPG.0000000000003524</a:t>
            </a:r>
            <a:endParaRPr lang="en-US" sz="10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1672" cy="548640"/>
          </a:xfrm>
          <a:prstGeom prst="rect">
            <a:avLst/>
          </a:prstGeom>
          <a:noFill/>
          <a:ln/>
        </p:spPr>
        <p:txBody>
          <a:bodyPr wrap="square" lIns="0" tIns="0" rIns="0" bIns="0" rtlCol="0"/>
          <a:lstStyle/>
          <a:p>
            <a:pPr algn="l" indent="0" marL="0">
              <a:buNone/>
            </a:pPr>
            <a:r>
              <a:rPr lang="en-US" sz="2400" b="1" dirty="0">
                <a:solidFill>
                  <a:schemeClr val="tx1"/>
                </a:solidFill>
              </a:rPr>
              <a:t>Kaynaklar (5/5)</a:t>
            </a:r>
            <a:endParaRPr lang="en-US" sz="2400" dirty="0"/>
          </a:p>
        </p:txBody>
      </p:sp>
      <p:sp>
        <p:nvSpPr>
          <p:cNvPr id="3" name="kaynak-263"/>
          <p:cNvSpPr txBox="1"/>
          <p:nvPr/>
        </p:nvSpPr>
        <p:spPr>
          <a:xfrm>
            <a:off x="548640" y="1325880"/>
            <a:ext cx="5440680" cy="4846320"/>
          </a:xfrm>
          <a:prstGeom prst="rect">
            <a:avLst/>
          </a:prstGeom>
          <a:noFill/>
          <a:ln/>
        </p:spPr>
        <p:txBody>
          <a:bodyPr wrap="square" lIns="0" tIns="0" rIns="0" bIns="0" rtlCol="0" anchor="t"/>
          <a:lstStyle/>
          <a:p>
            <a:pPr indent="0" marL="0">
              <a:spcAft>
                <a:spcPts val="400"/>
              </a:spcAft>
              <a:buNone/>
            </a:pPr>
            <a:r>
              <a:rPr lang="en-US" sz="1000" dirty="0">
                <a:solidFill>
                  <a:schemeClr val="tx1"/>
                </a:solidFill>
              </a:rPr>
              <a:t>81. Barba E, Accarino A, Soldevilla A, et al. Randomized, Placebo-Controlled Trial of Biofeedback for the Treatment of Rumination. The American journal of gastroenterology. 2016;111(7):1007-13. PMID 27185077. doi:10.1038/ajg.2016.197</a:t>
            </a:r>
            <a:endParaRPr lang="en-US" sz="1000" dirty="0"/>
          </a:p>
          <a:p>
            <a:pPr indent="0" marL="0">
              <a:spcAft>
                <a:spcPts val="400"/>
              </a:spcAft>
              <a:buNone/>
            </a:pPr>
            <a:r>
              <a:rPr lang="en-US" sz="1000" dirty="0">
                <a:solidFill>
                  <a:schemeClr val="tx1"/>
                </a:solidFill>
              </a:rPr>
              <a:t>82. Pauwels A, Broers C, Van Houtte B, et al. A Randomized Double-Blind, Placebo-Controlled, Cross-Over Study Using Baclofen in the Treatment of Rumination Syndrome. The American journal of gastroenterology. 2017;113(1):97-104. PMID 29206813. doi:10.1038/ajg.2017.441</a:t>
            </a:r>
            <a:endParaRPr lang="en-US" sz="1000" dirty="0"/>
          </a:p>
          <a:p>
            <a:pPr indent="0" marL="0">
              <a:spcAft>
                <a:spcPts val="400"/>
              </a:spcAft>
              <a:buNone/>
            </a:pPr>
            <a:r>
              <a:rPr lang="en-US" sz="1000" dirty="0">
                <a:solidFill>
                  <a:schemeClr val="tx1"/>
                </a:solidFill>
              </a:rPr>
              <a:t>83. Browne PD, Nagelkerke SCJ, van Etten-Jamaludin FS, et al. Pharmacological treatments for functional nausea and functional dyspepsia in children: a systematic review. Expert review of clinical pharmacology. 2018;11(12):1195-1208. PMID 30360666. doi:10.1080/17512433.2018.1540298</a:t>
            </a:r>
            <a:endParaRPr lang="en-US" sz="1000" dirty="0"/>
          </a:p>
          <a:p>
            <a:pPr indent="0" marL="0">
              <a:spcAft>
                <a:spcPts val="400"/>
              </a:spcAft>
              <a:buNone/>
            </a:pPr>
            <a:r>
              <a:rPr lang="en-US" sz="1000" dirty="0">
                <a:solidFill>
                  <a:schemeClr val="tx1"/>
                </a:solidFill>
              </a:rPr>
              <a:t>84. Saps M, Youssef N, Miranda A, et al. Multicenter, randomized, placebo-controlled trial of amitriptyline in children with functional gastrointestinal disorders. Gastroenterology. 2009;137(4):1261-9. PMID 19596010. doi:10.1053/j.gastro.2009.06.060</a:t>
            </a:r>
            <a:endParaRPr lang="en-US" sz="1000" dirty="0"/>
          </a:p>
          <a:p>
            <a:pPr indent="0" marL="0">
              <a:spcAft>
                <a:spcPts val="400"/>
              </a:spcAft>
              <a:buNone/>
            </a:pPr>
            <a:r>
              <a:rPr lang="en-US" sz="1000" dirty="0">
                <a:solidFill>
                  <a:schemeClr val="tx1"/>
                </a:solidFill>
              </a:rPr>
              <a:t>85. Browne PD, de Bruijn CMA, Speksnijder EM, et al. Skills or Pills: Randomized Trial Comparing Hypnotherapy to Medical Treatment in Children With Functional Nausea. Clinical gastroenterology and hepatology : the official clinical practice journal of the American Gastroenterological Association. 2021;20(8):1847-1856.e6. PMID 34718171. doi:10.1016/j.cgh.2021.10.029</a:t>
            </a:r>
            <a:endParaRPr lang="en-US" sz="1000" dirty="0"/>
          </a:p>
          <a:p>
            <a:pPr indent="0" marL="0">
              <a:spcAft>
                <a:spcPts val="400"/>
              </a:spcAft>
              <a:buNone/>
            </a:pPr>
            <a:r>
              <a:rPr lang="en-US" sz="1000" dirty="0">
                <a:solidFill>
                  <a:schemeClr val="tx1"/>
                </a:solidFill>
              </a:rPr>
              <a:t>86. Iglesias-Escabi IM, Kleesattel D, McDaniel LS, et al. Effect of Mirtazapine on Nausea in Children with Functional Nausea and Functional Dyspepsia Postprandial Distress Syndrome. Paediatric drugs. 2022;24(2):155-161. PMID 35188625. doi:10.1007/s40272-022-00494-2</a:t>
            </a:r>
            <a:endParaRPr lang="en-US" sz="1000" dirty="0"/>
          </a:p>
          <a:p>
            <a:pPr indent="0" marL="0">
              <a:spcAft>
                <a:spcPts val="400"/>
              </a:spcAft>
              <a:buNone/>
            </a:pPr>
            <a:r>
              <a:rPr lang="en-US" sz="1000" dirty="0">
                <a:solidFill>
                  <a:schemeClr val="tx1"/>
                </a:solidFill>
              </a:rPr>
              <a:t>87. Abdulkader ZM, Bali N, Vaz K, et al. Predictors of Hospital Admission for Pediatric Cyclic Vomiting Syndrome. The Journal of pediatrics. 2020;232:154-158. PMID 33259858. doi:10.1016/j.jpeds.2020.11.055</a:t>
            </a:r>
            <a:endParaRPr lang="en-US" sz="1000" dirty="0"/>
          </a:p>
          <a:p>
            <a:pPr indent="0" marL="0">
              <a:spcAft>
                <a:spcPts val="400"/>
              </a:spcAft>
              <a:buNone/>
            </a:pPr>
            <a:r>
              <a:rPr lang="en-US" sz="1000" dirty="0">
                <a:solidFill>
                  <a:schemeClr val="tx1"/>
                </a:solidFill>
              </a:rPr>
              <a:t>88. Venkatesan T, Levinthal DJ, Tarbell SE, et al. Guidelines on management of cyclic vomiting syndrome in adults by the American Neurogastroenterology and Motility Society and the Cyclic Vomiting Syndrome Association. Neurogastroenterology and motility. 2019;31 Suppl 2:e13604. PMID 31241819. doi:10.1111/nmo.13604</a:t>
            </a:r>
            <a:endParaRPr lang="en-US" sz="1000" dirty="0"/>
          </a:p>
        </p:txBody>
      </p:sp>
      <p:sp>
        <p:nvSpPr>
          <p:cNvPr id="25" name="Slide Number Placeholder 0"/>
          <p:cNvSpPr>
            <a:spLocks noGrp="1"/>
          </p:cNvSpPr>
          <p:nvPr>
            <p:ph type="sldNum" sz="quarter" idx="4294967295"/>
          </p:nvPr>
        </p:nvSpPr>
        <p:spPr>
          <a:xfrm>
            <a:off x="11109960" y="6272784"/>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3"/>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lIns="0" tIns="0" rIns="0" bIns="0" rtlCol="0" anchor="b"/>
          <a:lstStyle/>
          <a:p>
            <a:pPr algn="l" indent="0" marL="0">
              <a:buNone/>
            </a:pPr>
            <a:r>
              <a:rPr lang="en-US" sz="4000" b="1" dirty="0">
                <a:solidFill>
                  <a:schemeClr val="bg1"/>
                </a:solidFill>
              </a:rPr>
              <a:t>Teşekkürler</a:t>
            </a:r>
            <a:endParaRPr lang="en-US" sz="4000" dirty="0"/>
          </a:p>
        </p:txBody>
      </p:sp>
      <p:sp>
        <p:nvSpPr>
          <p:cNvPr id="3" name="Text 0"/>
          <p:cNvSpPr/>
          <p:nvPr>
            <p:ph idx="101" type="body" hasCustomPrompt="1"/>
          </p:nvPr>
        </p:nvSpPr>
        <p:spPr>
          <a:xfrm>
            <a:off x="731520" y="3657600"/>
            <a:ext cx="10698480" cy="640080"/>
          </a:xfrm>
          <a:prstGeom prst="rect">
            <a:avLst/>
          </a:prstGeom>
          <a:noFill/>
          <a:ln/>
        </p:spPr>
        <p:txBody>
          <a:bodyPr wrap="square" lIns="0" tIns="0" rIns="0" bIns="0" rtlCol="0"/>
          <a:lstStyle/>
          <a:p>
            <a:pPr indent="0" marL="0">
              <a:buNone/>
            </a:pPr>
            <a:r>
              <a:rPr lang="en-US" sz="2200" dirty="0">
                <a:solidFill>
                  <a:schemeClr val="accent5"/>
                </a:solidFill>
              </a:rPr>
              <a:t>Sorular ve tartışma</a:t>
            </a:r>
            <a:endParaRPr lang="en-US" sz="2200" dirty="0"/>
          </a:p>
        </p:txBody>
      </p:sp>
      <p:sp>
        <p:nvSpPr>
          <p:cNvPr id="4" name="not-264"/>
          <p:cNvSpPr txBox="1"/>
          <p:nvPr/>
        </p:nvSpPr>
        <p:spPr>
          <a:xfrm>
            <a:off x="548640" y="6035040"/>
            <a:ext cx="914400" cy="274320"/>
          </a:xfrm>
          <a:prstGeom prst="rect">
            <a:avLst/>
          </a:prstGeom>
          <a:noFill/>
          <a:ln/>
        </p:spPr>
        <p:txBody>
          <a:bodyPr wrap="square" lIns="0" tIns="0" rIns="0" bIns="0" rtlCol="0" anchor="ctr"/>
          <a:lstStyle/>
          <a:p>
            <a:pPr indent="0" marL="0">
              <a:buNone/>
            </a:pPr>
            <a:r>
              <a:rPr lang="en-US" sz="1000" dirty="0">
                <a:solidFill>
                  <a:schemeClr val="accent5"/>
                </a:solidFill>
              </a:rPr>
              <a:t> </a:t>
            </a:r>
            <a:endParaRPr lang="en-US" sz="1000" dirty="0"/>
          </a:p>
        </p:txBody>
      </p:sp>
      <p:sp>
        <p:nvSpPr>
          <p:cNvPr id="5" name="Text 0"/>
          <p:cNvSpPr/>
          <p:nvPr>
            <p:ph idx="102" type="body" hasCustomPrompt="1"/>
          </p:nvPr>
        </p:nvSpPr>
        <p:spPr>
          <a:xfrm>
            <a:off x="731520" y="5120640"/>
            <a:ext cx="10698480" cy="822960"/>
          </a:xfrm>
          <a:prstGeom prst="rect">
            <a:avLst/>
          </a:prstGeom>
          <a:noFill/>
          <a:ln/>
        </p:spPr>
        <p:txBody>
          <a:bodyPr wrap="square" lIns="0" tIns="0" rIns="0" bIns="0" rtlCol="0"/>
          <a:lstStyle/>
          <a:p>
            <a:pPr indent="0" marL="0">
              <a:buNone/>
            </a:pPr>
            <a:endParaRPr lang="en-US" sz="1600" dirty="0"/>
          </a:p>
        </p:txBody>
      </p:sp>
    </p:spTree>
  </p:cSld>
  <p:clrMapOvr>
    <a:masterClrMapping/>
  </p:clrMapOvr>
</p:sld>
</file>

<file path=ppt/theme/theme1.xml><?xml version="1.0" encoding="utf-8"?>
<a:theme xmlns:a="http://schemas.openxmlformats.org/drawingml/2006/main" name="Kronik Kusma">
  <a:themeElements>
    <a:clrScheme name="Kronik Kusma">
      <a:dk1>
        <a:srgbClr val="1D2B33"/>
      </a:dk1>
      <a:lt1>
        <a:srgbClr val="FFFFFF"/>
      </a:lt1>
      <a:dk2>
        <a:srgbClr val="0E5A5F"/>
      </a:dk2>
      <a:lt2>
        <a:srgbClr val="EAF4F2"/>
      </a:lt2>
      <a:accent1>
        <a:srgbClr val="00938A"/>
      </a:accent1>
      <a:accent2>
        <a:srgbClr val="D9573B"/>
      </a:accent2>
      <a:accent3>
        <a:srgbClr val="E9B44C"/>
      </a:accent3>
      <a:accent4>
        <a:srgbClr val="5B6B73"/>
      </a:accent4>
      <a:accent5>
        <a:srgbClr val="BFDCD8"/>
      </a:accent5>
      <a:accent6>
        <a:srgbClr val="F8E1D9"/>
      </a:accent6>
      <a:hlink>
        <a:srgbClr val="0E5A5F"/>
      </a:hlink>
      <a:folHlink>
        <a:srgbClr val="5B6B73"/>
      </a:folHlink>
    </a:clrScheme>
    <a:fontScheme name="Kronik Kusm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Kronik Tekrarlayan Kusması Olan Çocuğa Yaklaşım</dc:title>
  <dc:subject>Çocuk gastroenterolojisi</dc:subject>
  <dc:creator>Kongre sunumu</dc:creator>
  <cp:lastModifiedBy>Kongre sunumu</cp:lastModifiedBy>
  <cp:revision>1</cp:revision>
  <dcterms:created xsi:type="dcterms:W3CDTF">2026-10-14T13:44:26Z</dcterms:created>
  <dcterms:modified xsi:type="dcterms:W3CDTF">2026-10-14T13:44:26Z</dcterms:modified>
</cp:coreProperties>
</file>