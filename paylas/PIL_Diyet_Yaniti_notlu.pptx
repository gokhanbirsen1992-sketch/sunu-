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5c619f1a20f24ba0" Type="http://schemas.openxmlformats.org/officeDocument/2006/relationships/extended-properties" Target="docProps/app.xml"/><Relationship Id="Rb25a3b5ad423425c" Type="http://schemas.openxmlformats.org/package/2006/relationships/metadata/core-properties" Target="docProps/core.xml"/><Relationship Id="Rfaf1e8003f03459f"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a2175b32d06849d6"/>
  </p:sldMasterIdLst>
  <p:notesMasterIdLst>
    <p:notesMasterId xmlns:r="http://schemas.openxmlformats.org/officeDocument/2006/relationships" r:id="Rb2d65e7b928047d0"/>
  </p:notesMasterIdLst>
  <p:sldIdLst>
    <p:sldId xmlns:r="http://schemas.openxmlformats.org/officeDocument/2006/relationships" id="256" r:id="Rea3932a94d99463b"/>
    <p:sldId xmlns:r="http://schemas.openxmlformats.org/officeDocument/2006/relationships" id="257" r:id="R269cfecb32904a11"/>
    <p:sldId xmlns:r="http://schemas.openxmlformats.org/officeDocument/2006/relationships" id="258" r:id="R8a57044d033f4bc2"/>
    <p:sldId xmlns:r="http://schemas.openxmlformats.org/officeDocument/2006/relationships" id="259" r:id="R93afaaba1c684754"/>
    <p:sldId xmlns:r="http://schemas.openxmlformats.org/officeDocument/2006/relationships" id="260" r:id="R33993ea5254a4d33"/>
    <p:sldId xmlns:r="http://schemas.openxmlformats.org/officeDocument/2006/relationships" id="261" r:id="R0fc7e80ec0614c59"/>
    <p:sldId xmlns:r="http://schemas.openxmlformats.org/officeDocument/2006/relationships" id="262" r:id="R2a4944f3f27743b9"/>
    <p:sldId xmlns:r="http://schemas.openxmlformats.org/officeDocument/2006/relationships" id="263" r:id="Raedbf9bbc73a464d"/>
    <p:sldId xmlns:r="http://schemas.openxmlformats.org/officeDocument/2006/relationships" id="264" r:id="Rcfd53594c44a41dc"/>
    <p:sldId xmlns:r="http://schemas.openxmlformats.org/officeDocument/2006/relationships" id="265" r:id="R9530d130af4c4879"/>
    <p:sldId xmlns:r="http://schemas.openxmlformats.org/officeDocument/2006/relationships" id="266" r:id="R568e1e35b5ff4110"/>
    <p:sldId xmlns:r="http://schemas.openxmlformats.org/officeDocument/2006/relationships" id="267" r:id="Rf9b7eb7b8efe4590"/>
    <p:sldId xmlns:r="http://schemas.openxmlformats.org/officeDocument/2006/relationships" id="268" r:id="R01c40934d2ba47c1"/>
    <p:sldId xmlns:r="http://schemas.openxmlformats.org/officeDocument/2006/relationships" id="269" r:id="Ra95f93767c154184"/>
    <p:sldId xmlns:r="http://schemas.openxmlformats.org/officeDocument/2006/relationships" id="270" r:id="R3993b03215154226"/>
    <p:sldId xmlns:r="http://schemas.openxmlformats.org/officeDocument/2006/relationships" id="271" r:id="R5e28ea0fd0b04972"/>
    <p:sldId xmlns:r="http://schemas.openxmlformats.org/officeDocument/2006/relationships" id="272" r:id="Rac29b473016f4cf2"/>
    <p:sldId xmlns:r="http://schemas.openxmlformats.org/officeDocument/2006/relationships" id="273" r:id="R28a3dc116e664838"/>
    <p:sldId xmlns:r="http://schemas.openxmlformats.org/officeDocument/2006/relationships" id="274" r:id="R51a3c877e9de4223"/>
    <p:sldId xmlns:r="http://schemas.openxmlformats.org/officeDocument/2006/relationships" id="275" r:id="R574290befa504419"/>
    <p:sldId xmlns:r="http://schemas.openxmlformats.org/officeDocument/2006/relationships" id="276" r:id="R2adbe8d1f4fc4291"/>
    <p:sldId xmlns:r="http://schemas.openxmlformats.org/officeDocument/2006/relationships" id="277" r:id="R78daf80cb43c47dc"/>
    <p:sldId xmlns:r="http://schemas.openxmlformats.org/officeDocument/2006/relationships" id="278" r:id="R8a6ad92139084108"/>
  </p:sldIdLst>
  <p:sldSz cx="12191695"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1c40934d2ba47c1" Type="http://schemas.openxmlformats.org/officeDocument/2006/relationships/slide" Target="slides/slide13.xml"/><Relationship Id="R04f2deaac0e84860" Type="http://schemas.openxmlformats.org/officeDocument/2006/relationships/theme" Target="theme/theme1.xml"/><Relationship Id="R0fc7e80ec0614c59" Type="http://schemas.openxmlformats.org/officeDocument/2006/relationships/slide" Target="slides/slide6.xml"/><Relationship Id="R269cfecb32904a11" Type="http://schemas.openxmlformats.org/officeDocument/2006/relationships/slide" Target="slides/slide2.xml"/><Relationship Id="R28a3dc116e664838" Type="http://schemas.openxmlformats.org/officeDocument/2006/relationships/slide" Target="slides/slide18.xml"/><Relationship Id="R2a4944f3f27743b9" Type="http://schemas.openxmlformats.org/officeDocument/2006/relationships/slide" Target="slides/slide7.xml"/><Relationship Id="R2adbe8d1f4fc4291" Type="http://schemas.openxmlformats.org/officeDocument/2006/relationships/slide" Target="slides/slide21.xml"/><Relationship Id="R2b246684a07840be" Type="http://schemas.openxmlformats.org/officeDocument/2006/relationships/viewProps" Target="viewProps.xml"/><Relationship Id="R33993ea5254a4d33" Type="http://schemas.openxmlformats.org/officeDocument/2006/relationships/slide" Target="slides/slide5.xml"/><Relationship Id="R3993b03215154226" Type="http://schemas.openxmlformats.org/officeDocument/2006/relationships/slide" Target="slides/slide15.xml"/><Relationship Id="R51a3c877e9de4223" Type="http://schemas.openxmlformats.org/officeDocument/2006/relationships/slide" Target="slides/slide19.xml"/><Relationship Id="R568e1e35b5ff4110" Type="http://schemas.openxmlformats.org/officeDocument/2006/relationships/slide" Target="slides/slide11.xml"/><Relationship Id="R574290befa504419" Type="http://schemas.openxmlformats.org/officeDocument/2006/relationships/slide" Target="slides/slide20.xml"/><Relationship Id="R5e28ea0fd0b04972" Type="http://schemas.openxmlformats.org/officeDocument/2006/relationships/slide" Target="slides/slide16.xml"/><Relationship Id="R78daf80cb43c47dc" Type="http://schemas.openxmlformats.org/officeDocument/2006/relationships/slide" Target="slides/slide22.xml"/><Relationship Id="R8a57044d033f4bc2" Type="http://schemas.openxmlformats.org/officeDocument/2006/relationships/slide" Target="slides/slide3.xml"/><Relationship Id="R8a6ad92139084108" Type="http://schemas.openxmlformats.org/officeDocument/2006/relationships/slide" Target="slides/slide23.xml"/><Relationship Id="R92594fc53c0648af" Type="http://schemas.openxmlformats.org/officeDocument/2006/relationships/presProps" Target="presProps.xml"/><Relationship Id="R93afaaba1c684754" Type="http://schemas.openxmlformats.org/officeDocument/2006/relationships/slide" Target="slides/slide4.xml"/><Relationship Id="R9530d130af4c4879" Type="http://schemas.openxmlformats.org/officeDocument/2006/relationships/slide" Target="slides/slide10.xml"/><Relationship Id="Ra2175b32d06849d6" Type="http://schemas.openxmlformats.org/officeDocument/2006/relationships/slideMaster" Target="slideMasters/slideMaster1.xml"/><Relationship Id="Ra95f93767c154184" Type="http://schemas.openxmlformats.org/officeDocument/2006/relationships/slide" Target="slides/slide14.xml"/><Relationship Id="Rac29b473016f4cf2" Type="http://schemas.openxmlformats.org/officeDocument/2006/relationships/slide" Target="slides/slide17.xml"/><Relationship Id="Raedbf9bbc73a464d" Type="http://schemas.openxmlformats.org/officeDocument/2006/relationships/slide" Target="slides/slide8.xml"/><Relationship Id="Rb2d65e7b928047d0" Type="http://schemas.openxmlformats.org/officeDocument/2006/relationships/notesMaster" Target="notesMasters/notesMaster1.xml"/><Relationship Id="Rcfd53594c44a41dc" Type="http://schemas.openxmlformats.org/officeDocument/2006/relationships/slide" Target="slides/slide9.xml"/><Relationship Id="Rd3667c549f2a44f8" Type="http://schemas.openxmlformats.org/officeDocument/2006/relationships/tableStyles" Target="tableStyles.xml"/><Relationship Id="Rea3932a94d99463b" Type="http://schemas.openxmlformats.org/officeDocument/2006/relationships/slide" Target="slides/slide1.xml"/><Relationship Id="Rf9b7eb7b8efe4590"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046e03cf7be34381"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xml version='1.0' encoding='UTF-8' standalone='yes'?>
<Relationships xmlns="http://schemas.openxmlformats.org/package/2006/relationships"><Relationship Id="R38dbcc4ee94f4226" Type="http://schemas.openxmlformats.org/officeDocument/2006/relationships/slide" Target="../slides/slide1.xml"/><Relationship Id="R66ce64bcf092474a"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09aad55e626040aa" Type="http://schemas.openxmlformats.org/officeDocument/2006/relationships/slide" Target="../slides/slide2.xml"/><Relationship Id="Rcaf38be0100e4635"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2671fb175b4202" Type="http://schemas.openxmlformats.org/officeDocument/2006/relationships/notesMaster" Target="../notesMasters/notesMaster1.xml"/><Relationship Id="R80ddb82894ec49ef"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6877dcd067894e29" Type="http://schemas.openxmlformats.org/officeDocument/2006/relationships/slide" Target="../slides/slide4.xml"/><Relationship Id="Rb8aa2931ad7543f6"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4f4fadab7bab4fab" Type="http://schemas.openxmlformats.org/officeDocument/2006/relationships/slide" Target="../slides/slide5.xml"/><Relationship Id="R9fbff2aa5f4549c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d69bc714d18d4f2f" Type="http://schemas.openxmlformats.org/officeDocument/2006/relationships/notesMaster" Target="../notesMasters/notesMaster1.xml"/><Relationship Id="Re3e68988dd904ceb"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0de6c333108048b5" Type="http://schemas.openxmlformats.org/officeDocument/2006/relationships/slide" Target="../slides/slide7.xml"/><Relationship Id="Reb6b173e181746b6"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1fd25d8ada2644a1" Type="http://schemas.openxmlformats.org/officeDocument/2006/relationships/slide" Target="../slides/slide8.xml"/><Relationship Id="Rf2a3d35e82de47af"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703cff63519a4b49" Type="http://schemas.openxmlformats.org/officeDocument/2006/relationships/notesMaster" Target="../notesMasters/notesMaster1.xml"/><Relationship Id="Rcdfbf080adef4ce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246cf255e750455a" Type="http://schemas.openxmlformats.org/officeDocument/2006/relationships/slide" Target="../slides/slide10.xml"/><Relationship Id="R6e973cbd1cfc45b6"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d7760514bb184952" Type="http://schemas.openxmlformats.org/officeDocument/2006/relationships/notesMaster" Target="../notesMasters/notesMaster1.xml"/><Relationship Id="Re73265b828a14294"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1ae85ec72dc54dc0" Type="http://schemas.openxmlformats.org/officeDocument/2006/relationships/slide" Target="../slides/slide12.xml"/><Relationship Id="Rb5c38b70d5544fe4"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00ccb5a0c64a4162" Type="http://schemas.openxmlformats.org/officeDocument/2006/relationships/slide" Target="../slides/slide13.xml"/><Relationship Id="R629b394027c34e7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08dec6770f024792" Type="http://schemas.openxmlformats.org/officeDocument/2006/relationships/slide" Target="../slides/slide14.xml"/><Relationship Id="Rd8ade61cc8514ab5"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883eed92b8734faf" Type="http://schemas.openxmlformats.org/officeDocument/2006/relationships/slide" Target="../slides/slide15.xml"/><Relationship Id="Rb5a352cce42a4737"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50a65267a9024dd2" Type="http://schemas.openxmlformats.org/officeDocument/2006/relationships/notesMaster" Target="../notesMasters/notesMaster1.xml"/><Relationship Id="Rae42134fd7de4c63"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1557309e32f44946" Type="http://schemas.openxmlformats.org/officeDocument/2006/relationships/notesMaster" Target="../notesMasters/notesMaster1.xml"/><Relationship Id="R8e0113710cc64b2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2f519a3e4f4441b1" Type="http://schemas.openxmlformats.org/officeDocument/2006/relationships/slide" Target="../slides/slide18.xml"/><Relationship Id="R32baa398fac74274"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cda73364a73548a0" Type="http://schemas.openxmlformats.org/officeDocument/2006/relationships/notesMaster" Target="../notesMasters/notesMaster1.xml"/><Relationship Id="Rea14efc83b77451c"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73c5c876560a4fab" Type="http://schemas.openxmlformats.org/officeDocument/2006/relationships/notesMaster" Target="../notesMasters/notesMaster1.xml"/><Relationship Id="R91623c6a16d74957"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7107c536bcc74dbb" Type="http://schemas.openxmlformats.org/officeDocument/2006/relationships/slide" Target="../slides/slide21.xml"/><Relationship Id="Rf8cbb2ebfc4f454d"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593e374c8fa047b6" Type="http://schemas.openxmlformats.org/officeDocument/2006/relationships/notesMaster" Target="../notesMasters/notesMaster1.xml"/><Relationship Id="Rbe7636f25e7e4a97"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2d5434b4d9df4666" Type="http://schemas.openxmlformats.org/officeDocument/2006/relationships/notesMaster" Target="../notesMasters/notesMaster1.xml"/><Relationship Id="R307fc913353645b7" Type="http://schemas.openxmlformats.org/officeDocument/2006/relationships/slide" Target="../slides/slide23.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73a5328008d34c20"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93d6086cf5e415e"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b0a43e774661451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7e6c70e489454169"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d5adb48aa21243bd"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73ba9766ec1f4768"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94834f319c88411f"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c0985ec9cf4e432b"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b4120dff7e76435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8ced883e4570473e"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b1b29132aeca4df1" Type="http://schemas.openxmlformats.org/officeDocument/2006/relationships/slideMaster" Target="../slideMasters/slideMaster1.xml"/></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5924ED8-D743-43AB-A13A-E4FD0E74CE7E}"/>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B9471755-85C9-4DC1-8FF2-FE2F2A3C2F28}"/>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806445B2-2330-4322-81E1-8B3ECFA00F9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99C6BE8-5675-4D7B-9B0D-92D6D497AC4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A99E684-9809-40B7-A4A8-C4D35D611BA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298770E-D23F-40B0-B78B-36E18939B76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7F6E42B-9242-43FC-B65F-26CEE72BFE56}"/>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68E51F2-B247-45F2-893D-553FC8CCB35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FB341A68-9C76-4136-929E-76A46D77773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8254D79-6728-42E1-8169-BD993838743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B6BFB2B-D4A0-45E0-AFDF-216A73212B24}"/>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EB83A367-3D71-441E-AAD4-6469AD7EB74B}"/>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7EF00381-8703-4E92-90CC-E81DD1C0A8A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19E33614-698C-4F49-8BE7-5847F3733A5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CDA28F9-4FE8-43F1-BA46-07828C11188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8C7F418-17DF-4BCF-9158-83069E4A3D9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85A03CA7-09D2-4E23-BECB-B9ED82B1C872}"/>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B179E8C9-779E-4722-AC66-4A6226F4DE1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F15BEB3A-2AD9-4FF3-8E7F-4DB0CFB13FA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76C8EB04-6071-4667-8699-94B34C35096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1786EB3-4ACC-4120-AE7F-218C30238EE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556DBCB-8086-4472-85E0-42E8E90628B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670E199-2632-4094-BFDE-FA117FB5C301}"/>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73A4628-E98C-41CE-816B-A0CB76283EB6}"/>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03502925-504F-4A2D-9074-3B256BBCA143}"/>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4C38E2B4-BDA4-4C4C-A344-7EFCB040E695}"/>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C600DF6F-6530-444F-BC79-7239196CDEE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422492A3-57B0-4414-BDC2-05DBF6204FC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70672115-1C1E-48CF-91BC-4D05B5B8ABB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54FF28B-DCA8-46B7-82E8-EE146E23495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A2AA39C3-06E9-4FE6-9AC4-D756D3A2F6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BF2420F2-988F-4A5C-8417-AD9AEF1067B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3682A318-47C9-4591-AFD3-749F6F65776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447D87D-3207-474B-AAFF-8B8B8BE73CC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1D87A146-7557-4457-877C-0518BD15BFC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B137DD3D-97D9-4462-9B78-CDBCC21211D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992C256-2761-4403-A08D-B5F4B412275E}"/>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610DCDA-8AB9-4C22-86D7-8D3AF7AA5DD1}"/>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7F699F66-D8EE-4CE5-8CDD-ADCF2D12019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2E9F166B-C73D-4BF6-8808-96B8D2BE1A9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9536C086-7D17-4045-A9DA-EEE28C6AD00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766CE18A-DBF3-4071-A80C-03E9729FB4E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454E993-11E3-449A-AF7A-CCA6AF5712C3}"/>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27FD258B-F37D-49A2-8D72-D72A061DB667}"/>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B05A58F2-8D57-4FAC-94A8-5D55728C3F0E}"/>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A33D6A7-0BFE-4659-95DA-35D71496782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D01C403E-3A3F-410B-9FB5-3A2A3B619EF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FFE082D-380A-4701-B807-071BE6DFD79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0D02E40-E448-4A9E-A02B-0765858E110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3D2816DD-91C0-449C-8653-95206D7D7D25}"/>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4D12CA7E-BA2C-48B5-B9A0-CCF2ECCBC1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2347F684-024B-46CC-A2BD-5CD0D43068B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39A94FB-6ABF-4560-95C6-91E8709CEC8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DAEB7DD8-521C-46C0-B5AE-D3427807C14F}"/>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E891A4EE-C11E-4627-A669-F1DE43FE46FE}"/>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444B3A2-9689-468E-B3BC-3E0839EADAA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631F0AB9-5C9A-4609-926C-E42A371D05D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C60DCB5-0192-473C-8F03-3BD184511F4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xml version='1.0' encoding='UTF-8' standalone='yes'?>
<Relationships xmlns="http://schemas.openxmlformats.org/package/2006/relationships"><Relationship Id="R0596bfecaf964c21" Type="http://schemas.openxmlformats.org/officeDocument/2006/relationships/slideLayout" Target="../slideLayouts/slideLayout4.xml"/><Relationship Id="R2bc45e93d86d4547" Type="http://schemas.openxmlformats.org/officeDocument/2006/relationships/slideLayout" Target="../slideLayouts/slideLayout9.xml"/><Relationship Id="R5dda84fe6cfc4a50" Type="http://schemas.openxmlformats.org/officeDocument/2006/relationships/slideLayout" Target="../slideLayouts/slideLayout6.xml"/><Relationship Id="R7f817dd3ab344844" Type="http://schemas.openxmlformats.org/officeDocument/2006/relationships/slideLayout" Target="../slideLayouts/slideLayout7.xml"/><Relationship Id="R9d635f1626234593" Type="http://schemas.openxmlformats.org/officeDocument/2006/relationships/theme" Target="theme/theme2.xml"/><Relationship Id="R9d6a3d46d8644863" Type="http://schemas.openxmlformats.org/officeDocument/2006/relationships/slideLayout" Target="../slideLayouts/slideLayout2.xml"/><Relationship Id="Ra36a4b77ab8d4cc2" Type="http://schemas.openxmlformats.org/officeDocument/2006/relationships/slideLayout" Target="../slideLayouts/slideLayout5.xml"/><Relationship Id="Ra6e72ac2d0464ff7" Type="http://schemas.openxmlformats.org/officeDocument/2006/relationships/slideLayout" Target="../slideLayouts/slideLayout3.xml"/><Relationship Id="Rae9d63067c8c4c81" Type="http://schemas.openxmlformats.org/officeDocument/2006/relationships/slideLayout" Target="../slideLayouts/slideLayout8.xml"/><Relationship Id="Rdf9b88697a59407d" Type="http://schemas.openxmlformats.org/officeDocument/2006/relationships/slideLayout" Target="../slideLayouts/slideLayout11.xml"/><Relationship Id="Rec7325e785564a3f" Type="http://schemas.openxmlformats.org/officeDocument/2006/relationships/slideLayout" Target="../slideLayouts/slideLayout1.xml"/><Relationship Id="Rf241b38b3fe34110" Type="http://schemas.openxmlformats.org/officeDocument/2006/relationships/slideLayout" Target="../slideLayouts/slideLayout10.xml"/></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A90BD2D9-1618-485A-B656-A27A008F5028}"/>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C906E961-F30F-4EE2-B996-5139C54877B4}"/>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FF941F4-AD3F-4519-92A5-683D236508CF}"/>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6C0A2199-E48D-421C-947F-FBC66F01BDFF}"/>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EA39715-FEB0-48B3-A4F1-41C023DD91A4}"/>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7325e785564a3f"/>
    <p:sldLayoutId xmlns:r="http://schemas.openxmlformats.org/officeDocument/2006/relationships" id="2147483650" r:id="R9d6a3d46d8644863"/>
    <p:sldLayoutId xmlns:r="http://schemas.openxmlformats.org/officeDocument/2006/relationships" id="2147483651" r:id="Ra6e72ac2d0464ff7"/>
    <p:sldLayoutId xmlns:r="http://schemas.openxmlformats.org/officeDocument/2006/relationships" id="2147483652" r:id="R0596bfecaf964c21"/>
    <p:sldLayoutId xmlns:r="http://schemas.openxmlformats.org/officeDocument/2006/relationships" id="2147483653" r:id="Ra36a4b77ab8d4cc2"/>
    <p:sldLayoutId xmlns:r="http://schemas.openxmlformats.org/officeDocument/2006/relationships" id="2147483654" r:id="R5dda84fe6cfc4a50"/>
    <p:sldLayoutId xmlns:r="http://schemas.openxmlformats.org/officeDocument/2006/relationships" id="2147483655" r:id="R7f817dd3ab344844"/>
    <p:sldLayoutId xmlns:r="http://schemas.openxmlformats.org/officeDocument/2006/relationships" id="2147483656" r:id="Rae9d63067c8c4c81"/>
    <p:sldLayoutId xmlns:r="http://schemas.openxmlformats.org/officeDocument/2006/relationships" id="2147483657" r:id="R2bc45e93d86d4547"/>
    <p:sldLayoutId xmlns:r="http://schemas.openxmlformats.org/officeDocument/2006/relationships" id="2147483658" r:id="Rf241b38b3fe34110"/>
    <p:sldLayoutId xmlns:r="http://schemas.openxmlformats.org/officeDocument/2006/relationships" id="2147483659" r:id="Rdf9b88697a59407d"/>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xml version='1.0' encoding='UTF-8' standalone='yes'?>
<Relationships xmlns="http://schemas.openxmlformats.org/package/2006/relationships"><Relationship Id="R0ab4e740ea2d4e51" Type="http://schemas.openxmlformats.org/officeDocument/2006/relationships/slideLayout" Target="../slideLayouts/slideLayout7.xml"/><Relationship Id="R4775468b9e634036" Type="http://schemas.openxmlformats.org/officeDocument/2006/relationships/notesSlide" Target="../notesSlides/notesSlide1.xml"/><Relationship Id="Ree4d039d81b44d84" Type="http://schemas.openxmlformats.org/officeDocument/2006/relationships/image" Target="../media/image.png"/></Relationships>
</file>

<file path=ppt/slides/_rels/slide2.xml.rels><?xml version='1.0' encoding='UTF-8' standalone='yes'?>
<Relationships xmlns="http://schemas.openxmlformats.org/package/2006/relationships"><Relationship Id="R60d7f32a98b14f80" Type="http://schemas.openxmlformats.org/officeDocument/2006/relationships/notesSlide" Target="../notesSlides/notesSlide2.xml"/><Relationship Id="R85810b0b98974ead"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28667e4e939e48c7" Type="http://schemas.openxmlformats.org/officeDocument/2006/relationships/notesSlide" Target="../notesSlides/notesSlide3.xml"/><Relationship Id="R3c32128ccd71492a"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91f54c60c920456e" Type="http://schemas.openxmlformats.org/officeDocument/2006/relationships/notesSlide" Target="../notesSlides/notesSlide4.xml"/><Relationship Id="Rd22ca780e63f4c0f"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139ceb701cd7452a" Type="http://schemas.openxmlformats.org/officeDocument/2006/relationships/slideLayout" Target="../slideLayouts/slideLayout7.xml"/><Relationship Id="R78643dd13582450e"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4c24339b5c0a4eaf" Type="http://schemas.openxmlformats.org/officeDocument/2006/relationships/notesSlide" Target="../notesSlides/notesSlide6.xml"/><Relationship Id="R7245e265b8ea4407"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b37dd51a55834d70" Type="http://schemas.openxmlformats.org/officeDocument/2006/relationships/slideLayout" Target="../slideLayouts/slideLayout7.xml"/><Relationship Id="Rd4588a2b670d451b"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1815ff74c62b4802" Type="http://schemas.openxmlformats.org/officeDocument/2006/relationships/slideLayout" Target="../slideLayouts/slideLayout7.xml"/><Relationship Id="R573cb02c5b13460b"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6ba19a3311274b9d" Type="http://schemas.openxmlformats.org/officeDocument/2006/relationships/slideLayout" Target="../slideLayouts/slideLayout7.xml"/><Relationship Id="R979e67469fc648b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348a15a00ade4ad5" Type="http://schemas.openxmlformats.org/officeDocument/2006/relationships/slideLayout" Target="../slideLayouts/slideLayout7.xml"/><Relationship Id="R545b2da6f2614db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982d3c408f354f02" Type="http://schemas.openxmlformats.org/officeDocument/2006/relationships/notesSlide" Target="../notesSlides/notesSlide11.xml"/><Relationship Id="R9a08ea76a6b0438c" Type="http://schemas.openxmlformats.org/officeDocument/2006/relationships/image" Target="../media/image2.png"/><Relationship Id="Rb6a0ccd822e24470"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549649335e2b4e9f" Type="http://schemas.openxmlformats.org/officeDocument/2006/relationships/notesSlide" Target="../notesSlides/notesSlide12.xml"/><Relationship Id="R87bf04b212044f77"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375e562bafcc4e29" Type="http://schemas.openxmlformats.org/officeDocument/2006/relationships/slideLayout" Target="../slideLayouts/slideLayout7.xml"/><Relationship Id="Rf41bf5a54bcd4e6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4e2ccbeb4d72432f" Type="http://schemas.openxmlformats.org/officeDocument/2006/relationships/slideLayout" Target="../slideLayouts/slideLayout7.xml"/><Relationship Id="Reaa24b3d63a0495e"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03248f9a21bd4bf6" Type="http://schemas.openxmlformats.org/officeDocument/2006/relationships/notesSlide" Target="../notesSlides/notesSlide15.xml"/><Relationship Id="Rb478c78f4c314f46"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52460c81c4654316" Type="http://schemas.openxmlformats.org/officeDocument/2006/relationships/slideLayout" Target="../slideLayouts/slideLayout7.xml"/><Relationship Id="Rd170f39caf90408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33a91230073c4ea8" Type="http://schemas.openxmlformats.org/officeDocument/2006/relationships/slideLayout" Target="../slideLayouts/slideLayout7.xml"/><Relationship Id="R82e26470b06c4f0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540de24d082b4fa3" Type="http://schemas.openxmlformats.org/officeDocument/2006/relationships/slideLayout" Target="../slideLayouts/slideLayout7.xml"/><Relationship Id="Rb6659e81f67e413a"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04f9b73f2cb246c5" Type="http://schemas.openxmlformats.org/officeDocument/2006/relationships/slideLayout" Target="../slideLayouts/slideLayout7.xml"/><Relationship Id="Rd6802e88f321438d"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4e016c0719eb4540" Type="http://schemas.openxmlformats.org/officeDocument/2006/relationships/slideLayout" Target="../slideLayouts/slideLayout7.xml"/><Relationship Id="Ra5dd38f382c4483e"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6bd458900e944eac" Type="http://schemas.openxmlformats.org/officeDocument/2006/relationships/notesSlide" Target="../notesSlides/notesSlide21.xml"/><Relationship Id="Rc14308d2fe4646c4"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03c2907f7b58409b" Type="http://schemas.openxmlformats.org/officeDocument/2006/relationships/notesSlide" Target="../notesSlides/notesSlide22.xml"/><Relationship Id="R4c0404a67b724bb6"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12524ca7369845e9" Type="http://schemas.openxmlformats.org/officeDocument/2006/relationships/notesSlide" Target="../notesSlides/notesSlide23.xml"/><Relationship Id="R29e2880db0be4932" Type="http://schemas.openxmlformats.org/officeDocument/2006/relationships/slideLayout" Target="../slideLayouts/slideLayout7.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Picture 1"/>
          <p:cNvPicPr>
            <a:picLocks xmlns:a="http://schemas.openxmlformats.org/drawingml/2006/main" noChangeAspect="1"/>
          </p:cNvPicPr>
          <p:nvPr/>
        </p:nvPicPr>
        <p:blipFill>
          <a:blip xmlns:r="http://schemas.openxmlformats.org/officeDocument/2006/relationships" xmlns:a="http://schemas.openxmlformats.org/drawingml/2006/main" r:embed="Ree4d039d81b44d84"/>
          <a:stretch xmlns:a="http://schemas.openxmlformats.org/drawingml/2006/main">
            <a:fillRect l="0" t="0" r="0" b="0"/>
          </a:stretch>
        </p:blipFill>
        <p:spPr>
          <a:xfrm xmlns:a="http://schemas.openxmlformats.org/drawingml/2006/main">
            <a:off x="0" y="411480"/>
            <a:ext cx="12188952" cy="5897880"/>
          </a:xfrm>
          <a:prstGeom xmlns:a="http://schemas.openxmlformats.org/drawingml/2006/main" prst="rect">
            <a:avLst/>
          </a:prstGeom>
        </p:spPr>
      </p:pic>
    </p:spTree>
    <p:extLst>
      <p:ext uri="{BB962C8B-B14F-4D97-AF65-F5344CB8AC3E}">
        <p14:creationId xmlns:p14="http://schemas.microsoft.com/office/powerpoint/2010/main" val="5304546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FB8045C-709A-4330-B520-58381168CFC9}"/>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00919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03CC4E21-19F2-4CB9-8E25-F51A5076C1F8}"/>
              </a:ext>
            </a:extLst>
          </p:cNvPr>
          <p:cNvSpPr>
            <a:spLocks xmlns:a="http://schemas.openxmlformats.org/drawingml/2006/main" noGrp="1"/>
          </p:cNvSpPr>
          <p:nvPr/>
        </p:nvSpPr>
        <p:spPr>
          <a:xfrm xmlns:a="http://schemas.openxmlformats.org/drawingml/2006/main">
            <a:off x="658368" y="438912"/>
            <a:ext cx="10881360" cy="658368"/>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2700" b="1">
                <a:solidFill>
                  <a:srgbClr val="12263F"/>
                </a:solidFill>
                <a:latin typeface="Aptos Display"/>
                <a:ea typeface="Aptos Display"/>
                <a:cs typeface="Aptos Display"/>
              </a:defRPr>
            </a:pPr>
            <a:r>
              <a:t>PİL’DE DİYET TEDAVİSİNE YANIT</a:t>
            </a:r>
          </a:p>
        </p:txBody>
      </p:sp>
      <p:sp>
        <p:nvSpPr>
          <p:cNvPr id="4" name="TextBox 3">
            <a:extLst xmlns:a="http://schemas.openxmlformats.org/drawingml/2006/main">
              <a:ext uri="{FF2B5EF4-FFF2-40B4-BE49-F238E27FC236}">
                <a16:creationId xmlns:a16="http://schemas.microsoft.com/office/drawing/2014/main" id="{0B94883B-D819-40C0-8A90-942F2DDAD34E}"/>
              </a:ext>
            </a:extLst>
          </p:cNvPr>
          <p:cNvSpPr>
            <a:spLocks xmlns:a="http://schemas.openxmlformats.org/drawingml/2006/main" noGrp="1"/>
          </p:cNvSpPr>
          <p:nvPr/>
        </p:nvSpPr>
        <p:spPr>
          <a:xfrm xmlns:a="http://schemas.openxmlformats.org/drawingml/2006/main">
            <a:off x="676656" y="1124712"/>
            <a:ext cx="10698480" cy="384048"/>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1300">
                <a:solidFill>
                  <a:srgbClr val="667584"/>
                </a:solidFill>
                <a:latin typeface="Aptos"/>
                <a:ea typeface="Aptos"/>
                <a:cs typeface="Aptos"/>
              </a:defRPr>
            </a:pPr>
            <a:r>
              <a:t>Primer intestinal lenfanjiektazi | Bilinenler ve yeni bulgular</a:t>
            </a:r>
          </a:p>
        </p:txBody>
      </p:sp>
      <p:sp>
        <p:nvSpPr>
          <p:cNvPr id="5" name="Rounded Rectangle 4">
            <a:extLst xmlns:a="http://schemas.openxmlformats.org/drawingml/2006/main">
              <a:ext uri="{FF2B5EF4-FFF2-40B4-BE49-F238E27FC236}">
                <a16:creationId xmlns:a16="http://schemas.microsoft.com/office/drawing/2014/main" id="{D25B829D-14AF-44E7-9CA4-F68D542DDFE1}"/>
              </a:ext>
            </a:extLst>
          </p:cNvPr>
          <p:cNvSpPr>
            <a:spLocks xmlns:a="http://schemas.openxmlformats.org/drawingml/2006/main" noGrp="1"/>
          </p:cNvSpPr>
          <p:nvPr/>
        </p:nvSpPr>
        <p:spPr>
          <a:xfrm xmlns:a="http://schemas.openxmlformats.org/drawingml/2006/main">
            <a:off x="658368" y="1828800"/>
            <a:ext cx="5285232" cy="4315968"/>
          </a:xfrm>
          <a:prstGeom xmlns:a="http://schemas.openxmlformats.org/drawingml/2006/main" prst="roundRect">
            <a:avLst/>
          </a:prstGeom>
          <a:solidFill xmlns:a="http://schemas.openxmlformats.org/drawingml/2006/main">
            <a:srgbClr val="F6F8FB"/>
          </a:solidFill>
          <a:ln xmlns:a="http://schemas.openxmlformats.org/drawingml/2006/main">
            <a:solidFill>
              <a:srgbClr val="DEE7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C87F6607-0317-4BB3-A102-21A834B2C6D4}"/>
              </a:ext>
            </a:extLst>
          </p:cNvPr>
          <p:cNvSpPr>
            <a:spLocks xmlns:a="http://schemas.openxmlformats.org/drawingml/2006/main" noGrp="1"/>
          </p:cNvSpPr>
          <p:nvPr/>
        </p:nvSpPr>
        <p:spPr>
          <a:xfrm xmlns:a="http://schemas.openxmlformats.org/drawingml/2006/main">
            <a:off x="950976" y="2084831"/>
            <a:ext cx="4663440" cy="41148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1600" b="1">
                <a:solidFill>
                  <a:srgbClr val="12263F"/>
                </a:solidFill>
                <a:latin typeface="Aptos"/>
                <a:ea typeface="Aptos"/>
                <a:cs typeface="Aptos"/>
              </a:defRPr>
            </a:pPr>
            <a:r>
              <a:t>BİLİNENLER</a:t>
            </a:r>
          </a:p>
        </p:txBody>
      </p:sp>
      <p:sp>
        <p:nvSpPr>
          <p:cNvPr id="7" name="Rounded Rectangle 6">
            <a:extLst xmlns:a="http://schemas.openxmlformats.org/drawingml/2006/main">
              <a:ext uri="{FF2B5EF4-FFF2-40B4-BE49-F238E27FC236}">
                <a16:creationId xmlns:a16="http://schemas.microsoft.com/office/drawing/2014/main" id="{4CA73B04-D101-4DCB-AD13-1850C6049620}"/>
              </a:ext>
            </a:extLst>
          </p:cNvPr>
          <p:cNvSpPr>
            <a:spLocks xmlns:a="http://schemas.openxmlformats.org/drawingml/2006/main" noGrp="1"/>
          </p:cNvSpPr>
          <p:nvPr/>
        </p:nvSpPr>
        <p:spPr>
          <a:xfrm xmlns:a="http://schemas.openxmlformats.org/drawingml/2006/main">
            <a:off x="6236208" y="1828800"/>
            <a:ext cx="5285232" cy="4315968"/>
          </a:xfrm>
          <a:prstGeom xmlns:a="http://schemas.openxmlformats.org/drawingml/2006/main" prst="roundRect">
            <a:avLst/>
          </a:prstGeom>
          <a:solidFill xmlns:a="http://schemas.openxmlformats.org/drawingml/2006/main">
            <a:srgbClr val="EFF7F7"/>
          </a:solidFill>
          <a:ln xmlns:a="http://schemas.openxmlformats.org/drawingml/2006/main">
            <a:solidFill>
              <a:srgbClr val="DEE7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69DC54A7-1140-4315-B5D4-97302BC700B6}"/>
              </a:ext>
            </a:extLst>
          </p:cNvPr>
          <p:cNvSpPr>
            <a:spLocks xmlns:a="http://schemas.openxmlformats.org/drawingml/2006/main" noGrp="1"/>
          </p:cNvSpPr>
          <p:nvPr/>
        </p:nvSpPr>
        <p:spPr>
          <a:xfrm xmlns:a="http://schemas.openxmlformats.org/drawingml/2006/main">
            <a:off x="6528816" y="2084831"/>
            <a:ext cx="4663440" cy="41148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1600" b="1">
                <a:solidFill>
                  <a:srgbClr val="009196"/>
                </a:solidFill>
                <a:latin typeface="Aptos"/>
                <a:ea typeface="Aptos"/>
                <a:cs typeface="Aptos"/>
              </a:defRPr>
            </a:pPr>
            <a:r>
              <a:t>BU ÇALIŞMADA YENİ OLAN</a:t>
            </a:r>
          </a:p>
        </p:txBody>
      </p:sp>
      <p:sp>
        <p:nvSpPr>
          <p:cNvPr id="9" name="TextBox 8">
            <a:extLst xmlns:a="http://schemas.openxmlformats.org/drawingml/2006/main">
              <a:ext uri="{FF2B5EF4-FFF2-40B4-BE49-F238E27FC236}">
                <a16:creationId xmlns:a16="http://schemas.microsoft.com/office/drawing/2014/main" id="{6EAA7996-CCEA-48D8-A85F-F5E932E1F187}"/>
              </a:ext>
            </a:extLst>
          </p:cNvPr>
          <p:cNvSpPr>
            <a:spLocks xmlns:a="http://schemas.openxmlformats.org/drawingml/2006/main" noGrp="1"/>
          </p:cNvSpPr>
          <p:nvPr/>
        </p:nvSpPr>
        <p:spPr>
          <a:xfrm xmlns:a="http://schemas.openxmlformats.org/drawingml/2006/main">
            <a:off x="969264" y="2743200"/>
            <a:ext cx="4617720" cy="83210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300" b="1">
                <a:solidFill>
                  <a:srgbClr val="009196"/>
                </a:solidFill>
                <a:latin typeface="Aptos"/>
                <a:ea typeface="Aptos"/>
                <a:cs typeface="Aptos"/>
              </a:defRPr>
            </a:pPr>
            <a:r>
              <a:t>İlk basamak</a:t>
            </a:r>
          </a:p>
          <a:p xmlns:a="http://schemas.openxmlformats.org/drawingml/2006/main">
            <a:pPr>
              <a:spcBef>
                <a:spcPts val="300"/>
              </a:spcBef>
              <a:buNone/>
              <a:defRPr sz="1500">
                <a:solidFill>
                  <a:srgbClr val="263445"/>
                </a:solidFill>
                <a:latin typeface="Aptos"/>
                <a:ea typeface="Aptos"/>
                <a:cs typeface="Aptos"/>
              </a:defRPr>
            </a:pPr>
            <a:r>
              <a:t>Diyet tedavisi genellikle ilk basamak yaklaşımdır.</a:t>
            </a:r>
          </a:p>
        </p:txBody>
      </p:sp>
      <p:sp>
        <p:nvSpPr>
          <p:cNvPr id="10" name="TextBox 9">
            <a:extLst xmlns:a="http://schemas.openxmlformats.org/drawingml/2006/main">
              <a:ext uri="{FF2B5EF4-FFF2-40B4-BE49-F238E27FC236}">
                <a16:creationId xmlns:a16="http://schemas.microsoft.com/office/drawing/2014/main" id="{43E7503C-7DA5-46F1-BA10-4F97A829EB0E}"/>
              </a:ext>
            </a:extLst>
          </p:cNvPr>
          <p:cNvSpPr>
            <a:spLocks xmlns:a="http://schemas.openxmlformats.org/drawingml/2006/main" noGrp="1"/>
          </p:cNvSpPr>
          <p:nvPr/>
        </p:nvSpPr>
        <p:spPr>
          <a:xfrm xmlns:a="http://schemas.openxmlformats.org/drawingml/2006/main">
            <a:off x="969264" y="3767328"/>
            <a:ext cx="4617720" cy="83210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300" b="1">
                <a:solidFill>
                  <a:srgbClr val="009196"/>
                </a:solidFill>
                <a:latin typeface="Aptos"/>
                <a:ea typeface="Aptos"/>
                <a:cs typeface="Aptos"/>
              </a:defRPr>
            </a:pPr>
            <a:r>
              <a:t>Yanıt</a:t>
            </a:r>
          </a:p>
          <a:p xmlns:a="http://schemas.openxmlformats.org/drawingml/2006/main">
            <a:pPr>
              <a:spcBef>
                <a:spcPts val="300"/>
              </a:spcBef>
              <a:buNone/>
              <a:defRPr sz="1500">
                <a:solidFill>
                  <a:srgbClr val="263445"/>
                </a:solidFill>
                <a:latin typeface="Aptos"/>
                <a:ea typeface="Aptos"/>
                <a:cs typeface="Aptos"/>
              </a:defRPr>
            </a:pPr>
            <a:r>
              <a:t>Çocukların çoğu diyete yanıt verir.</a:t>
            </a:r>
          </a:p>
        </p:txBody>
      </p:sp>
      <p:sp>
        <p:nvSpPr>
          <p:cNvPr id="11" name="TextBox 10">
            <a:extLst xmlns:a="http://schemas.openxmlformats.org/drawingml/2006/main">
              <a:ext uri="{FF2B5EF4-FFF2-40B4-BE49-F238E27FC236}">
                <a16:creationId xmlns:a16="http://schemas.microsoft.com/office/drawing/2014/main" id="{24A366B3-ED8C-4C15-A644-60C5824630A5}"/>
              </a:ext>
            </a:extLst>
          </p:cNvPr>
          <p:cNvSpPr>
            <a:spLocks xmlns:a="http://schemas.openxmlformats.org/drawingml/2006/main" noGrp="1"/>
          </p:cNvSpPr>
          <p:nvPr/>
        </p:nvSpPr>
        <p:spPr>
          <a:xfrm xmlns:a="http://schemas.openxmlformats.org/drawingml/2006/main">
            <a:off x="969264" y="4791456"/>
            <a:ext cx="4617720" cy="83210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300" b="1">
                <a:solidFill>
                  <a:srgbClr val="009196"/>
                </a:solidFill>
                <a:latin typeface="Aptos"/>
                <a:ea typeface="Aptos"/>
                <a:cs typeface="Aptos"/>
              </a:defRPr>
            </a:pPr>
            <a:r>
              <a:t>Belirsizlik</a:t>
            </a:r>
          </a:p>
          <a:p xmlns:a="http://schemas.openxmlformats.org/drawingml/2006/main">
            <a:pPr>
              <a:spcBef>
                <a:spcPts val="300"/>
              </a:spcBef>
              <a:buNone/>
              <a:defRPr sz="1500">
                <a:solidFill>
                  <a:srgbClr val="263445"/>
                </a:solidFill>
                <a:latin typeface="Aptos"/>
                <a:ea typeface="Aptos"/>
                <a:cs typeface="Aptos"/>
              </a:defRPr>
            </a:pPr>
            <a:r>
              <a:t>İkinci basamak tedavilerin yeri literatürde tartışmalıdır.</a:t>
            </a:r>
          </a:p>
        </p:txBody>
      </p:sp>
      <p:sp>
        <p:nvSpPr>
          <p:cNvPr id="12" name="Rounded Rectangle 11">
            <a:extLst xmlns:a="http://schemas.openxmlformats.org/drawingml/2006/main">
              <a:ext uri="{FF2B5EF4-FFF2-40B4-BE49-F238E27FC236}">
                <a16:creationId xmlns:a16="http://schemas.microsoft.com/office/drawing/2014/main" id="{9BD879DC-A732-4206-A786-4D49B0812203}"/>
              </a:ext>
            </a:extLst>
          </p:cNvPr>
          <p:cNvSpPr>
            <a:spLocks xmlns:a="http://schemas.openxmlformats.org/drawingml/2006/main" noGrp="1"/>
          </p:cNvSpPr>
          <p:nvPr/>
        </p:nvSpPr>
        <p:spPr>
          <a:xfrm xmlns:a="http://schemas.openxmlformats.org/drawingml/2006/main">
            <a:off x="6565392" y="2743200"/>
            <a:ext cx="4617720" cy="1152144"/>
          </a:xfrm>
          <a:prstGeom xmlns:a="http://schemas.openxmlformats.org/drawingml/2006/main" prst="roundRect">
            <a:avLst/>
          </a:prstGeom>
          <a:solidFill xmlns:a="http://schemas.openxmlformats.org/drawingml/2006/main">
            <a:srgbClr val="FFFFFF"/>
          </a:solidFill>
          <a:ln xmlns:a="http://schemas.openxmlformats.org/drawingml/2006/main">
            <a:solidFill>
              <a:srgbClr val="DBE8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594E9FD6-9CD9-4C88-8F94-33F819C41B53}"/>
              </a:ext>
            </a:extLst>
          </p:cNvPr>
          <p:cNvSpPr>
            <a:spLocks xmlns:a="http://schemas.openxmlformats.org/drawingml/2006/main" noGrp="1"/>
          </p:cNvSpPr>
          <p:nvPr/>
        </p:nvSpPr>
        <p:spPr>
          <a:xfrm xmlns:a="http://schemas.openxmlformats.org/drawingml/2006/main">
            <a:off x="6793992" y="2889504"/>
            <a:ext cx="4114800" cy="27432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1300" b="1">
                <a:solidFill>
                  <a:srgbClr val="12263F"/>
                </a:solidFill>
                <a:latin typeface="Aptos"/>
                <a:ea typeface="Aptos"/>
                <a:cs typeface="Aptos"/>
              </a:defRPr>
            </a:pPr>
            <a:r>
              <a:t>KISMİ YANIT</a:t>
            </a:r>
          </a:p>
        </p:txBody>
      </p:sp>
      <p:sp>
        <p:nvSpPr>
          <p:cNvPr id="14" name="TextBox 13">
            <a:extLst xmlns:a="http://schemas.openxmlformats.org/drawingml/2006/main">
              <a:ext uri="{FF2B5EF4-FFF2-40B4-BE49-F238E27FC236}">
                <a16:creationId xmlns:a16="http://schemas.microsoft.com/office/drawing/2014/main" id="{2B97BECC-880F-436C-8B56-BC95AA0A6745}"/>
              </a:ext>
            </a:extLst>
          </p:cNvPr>
          <p:cNvSpPr>
            <a:spLocks xmlns:a="http://schemas.openxmlformats.org/drawingml/2006/main" noGrp="1"/>
          </p:cNvSpPr>
          <p:nvPr/>
        </p:nvSpPr>
        <p:spPr>
          <a:xfrm xmlns:a="http://schemas.openxmlformats.org/drawingml/2006/main">
            <a:off x="6793992" y="3200400"/>
            <a:ext cx="4096512" cy="5303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300">
                <a:solidFill>
                  <a:srgbClr val="263445"/>
                </a:solidFill>
                <a:latin typeface="Aptos"/>
                <a:ea typeface="Aptos"/>
                <a:cs typeface="Aptos"/>
              </a:defRPr>
            </a:pPr>
            <a:r>
              <a:t>Çoğunlukta, belirtisiz albümin düşüklüğü sürmüştür.</a:t>
            </a:r>
          </a:p>
        </p:txBody>
      </p:sp>
      <p:sp>
        <p:nvSpPr>
          <p:cNvPr id="15" name="Rounded Rectangle 14">
            <a:extLst xmlns:a="http://schemas.openxmlformats.org/drawingml/2006/main">
              <a:ext uri="{FF2B5EF4-FFF2-40B4-BE49-F238E27FC236}">
                <a16:creationId xmlns:a16="http://schemas.microsoft.com/office/drawing/2014/main" id="{8C58DAF5-DF04-45AC-98DF-EC251EC976D6}"/>
              </a:ext>
            </a:extLst>
          </p:cNvPr>
          <p:cNvSpPr>
            <a:spLocks xmlns:a="http://schemas.openxmlformats.org/drawingml/2006/main" noGrp="1"/>
          </p:cNvSpPr>
          <p:nvPr/>
        </p:nvSpPr>
        <p:spPr>
          <a:xfrm xmlns:a="http://schemas.openxmlformats.org/drawingml/2006/main">
            <a:off x="6565392" y="4096512"/>
            <a:ext cx="4617720" cy="1152144"/>
          </a:xfrm>
          <a:prstGeom xmlns:a="http://schemas.openxmlformats.org/drawingml/2006/main" prst="roundRect">
            <a:avLst/>
          </a:prstGeom>
          <a:solidFill xmlns:a="http://schemas.openxmlformats.org/drawingml/2006/main">
            <a:srgbClr val="FFFFFF"/>
          </a:solidFill>
          <a:ln xmlns:a="http://schemas.openxmlformats.org/drawingml/2006/main">
            <a:solidFill>
              <a:srgbClr val="DBE8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6AE844BD-393B-4ECB-AF82-B833DA122D7F}"/>
              </a:ext>
            </a:extLst>
          </p:cNvPr>
          <p:cNvSpPr>
            <a:spLocks xmlns:a="http://schemas.openxmlformats.org/drawingml/2006/main" noGrp="1"/>
          </p:cNvSpPr>
          <p:nvPr/>
        </p:nvSpPr>
        <p:spPr>
          <a:xfrm xmlns:a="http://schemas.openxmlformats.org/drawingml/2006/main">
            <a:off x="6793992" y="4242816"/>
            <a:ext cx="4114800" cy="27432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1300" b="1">
                <a:solidFill>
                  <a:srgbClr val="009196"/>
                </a:solidFill>
                <a:latin typeface="Aptos"/>
                <a:ea typeface="Aptos"/>
                <a:cs typeface="Aptos"/>
              </a:defRPr>
            </a:pPr>
            <a:r>
              <a:t>TAM YANIT</a:t>
            </a:r>
          </a:p>
        </p:txBody>
      </p:sp>
      <p:sp>
        <p:nvSpPr>
          <p:cNvPr id="17" name="TextBox 16">
            <a:extLst xmlns:a="http://schemas.openxmlformats.org/drawingml/2006/main">
              <a:ext uri="{FF2B5EF4-FFF2-40B4-BE49-F238E27FC236}">
                <a16:creationId xmlns:a16="http://schemas.microsoft.com/office/drawing/2014/main" id="{75B2B134-404C-450B-B6F8-0A2879345DDE}"/>
              </a:ext>
            </a:extLst>
          </p:cNvPr>
          <p:cNvSpPr>
            <a:spLocks xmlns:a="http://schemas.openxmlformats.org/drawingml/2006/main" noGrp="1"/>
          </p:cNvSpPr>
          <p:nvPr/>
        </p:nvSpPr>
        <p:spPr>
          <a:xfrm xmlns:a="http://schemas.openxmlformats.org/drawingml/2006/main">
            <a:off x="6793992" y="4553712"/>
            <a:ext cx="4096512" cy="5303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300">
                <a:solidFill>
                  <a:srgbClr val="263445"/>
                </a:solidFill>
                <a:latin typeface="Aptos"/>
                <a:ea typeface="Aptos"/>
                <a:cs typeface="Aptos"/>
              </a:defRPr>
            </a:pPr>
            <a:r>
              <a:t>Bazı çocuklarda albümin hızla ve kalıcı biçimde normale dönmüştür.</a:t>
            </a:r>
          </a:p>
        </p:txBody>
      </p:sp>
      <p:sp>
        <p:nvSpPr>
          <p:cNvPr id="18" name="Rounded Rectangle 17">
            <a:extLst xmlns:a="http://schemas.openxmlformats.org/drawingml/2006/main">
              <a:ext uri="{FF2B5EF4-FFF2-40B4-BE49-F238E27FC236}">
                <a16:creationId xmlns:a16="http://schemas.microsoft.com/office/drawing/2014/main" id="{C7A9E4F2-F1EB-4758-8A02-B7348A493764}"/>
              </a:ext>
            </a:extLst>
          </p:cNvPr>
          <p:cNvSpPr>
            <a:spLocks xmlns:a="http://schemas.openxmlformats.org/drawingml/2006/main" noGrp="1"/>
          </p:cNvSpPr>
          <p:nvPr/>
        </p:nvSpPr>
        <p:spPr>
          <a:xfrm xmlns:a="http://schemas.openxmlformats.org/drawingml/2006/main">
            <a:off x="6565392" y="5449824"/>
            <a:ext cx="4617720" cy="475488"/>
          </a:xfrm>
          <a:prstGeom xmlns:a="http://schemas.openxmlformats.org/drawingml/2006/main" prst="roundRect">
            <a:avLst/>
          </a:prstGeom>
          <a:solidFill xmlns:a="http://schemas.openxmlformats.org/drawingml/2006/main">
            <a:srgbClr val="00919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571E843A-1A68-4C4B-B7D9-D55200CD9EC0}"/>
              </a:ext>
            </a:extLst>
          </p:cNvPr>
          <p:cNvSpPr>
            <a:spLocks xmlns:a="http://schemas.openxmlformats.org/drawingml/2006/main" noGrp="1"/>
          </p:cNvSpPr>
          <p:nvPr/>
        </p:nvSpPr>
        <p:spPr>
          <a:xfrm xmlns:a="http://schemas.openxmlformats.org/drawingml/2006/main">
            <a:off x="6720840" y="5527548"/>
            <a:ext cx="4297680" cy="310896"/>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ctr">
              <a:buNone/>
              <a:defRPr sz="1500" b="1">
                <a:solidFill>
                  <a:srgbClr val="FFFFFF"/>
                </a:solidFill>
                <a:latin typeface="Aptos"/>
                <a:ea typeface="Aptos"/>
                <a:cs typeface="Aptos"/>
              </a:defRPr>
            </a:pPr>
            <a:r>
              <a:t>İkinci basamak tedavi kullanımı:  %12</a:t>
            </a:r>
          </a:p>
        </p:txBody>
      </p:sp>
    </p:spTree>
    <p:extLst>
      <p:ext uri="{BB962C8B-B14F-4D97-AF65-F5344CB8AC3E}">
        <p14:creationId xmlns:p14="http://schemas.microsoft.com/office/powerpoint/2010/main" val="108896162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B93D60B-6143-410C-9D0E-34BC13BDF275}"/>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00919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A512D533-BF71-4EBC-BBB0-16721DA6237A}"/>
              </a:ext>
            </a:extLst>
          </p:cNvPr>
          <p:cNvSpPr>
            <a:spLocks xmlns:a="http://schemas.openxmlformats.org/drawingml/2006/main" noGrp="1"/>
          </p:cNvSpPr>
          <p:nvPr/>
        </p:nvSpPr>
        <p:spPr>
          <a:xfrm xmlns:a="http://schemas.openxmlformats.org/drawingml/2006/main">
            <a:off x="658368" y="438912"/>
            <a:ext cx="10972800" cy="54864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600" b="1">
                <a:solidFill>
                  <a:srgbClr val="12263F"/>
                </a:solidFill>
                <a:latin typeface="Aptos"/>
                <a:ea typeface="Aptos"/>
                <a:cs typeface="Aptos"/>
              </a:defRPr>
            </a:pPr>
            <a:r>
              <a:t>PRİMER İNTESTİNAL LENFAJİEKTAZİ</a:t>
            </a:r>
          </a:p>
        </p:txBody>
      </p:sp>
      <p:sp>
        <p:nvSpPr>
          <p:cNvPr id="4" name="TextBox 3">
            <a:extLst xmlns:a="http://schemas.openxmlformats.org/drawingml/2006/main">
              <a:ext uri="{FF2B5EF4-FFF2-40B4-BE49-F238E27FC236}">
                <a16:creationId xmlns:a16="http://schemas.microsoft.com/office/drawing/2014/main" id="{5C335199-45EE-4A49-88BE-6EBA14508903}"/>
              </a:ext>
            </a:extLst>
          </p:cNvPr>
          <p:cNvSpPr>
            <a:spLocks xmlns:a="http://schemas.openxmlformats.org/drawingml/2006/main" noGrp="1"/>
          </p:cNvSpPr>
          <p:nvPr/>
        </p:nvSpPr>
        <p:spPr>
          <a:xfrm xmlns:a="http://schemas.openxmlformats.org/drawingml/2006/main">
            <a:off x="676656" y="1033271"/>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0">
                <a:solidFill>
                  <a:srgbClr val="667584"/>
                </a:solidFill>
                <a:latin typeface="Aptos"/>
                <a:ea typeface="Aptos"/>
                <a:cs typeface="Aptos"/>
              </a:defRPr>
            </a:pPr>
            <a:r>
              <a:t>Tanım • klinik bulgular • tanı • beslenme tedavisi</a:t>
            </a:r>
          </a:p>
        </p:txBody>
      </p:sp>
      <p:sp>
        <p:nvSpPr>
          <p:cNvPr id="5" name="Rounded Rectangle 4">
            <a:extLst xmlns:a="http://schemas.openxmlformats.org/drawingml/2006/main">
              <a:ext uri="{FF2B5EF4-FFF2-40B4-BE49-F238E27FC236}">
                <a16:creationId xmlns:a16="http://schemas.microsoft.com/office/drawing/2014/main" id="{A7292FCC-AF8C-4768-A2AF-048AE8E9A911}"/>
              </a:ext>
            </a:extLst>
          </p:cNvPr>
          <p:cNvSpPr>
            <a:spLocks xmlns:a="http://schemas.openxmlformats.org/drawingml/2006/main" noGrp="1"/>
          </p:cNvSpPr>
          <p:nvPr/>
        </p:nvSpPr>
        <p:spPr>
          <a:xfrm xmlns:a="http://schemas.openxmlformats.org/drawingml/2006/main">
            <a:off x="658368" y="1645920"/>
            <a:ext cx="3520440" cy="4526280"/>
          </a:xfrm>
          <a:prstGeom xmlns:a="http://schemas.openxmlformats.org/drawingml/2006/main" prst="roundRect">
            <a:avLst/>
          </a:prstGeom>
          <a:solidFill xmlns:a="http://schemas.openxmlformats.org/drawingml/2006/main">
            <a:srgbClr val="F2F8F8"/>
          </a:solidFill>
          <a:ln xmlns:a="http://schemas.openxmlformats.org/drawingml/2006/main">
            <a:solidFill>
              <a:srgbClr val="DEE7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0F7859DE-CC8C-495D-BDFC-863816ED113A}"/>
              </a:ext>
            </a:extLst>
          </p:cNvPr>
          <p:cNvSpPr>
            <a:spLocks xmlns:a="http://schemas.openxmlformats.org/drawingml/2006/main" noGrp="1"/>
          </p:cNvSpPr>
          <p:nvPr/>
        </p:nvSpPr>
        <p:spPr>
          <a:xfrm xmlns:a="http://schemas.openxmlformats.org/drawingml/2006/main">
            <a:off x="886968" y="1847088"/>
            <a:ext cx="3063240" cy="38404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009196"/>
                </a:solidFill>
                <a:latin typeface="Aptos"/>
                <a:ea typeface="Aptos"/>
                <a:cs typeface="Aptos"/>
              </a:defRPr>
            </a:pPr>
            <a:r>
              <a:t>HASTALIK VE BULGULAR</a:t>
            </a:r>
          </a:p>
        </p:txBody>
      </p:sp>
      <p:sp>
        <p:nvSpPr>
          <p:cNvPr id="7" name="TextBox 6">
            <a:extLst xmlns:a="http://schemas.openxmlformats.org/drawingml/2006/main">
              <a:ext uri="{FF2B5EF4-FFF2-40B4-BE49-F238E27FC236}">
                <a16:creationId xmlns:a16="http://schemas.microsoft.com/office/drawing/2014/main" id="{270DAAEB-C9CE-451B-A4F7-9FC05C567A46}"/>
              </a:ext>
            </a:extLst>
          </p:cNvPr>
          <p:cNvSpPr>
            <a:spLocks xmlns:a="http://schemas.openxmlformats.org/drawingml/2006/main" noGrp="1"/>
          </p:cNvSpPr>
          <p:nvPr/>
        </p:nvSpPr>
        <p:spPr>
          <a:xfrm xmlns:a="http://schemas.openxmlformats.org/drawingml/2006/main">
            <a:off x="886968" y="2432304"/>
            <a:ext cx="306324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1">
                <a:solidFill>
                  <a:srgbClr val="12263F"/>
                </a:solidFill>
                <a:latin typeface="Aptos"/>
                <a:ea typeface="Aptos"/>
                <a:cs typeface="Aptos"/>
              </a:defRPr>
            </a:pPr>
            <a:r>
              <a:t>Nadir, konjenital hastalık</a:t>
            </a:r>
          </a:p>
        </p:txBody>
      </p:sp>
      <p:sp>
        <p:nvSpPr>
          <p:cNvPr id="8" name="TextBox 7">
            <a:extLst xmlns:a="http://schemas.openxmlformats.org/drawingml/2006/main">
              <a:ext uri="{FF2B5EF4-FFF2-40B4-BE49-F238E27FC236}">
                <a16:creationId xmlns:a16="http://schemas.microsoft.com/office/drawing/2014/main" id="{BF4FEDF4-A5E2-41B2-A6AB-8BD1AA4B51E3}"/>
              </a:ext>
            </a:extLst>
          </p:cNvPr>
          <p:cNvSpPr>
            <a:spLocks xmlns:a="http://schemas.openxmlformats.org/drawingml/2006/main" noGrp="1"/>
          </p:cNvSpPr>
          <p:nvPr/>
        </p:nvSpPr>
        <p:spPr>
          <a:xfrm xmlns:a="http://schemas.openxmlformats.org/drawingml/2006/main">
            <a:off x="886968" y="2743200"/>
            <a:ext cx="3063240" cy="9144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0">
                <a:solidFill>
                  <a:srgbClr val="263445"/>
                </a:solidFill>
                <a:latin typeface="Aptos"/>
                <a:ea typeface="Aptos"/>
                <a:cs typeface="Aptos"/>
              </a:defRPr>
            </a:pPr>
            <a:r>
              <a:t>Bağırsak lenfatikleri idiopatik olarak genişler; şilöz sıvı bağırsak lümenine kaçar.</a:t>
            </a:r>
          </a:p>
        </p:txBody>
      </p:sp>
      <p:sp>
        <p:nvSpPr>
          <p:cNvPr id="9" name="TextBox 8">
            <a:extLst xmlns:a="http://schemas.openxmlformats.org/drawingml/2006/main">
              <a:ext uri="{FF2B5EF4-FFF2-40B4-BE49-F238E27FC236}">
                <a16:creationId xmlns:a16="http://schemas.microsoft.com/office/drawing/2014/main" id="{5737F02F-B2B9-48BB-99A2-1AFBBEC2BB92}"/>
              </a:ext>
            </a:extLst>
          </p:cNvPr>
          <p:cNvSpPr>
            <a:spLocks xmlns:a="http://schemas.openxmlformats.org/drawingml/2006/main" noGrp="1"/>
          </p:cNvSpPr>
          <p:nvPr/>
        </p:nvSpPr>
        <p:spPr>
          <a:xfrm xmlns:a="http://schemas.openxmlformats.org/drawingml/2006/main">
            <a:off x="886968" y="3593592"/>
            <a:ext cx="306324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1">
                <a:solidFill>
                  <a:srgbClr val="12263F"/>
                </a:solidFill>
                <a:latin typeface="Aptos"/>
                <a:ea typeface="Aptos"/>
                <a:cs typeface="Aptos"/>
              </a:defRPr>
            </a:pPr>
            <a:r>
              <a:t>Protein kaybettiren enteropati</a:t>
            </a:r>
          </a:p>
        </p:txBody>
      </p:sp>
      <p:sp>
        <p:nvSpPr>
          <p:cNvPr id="10" name="TextBox 9">
            <a:extLst xmlns:a="http://schemas.openxmlformats.org/drawingml/2006/main">
              <a:ext uri="{FF2B5EF4-FFF2-40B4-BE49-F238E27FC236}">
                <a16:creationId xmlns:a16="http://schemas.microsoft.com/office/drawing/2014/main" id="{85F76C47-BA3F-4809-A324-32D660646EF0}"/>
              </a:ext>
            </a:extLst>
          </p:cNvPr>
          <p:cNvSpPr>
            <a:spLocks xmlns:a="http://schemas.openxmlformats.org/drawingml/2006/main" noGrp="1"/>
          </p:cNvSpPr>
          <p:nvPr/>
        </p:nvSpPr>
        <p:spPr>
          <a:xfrm xmlns:a="http://schemas.openxmlformats.org/drawingml/2006/main">
            <a:off x="886968" y="3904488"/>
            <a:ext cx="3063240" cy="9144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0">
                <a:solidFill>
                  <a:srgbClr val="263445"/>
                </a:solidFill>
                <a:latin typeface="Aptos"/>
                <a:ea typeface="Aptos"/>
                <a:cs typeface="Aptos"/>
              </a:defRPr>
            </a:pPr>
            <a:r>
              <a:t>Lenfopeni, hipoalbüminemi ve hipogamaglobulinemi görülebilir.</a:t>
            </a:r>
          </a:p>
        </p:txBody>
      </p:sp>
      <p:sp>
        <p:nvSpPr>
          <p:cNvPr id="11" name="TextBox 10">
            <a:extLst xmlns:a="http://schemas.openxmlformats.org/drawingml/2006/main">
              <a:ext uri="{FF2B5EF4-FFF2-40B4-BE49-F238E27FC236}">
                <a16:creationId xmlns:a16="http://schemas.microsoft.com/office/drawing/2014/main" id="{244A90E3-6841-4BC7-A0B2-F5F334E1B828}"/>
              </a:ext>
            </a:extLst>
          </p:cNvPr>
          <p:cNvSpPr>
            <a:spLocks xmlns:a="http://schemas.openxmlformats.org/drawingml/2006/main" noGrp="1"/>
          </p:cNvSpPr>
          <p:nvPr/>
        </p:nvSpPr>
        <p:spPr>
          <a:xfrm xmlns:a="http://schemas.openxmlformats.org/drawingml/2006/main">
            <a:off x="886968" y="4754880"/>
            <a:ext cx="306324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1">
                <a:solidFill>
                  <a:srgbClr val="12263F"/>
                </a:solidFill>
                <a:latin typeface="Aptos"/>
                <a:ea typeface="Aptos"/>
                <a:cs typeface="Aptos"/>
              </a:defRPr>
            </a:pPr>
            <a:r>
              <a:t>Klinik bulgular</a:t>
            </a:r>
          </a:p>
        </p:txBody>
      </p:sp>
      <p:sp>
        <p:nvSpPr>
          <p:cNvPr id="12" name="TextBox 11">
            <a:extLst xmlns:a="http://schemas.openxmlformats.org/drawingml/2006/main">
              <a:ext uri="{FF2B5EF4-FFF2-40B4-BE49-F238E27FC236}">
                <a16:creationId xmlns:a16="http://schemas.microsoft.com/office/drawing/2014/main" id="{FF5D5C64-16D8-4982-B8A6-86BA684FE57B}"/>
              </a:ext>
            </a:extLst>
          </p:cNvPr>
          <p:cNvSpPr>
            <a:spLocks xmlns:a="http://schemas.openxmlformats.org/drawingml/2006/main" noGrp="1"/>
          </p:cNvSpPr>
          <p:nvPr/>
        </p:nvSpPr>
        <p:spPr>
          <a:xfrm xmlns:a="http://schemas.openxmlformats.org/drawingml/2006/main">
            <a:off x="886968" y="5065776"/>
            <a:ext cx="3063240" cy="9144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0">
                <a:solidFill>
                  <a:srgbClr val="263445"/>
                </a:solidFill>
                <a:latin typeface="Aptos"/>
                <a:ea typeface="Aptos"/>
                <a:cs typeface="Aptos"/>
              </a:defRPr>
            </a:pPr>
            <a:r>
              <a:t>Ödem, kronik ishal ve seröz efüzyonlar eşlik edebilir.</a:t>
            </a:r>
          </a:p>
        </p:txBody>
      </p:sp>
      <p:sp>
        <p:nvSpPr>
          <p:cNvPr id="13" name="Rounded Rectangle 12">
            <a:extLst xmlns:a="http://schemas.openxmlformats.org/drawingml/2006/main">
              <a:ext uri="{FF2B5EF4-FFF2-40B4-BE49-F238E27FC236}">
                <a16:creationId xmlns:a16="http://schemas.microsoft.com/office/drawing/2014/main" id="{38BAA6BF-FE1B-4DE0-A005-68D396A6B717}"/>
              </a:ext>
            </a:extLst>
          </p:cNvPr>
          <p:cNvSpPr>
            <a:spLocks xmlns:a="http://schemas.openxmlformats.org/drawingml/2006/main" noGrp="1"/>
          </p:cNvSpPr>
          <p:nvPr/>
        </p:nvSpPr>
        <p:spPr>
          <a:xfrm xmlns:a="http://schemas.openxmlformats.org/drawingml/2006/main">
            <a:off x="4334256" y="1645920"/>
            <a:ext cx="3520440" cy="4526280"/>
          </a:xfrm>
          <a:prstGeom xmlns:a="http://schemas.openxmlformats.org/drawingml/2006/main" prst="roundRect">
            <a:avLst/>
          </a:prstGeom>
          <a:solidFill xmlns:a="http://schemas.openxmlformats.org/drawingml/2006/main">
            <a:srgbClr val="F2F8F8"/>
          </a:solidFill>
          <a:ln xmlns:a="http://schemas.openxmlformats.org/drawingml/2006/main">
            <a:solidFill>
              <a:srgbClr val="DEE7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83BE3CA7-3963-44E6-BC52-F669F132FA8B}"/>
              </a:ext>
            </a:extLst>
          </p:cNvPr>
          <p:cNvSpPr>
            <a:spLocks xmlns:a="http://schemas.openxmlformats.org/drawingml/2006/main" noGrp="1"/>
          </p:cNvSpPr>
          <p:nvPr/>
        </p:nvSpPr>
        <p:spPr>
          <a:xfrm xmlns:a="http://schemas.openxmlformats.org/drawingml/2006/main">
            <a:off x="4562856" y="1847088"/>
            <a:ext cx="3063240" cy="38404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009196"/>
                </a:solidFill>
                <a:latin typeface="Aptos"/>
                <a:ea typeface="Aptos"/>
                <a:cs typeface="Aptos"/>
              </a:defRPr>
            </a:pPr>
            <a:r>
              <a:t>TANI</a:t>
            </a:r>
          </a:p>
        </p:txBody>
      </p:sp>
      <p:sp>
        <p:nvSpPr>
          <p:cNvPr id="15" name="TextBox 14">
            <a:extLst xmlns:a="http://schemas.openxmlformats.org/drawingml/2006/main">
              <a:ext uri="{FF2B5EF4-FFF2-40B4-BE49-F238E27FC236}">
                <a16:creationId xmlns:a16="http://schemas.microsoft.com/office/drawing/2014/main" id="{74A3A604-9174-43F5-82E6-824936489FD7}"/>
              </a:ext>
            </a:extLst>
          </p:cNvPr>
          <p:cNvSpPr>
            <a:spLocks xmlns:a="http://schemas.openxmlformats.org/drawingml/2006/main" noGrp="1"/>
          </p:cNvSpPr>
          <p:nvPr/>
        </p:nvSpPr>
        <p:spPr>
          <a:xfrm xmlns:a="http://schemas.openxmlformats.org/drawingml/2006/main">
            <a:off x="4562856" y="2432304"/>
            <a:ext cx="306324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1">
                <a:solidFill>
                  <a:srgbClr val="12263F"/>
                </a:solidFill>
                <a:latin typeface="Aptos"/>
                <a:ea typeface="Aptos"/>
                <a:cs typeface="Aptos"/>
              </a:defRPr>
            </a:pPr>
            <a:r>
              <a:t>Protein kaybı</a:t>
            </a:r>
          </a:p>
        </p:txBody>
      </p:sp>
      <p:sp>
        <p:nvSpPr>
          <p:cNvPr id="16" name="TextBox 15">
            <a:extLst xmlns:a="http://schemas.openxmlformats.org/drawingml/2006/main">
              <a:ext uri="{FF2B5EF4-FFF2-40B4-BE49-F238E27FC236}">
                <a16:creationId xmlns:a16="http://schemas.microsoft.com/office/drawing/2014/main" id="{CDDF0813-4F60-495F-B408-48510F9FDB58}"/>
              </a:ext>
            </a:extLst>
          </p:cNvPr>
          <p:cNvSpPr>
            <a:spLocks xmlns:a="http://schemas.openxmlformats.org/drawingml/2006/main" noGrp="1"/>
          </p:cNvSpPr>
          <p:nvPr/>
        </p:nvSpPr>
        <p:spPr>
          <a:xfrm xmlns:a="http://schemas.openxmlformats.org/drawingml/2006/main">
            <a:off x="4562856" y="2743200"/>
            <a:ext cx="3063240" cy="9144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0">
                <a:solidFill>
                  <a:srgbClr val="263445"/>
                </a:solidFill>
                <a:latin typeface="Aptos"/>
                <a:ea typeface="Aptos"/>
                <a:cs typeface="Aptos"/>
              </a:defRPr>
            </a:pPr>
            <a:r>
              <a:t>Alfa-1 antitripsin klirensindeki artışla değerlendirilir.</a:t>
            </a:r>
          </a:p>
        </p:txBody>
      </p:sp>
      <p:sp>
        <p:nvSpPr>
          <p:cNvPr id="17" name="TextBox 16">
            <a:extLst xmlns:a="http://schemas.openxmlformats.org/drawingml/2006/main">
              <a:ext uri="{FF2B5EF4-FFF2-40B4-BE49-F238E27FC236}">
                <a16:creationId xmlns:a16="http://schemas.microsoft.com/office/drawing/2014/main" id="{4045F602-56DE-402A-BF65-67C18835CA34}"/>
              </a:ext>
            </a:extLst>
          </p:cNvPr>
          <p:cNvSpPr>
            <a:spLocks xmlns:a="http://schemas.openxmlformats.org/drawingml/2006/main" noGrp="1"/>
          </p:cNvSpPr>
          <p:nvPr/>
        </p:nvSpPr>
        <p:spPr>
          <a:xfrm xmlns:a="http://schemas.openxmlformats.org/drawingml/2006/main">
            <a:off x="4562856" y="3593592"/>
            <a:ext cx="306324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1">
                <a:solidFill>
                  <a:srgbClr val="12263F"/>
                </a:solidFill>
                <a:latin typeface="Aptos"/>
                <a:ea typeface="Aptos"/>
                <a:cs typeface="Aptos"/>
              </a:defRPr>
            </a:pPr>
            <a:r>
              <a:t>Endoskopik inceleme</a:t>
            </a:r>
          </a:p>
        </p:txBody>
      </p:sp>
      <p:sp>
        <p:nvSpPr>
          <p:cNvPr id="18" name="TextBox 17">
            <a:extLst xmlns:a="http://schemas.openxmlformats.org/drawingml/2006/main">
              <a:ext uri="{FF2B5EF4-FFF2-40B4-BE49-F238E27FC236}">
                <a16:creationId xmlns:a16="http://schemas.microsoft.com/office/drawing/2014/main" id="{49301308-C05C-4348-A2AA-BE179C5C6EF5}"/>
              </a:ext>
            </a:extLst>
          </p:cNvPr>
          <p:cNvSpPr>
            <a:spLocks xmlns:a="http://schemas.openxmlformats.org/drawingml/2006/main" noGrp="1"/>
          </p:cNvSpPr>
          <p:nvPr/>
        </p:nvSpPr>
        <p:spPr>
          <a:xfrm xmlns:a="http://schemas.openxmlformats.org/drawingml/2006/main">
            <a:off x="4562856" y="3904488"/>
            <a:ext cx="3063240" cy="9144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0">
                <a:solidFill>
                  <a:srgbClr val="263445"/>
                </a:solidFill>
                <a:latin typeface="Aptos"/>
                <a:ea typeface="Aptos"/>
                <a:cs typeface="Aptos"/>
              </a:defRPr>
            </a:pPr>
            <a:r>
              <a:t>Özofagogastroduodenoskopi, ileokolonoskopi veya video kapsül endoskopi kullanılır.</a:t>
            </a:r>
          </a:p>
        </p:txBody>
      </p:sp>
      <p:sp>
        <p:nvSpPr>
          <p:cNvPr id="19" name="TextBox 18">
            <a:extLst xmlns:a="http://schemas.openxmlformats.org/drawingml/2006/main">
              <a:ext uri="{FF2B5EF4-FFF2-40B4-BE49-F238E27FC236}">
                <a16:creationId xmlns:a16="http://schemas.microsoft.com/office/drawing/2014/main" id="{652A764B-EBB4-456B-9D83-5588B23F37E0}"/>
              </a:ext>
            </a:extLst>
          </p:cNvPr>
          <p:cNvSpPr>
            <a:spLocks xmlns:a="http://schemas.openxmlformats.org/drawingml/2006/main" noGrp="1"/>
          </p:cNvSpPr>
          <p:nvPr/>
        </p:nvSpPr>
        <p:spPr>
          <a:xfrm xmlns:a="http://schemas.openxmlformats.org/drawingml/2006/main">
            <a:off x="4562856" y="4754880"/>
            <a:ext cx="306324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1">
                <a:solidFill>
                  <a:srgbClr val="12263F"/>
                </a:solidFill>
                <a:latin typeface="Aptos"/>
                <a:ea typeface="Aptos"/>
                <a:cs typeface="Aptos"/>
              </a:defRPr>
            </a:pPr>
            <a:r>
              <a:t>Tipik görünüm</a:t>
            </a:r>
          </a:p>
        </p:txBody>
      </p:sp>
      <p:sp>
        <p:nvSpPr>
          <p:cNvPr id="20" name="TextBox 19">
            <a:extLst xmlns:a="http://schemas.openxmlformats.org/drawingml/2006/main">
              <a:ext uri="{FF2B5EF4-FFF2-40B4-BE49-F238E27FC236}">
                <a16:creationId xmlns:a16="http://schemas.microsoft.com/office/drawing/2014/main" id="{F6465EFB-3899-4D40-AD15-5980F5C7F9DB}"/>
              </a:ext>
            </a:extLst>
          </p:cNvPr>
          <p:cNvSpPr>
            <a:spLocks xmlns:a="http://schemas.openxmlformats.org/drawingml/2006/main" noGrp="1"/>
          </p:cNvSpPr>
          <p:nvPr/>
        </p:nvSpPr>
        <p:spPr>
          <a:xfrm xmlns:a="http://schemas.openxmlformats.org/drawingml/2006/main">
            <a:off x="4562856" y="5065776"/>
            <a:ext cx="3063240" cy="9144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0">
                <a:solidFill>
                  <a:srgbClr val="263445"/>
                </a:solidFill>
                <a:latin typeface="Aptos"/>
                <a:ea typeface="Aptos"/>
                <a:cs typeface="Aptos"/>
              </a:defRPr>
            </a:pPr>
            <a:r>
              <a:t>Duodenum ve/veya ileumda beyazımsı noktalar ya da belirgin beyaz villuslar; biyopside genişlemiş lenfatik kanallar.</a:t>
            </a:r>
          </a:p>
        </p:txBody>
      </p:sp>
      <p:sp>
        <p:nvSpPr>
          <p:cNvPr id="21" name="Rounded Rectangle 20">
            <a:extLst xmlns:a="http://schemas.openxmlformats.org/drawingml/2006/main">
              <a:ext uri="{FF2B5EF4-FFF2-40B4-BE49-F238E27FC236}">
                <a16:creationId xmlns:a16="http://schemas.microsoft.com/office/drawing/2014/main" id="{8E9FA77A-25B0-4D0F-93D6-091A251D805E}"/>
              </a:ext>
            </a:extLst>
          </p:cNvPr>
          <p:cNvSpPr>
            <a:spLocks xmlns:a="http://schemas.openxmlformats.org/drawingml/2006/main" noGrp="1"/>
          </p:cNvSpPr>
          <p:nvPr/>
        </p:nvSpPr>
        <p:spPr>
          <a:xfrm xmlns:a="http://schemas.openxmlformats.org/drawingml/2006/main">
            <a:off x="8010144" y="1645920"/>
            <a:ext cx="3520440" cy="4526280"/>
          </a:xfrm>
          <a:prstGeom xmlns:a="http://schemas.openxmlformats.org/drawingml/2006/main" prst="roundRect">
            <a:avLst/>
          </a:prstGeom>
          <a:solidFill xmlns:a="http://schemas.openxmlformats.org/drawingml/2006/main">
            <a:srgbClr val="F2F8F8"/>
          </a:solidFill>
          <a:ln xmlns:a="http://schemas.openxmlformats.org/drawingml/2006/main">
            <a:solidFill>
              <a:srgbClr val="DEE7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7DEA73CE-2CE7-4FC2-B224-385C8605C124}"/>
              </a:ext>
            </a:extLst>
          </p:cNvPr>
          <p:cNvSpPr>
            <a:spLocks xmlns:a="http://schemas.openxmlformats.org/drawingml/2006/main" noGrp="1"/>
          </p:cNvSpPr>
          <p:nvPr/>
        </p:nvSpPr>
        <p:spPr>
          <a:xfrm xmlns:a="http://schemas.openxmlformats.org/drawingml/2006/main">
            <a:off x="8238744" y="1847088"/>
            <a:ext cx="3063240" cy="38404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009196"/>
                </a:solidFill>
                <a:latin typeface="Aptos"/>
                <a:ea typeface="Aptos"/>
                <a:cs typeface="Aptos"/>
              </a:defRPr>
            </a:pPr>
            <a:r>
              <a:t>BİRİNCİ BASAMAK TEDAVİ</a:t>
            </a:r>
          </a:p>
        </p:txBody>
      </p:sp>
      <p:sp>
        <p:nvSpPr>
          <p:cNvPr id="23" name="TextBox 22">
            <a:extLst xmlns:a="http://schemas.openxmlformats.org/drawingml/2006/main">
              <a:ext uri="{FF2B5EF4-FFF2-40B4-BE49-F238E27FC236}">
                <a16:creationId xmlns:a16="http://schemas.microsoft.com/office/drawing/2014/main" id="{2FEDA96E-38C1-45F8-8717-BF3B715EBCA1}"/>
              </a:ext>
            </a:extLst>
          </p:cNvPr>
          <p:cNvSpPr>
            <a:spLocks xmlns:a="http://schemas.openxmlformats.org/drawingml/2006/main" noGrp="1"/>
          </p:cNvSpPr>
          <p:nvPr/>
        </p:nvSpPr>
        <p:spPr>
          <a:xfrm xmlns:a="http://schemas.openxmlformats.org/drawingml/2006/main">
            <a:off x="8238744" y="2432304"/>
            <a:ext cx="306324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1">
                <a:solidFill>
                  <a:srgbClr val="12263F"/>
                </a:solidFill>
                <a:latin typeface="Aptos"/>
                <a:ea typeface="Aptos"/>
                <a:cs typeface="Aptos"/>
              </a:defRPr>
            </a:pPr>
            <a:r>
              <a:t>Diyetin içeriği</a:t>
            </a:r>
          </a:p>
        </p:txBody>
      </p:sp>
      <p:sp>
        <p:nvSpPr>
          <p:cNvPr id="24" name="TextBox 23">
            <a:extLst xmlns:a="http://schemas.openxmlformats.org/drawingml/2006/main">
              <a:ext uri="{FF2B5EF4-FFF2-40B4-BE49-F238E27FC236}">
                <a16:creationId xmlns:a16="http://schemas.microsoft.com/office/drawing/2014/main" id="{509EA0B4-84B3-4146-A753-0C12C167AEB4}"/>
              </a:ext>
            </a:extLst>
          </p:cNvPr>
          <p:cNvSpPr>
            <a:spLocks xmlns:a="http://schemas.openxmlformats.org/drawingml/2006/main" noGrp="1"/>
          </p:cNvSpPr>
          <p:nvPr/>
        </p:nvSpPr>
        <p:spPr>
          <a:xfrm xmlns:a="http://schemas.openxmlformats.org/drawingml/2006/main">
            <a:off x="8238744" y="2743200"/>
            <a:ext cx="3063240" cy="9144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0">
                <a:solidFill>
                  <a:srgbClr val="263445"/>
                </a:solidFill>
                <a:latin typeface="Aptos"/>
                <a:ea typeface="Aptos"/>
                <a:cs typeface="Aptos"/>
              </a:defRPr>
            </a:pPr>
            <a:r>
              <a:t>Uzun zincirli trigliserit (LCT) kısıtlı; orta zincirli trigliserit (MCT) destekli ve protein içeriği yüksek.</a:t>
            </a:r>
          </a:p>
        </p:txBody>
      </p:sp>
      <p:sp>
        <p:nvSpPr>
          <p:cNvPr id="25" name="TextBox 24">
            <a:extLst xmlns:a="http://schemas.openxmlformats.org/drawingml/2006/main">
              <a:ext uri="{FF2B5EF4-FFF2-40B4-BE49-F238E27FC236}">
                <a16:creationId xmlns:a16="http://schemas.microsoft.com/office/drawing/2014/main" id="{6135FB67-F1FE-4C65-8044-DFF1ADEF6F2E}"/>
              </a:ext>
            </a:extLst>
          </p:cNvPr>
          <p:cNvSpPr>
            <a:spLocks xmlns:a="http://schemas.openxmlformats.org/drawingml/2006/main" noGrp="1"/>
          </p:cNvSpPr>
          <p:nvPr/>
        </p:nvSpPr>
        <p:spPr>
          <a:xfrm xmlns:a="http://schemas.openxmlformats.org/drawingml/2006/main">
            <a:off x="8238744" y="3593592"/>
            <a:ext cx="306324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1">
                <a:solidFill>
                  <a:srgbClr val="12263F"/>
                </a:solidFill>
                <a:latin typeface="Aptos"/>
                <a:ea typeface="Aptos"/>
                <a:cs typeface="Aptos"/>
              </a:defRPr>
            </a:pPr>
            <a:r>
              <a:t>Etki mekanizması</a:t>
            </a:r>
          </a:p>
        </p:txBody>
      </p:sp>
      <p:sp>
        <p:nvSpPr>
          <p:cNvPr id="26" name="TextBox 25">
            <a:extLst xmlns:a="http://schemas.openxmlformats.org/drawingml/2006/main">
              <a:ext uri="{FF2B5EF4-FFF2-40B4-BE49-F238E27FC236}">
                <a16:creationId xmlns:a16="http://schemas.microsoft.com/office/drawing/2014/main" id="{84CE12D9-C380-4CF1-8F8D-64CF44820D43}"/>
              </a:ext>
            </a:extLst>
          </p:cNvPr>
          <p:cNvSpPr>
            <a:spLocks xmlns:a="http://schemas.openxmlformats.org/drawingml/2006/main" noGrp="1"/>
          </p:cNvSpPr>
          <p:nvPr/>
        </p:nvSpPr>
        <p:spPr>
          <a:xfrm xmlns:a="http://schemas.openxmlformats.org/drawingml/2006/main">
            <a:off x="8238744" y="3904488"/>
            <a:ext cx="3063240" cy="9144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0">
                <a:solidFill>
                  <a:srgbClr val="263445"/>
                </a:solidFill>
                <a:latin typeface="Aptos"/>
                <a:ea typeface="Aptos"/>
                <a:cs typeface="Aptos"/>
              </a:defRPr>
            </a:pPr>
            <a:r>
              <a:t>LCT kısıtlaması lenfatik basıncı ve şilöz kaçağı azaltır. MCT’ler lenfatik dolaşımı atlayıp portal sistemden emilir.</a:t>
            </a:r>
          </a:p>
        </p:txBody>
      </p:sp>
      <p:sp>
        <p:nvSpPr>
          <p:cNvPr id="27" name="TextBox 26">
            <a:extLst xmlns:a="http://schemas.openxmlformats.org/drawingml/2006/main">
              <a:ext uri="{FF2B5EF4-FFF2-40B4-BE49-F238E27FC236}">
                <a16:creationId xmlns:a16="http://schemas.microsoft.com/office/drawing/2014/main" id="{6FFAAABB-F70C-492C-A01E-6727920F48EC}"/>
              </a:ext>
            </a:extLst>
          </p:cNvPr>
          <p:cNvSpPr>
            <a:spLocks xmlns:a="http://schemas.openxmlformats.org/drawingml/2006/main" noGrp="1"/>
          </p:cNvSpPr>
          <p:nvPr/>
        </p:nvSpPr>
        <p:spPr>
          <a:xfrm xmlns:a="http://schemas.openxmlformats.org/drawingml/2006/main">
            <a:off x="8238744" y="4754880"/>
            <a:ext cx="306324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1">
                <a:solidFill>
                  <a:srgbClr val="12263F"/>
                </a:solidFill>
                <a:latin typeface="Aptos"/>
                <a:ea typeface="Aptos"/>
                <a:cs typeface="Aptos"/>
              </a:defRPr>
            </a:pPr>
            <a:r>
              <a:t>İzlem</a:t>
            </a:r>
          </a:p>
        </p:txBody>
      </p:sp>
      <p:sp>
        <p:nvSpPr>
          <p:cNvPr id="28" name="TextBox 27">
            <a:extLst xmlns:a="http://schemas.openxmlformats.org/drawingml/2006/main">
              <a:ext uri="{FF2B5EF4-FFF2-40B4-BE49-F238E27FC236}">
                <a16:creationId xmlns:a16="http://schemas.microsoft.com/office/drawing/2014/main" id="{D17F2DD7-DD57-4348-B21A-AB9F9316458E}"/>
              </a:ext>
            </a:extLst>
          </p:cNvPr>
          <p:cNvSpPr>
            <a:spLocks xmlns:a="http://schemas.openxmlformats.org/drawingml/2006/main" noGrp="1"/>
          </p:cNvSpPr>
          <p:nvPr/>
        </p:nvSpPr>
        <p:spPr>
          <a:xfrm xmlns:a="http://schemas.openxmlformats.org/drawingml/2006/main">
            <a:off x="8238744" y="5065776"/>
            <a:ext cx="3063240" cy="9144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0">
                <a:solidFill>
                  <a:srgbClr val="263445"/>
                </a:solidFill>
                <a:latin typeface="Aptos"/>
                <a:ea typeface="Aptos"/>
                <a:cs typeface="Aptos"/>
              </a:defRPr>
            </a:pPr>
            <a:r>
              <a:t>Yağda çözünen vitaminler ve esansiyel yağ asitleri düzenli izlenmelidir.</a:t>
            </a:r>
          </a:p>
        </p:txBody>
      </p:sp>
      <p:sp xmlns:a="http://schemas.openxmlformats.org/drawingml/2006/main">
        <p:nvSpPr>
          <p:cNvPr id="29" name="Inceleme notu"/>
          <p:cNvSpPr txBox="1"/>
          <p:nvPr/>
        </p:nvSpPr>
        <p:spPr>
          <a:xfrm>
            <a:off x="150000" y="6628976"/>
            <a:ext cx="11891695" cy="204024"/>
          </a:xfrm>
          <a:prstGeom prst="rect">
            <a:avLst/>
          </a:prstGeom>
          <a:solidFill>
            <a:srgbClr val="FFF4CC"/>
          </a:solidFill>
          <a:ln w="9525">
            <a:solidFill>
              <a:srgbClr val="C99A00"/>
            </a:solidFill>
          </a:ln>
        </p:spPr>
        <p:txBody>
          <a:bodyPr wrap="square" anchor="ctr" tIns="27432" bIns="27432">
            <a:spAutoFit/>
          </a:bodyPr>
          <a:lstStyle/>
          <a:p>
            <a:r>
              <a:rPr b="1" sz="900">
                <a:solidFill>
                  <a:srgbClr val="A61B1B"/>
                </a:solidFill>
              </a:rPr>
              <a:t>İnceleme notu: </a:t>
            </a:r>
            <a:r>
              <a:rPr sz="900">
                <a:solidFill>
                  <a:srgbClr val="1F1F1F"/>
                </a:solidFill>
              </a:rPr>
              <a:t>Başlıkta yazım hatası: “LENFAJİEKTAZİ” → “LENFANJİEKTAZİ”.</a:t>
            </a:r>
          </a:p>
        </p:txBody>
      </p:sp>
    </p:spTree>
    <p:extLst>
      <p:ext uri="{BB962C8B-B14F-4D97-AF65-F5344CB8AC3E}">
        <p14:creationId xmlns:p14="http://schemas.microsoft.com/office/powerpoint/2010/main" val="185635388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99AFDC2-A54A-4600-9962-2C0F463255BB}"/>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00919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E058F463-CC00-4CE9-A15F-81302025EC6A}"/>
              </a:ext>
            </a:extLst>
          </p:cNvPr>
          <p:cNvSpPr>
            <a:spLocks xmlns:a="http://schemas.openxmlformats.org/drawingml/2006/main" noGrp="1"/>
          </p:cNvSpPr>
          <p:nvPr/>
        </p:nvSpPr>
        <p:spPr>
          <a:xfrm xmlns:a="http://schemas.openxmlformats.org/drawingml/2006/main">
            <a:off x="658368" y="438912"/>
            <a:ext cx="10972800" cy="54864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500" b="1">
                <a:solidFill>
                  <a:srgbClr val="12263F"/>
                </a:solidFill>
                <a:latin typeface="Aptos"/>
                <a:ea typeface="Aptos"/>
                <a:cs typeface="Aptos"/>
              </a:defRPr>
            </a:pPr>
            <a:r>
              <a:t>TEDAVİYE YANITSIZLIK VE ÇALIŞMANIN AMACI</a:t>
            </a:r>
          </a:p>
        </p:txBody>
      </p:sp>
      <p:sp>
        <p:nvSpPr>
          <p:cNvPr id="4" name="TextBox 3">
            <a:extLst xmlns:a="http://schemas.openxmlformats.org/drawingml/2006/main">
              <a:ext uri="{FF2B5EF4-FFF2-40B4-BE49-F238E27FC236}">
                <a16:creationId xmlns:a16="http://schemas.microsoft.com/office/drawing/2014/main" id="{E1AEF43C-A34B-4CE5-A920-B2F31C1B4E51}"/>
              </a:ext>
            </a:extLst>
          </p:cNvPr>
          <p:cNvSpPr>
            <a:spLocks xmlns:a="http://schemas.openxmlformats.org/drawingml/2006/main" noGrp="1"/>
          </p:cNvSpPr>
          <p:nvPr/>
        </p:nvSpPr>
        <p:spPr>
          <a:xfrm xmlns:a="http://schemas.openxmlformats.org/drawingml/2006/main">
            <a:off x="676656" y="1033271"/>
            <a:ext cx="10789920" cy="32004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0">
                <a:solidFill>
                  <a:srgbClr val="667584"/>
                </a:solidFill>
                <a:latin typeface="Aptos"/>
                <a:ea typeface="Aptos"/>
                <a:cs typeface="Aptos"/>
              </a:defRPr>
            </a:pPr>
            <a:r>
              <a:t>İkinci basamak tedavi tartışması • kanıt boşluğu • ulusal kohort</a:t>
            </a:r>
          </a:p>
        </p:txBody>
      </p:sp>
      <p:sp>
        <p:nvSpPr>
          <p:cNvPr id="5" name="Rounded Rectangle 4">
            <a:extLst xmlns:a="http://schemas.openxmlformats.org/drawingml/2006/main">
              <a:ext uri="{FF2B5EF4-FFF2-40B4-BE49-F238E27FC236}">
                <a16:creationId xmlns:a16="http://schemas.microsoft.com/office/drawing/2014/main" id="{9AE84069-CDC3-454E-BAE3-67407BE4B9B2}"/>
              </a:ext>
            </a:extLst>
          </p:cNvPr>
          <p:cNvSpPr>
            <a:spLocks xmlns:a="http://schemas.openxmlformats.org/drawingml/2006/main" noGrp="1"/>
          </p:cNvSpPr>
          <p:nvPr/>
        </p:nvSpPr>
        <p:spPr>
          <a:xfrm xmlns:a="http://schemas.openxmlformats.org/drawingml/2006/main">
            <a:off x="658368" y="1645920"/>
            <a:ext cx="10863072" cy="1115568"/>
          </a:xfrm>
          <a:prstGeom xmlns:a="http://schemas.openxmlformats.org/drawingml/2006/main" prst="roundRect">
            <a:avLst/>
          </a:prstGeom>
          <a:solidFill xmlns:a="http://schemas.openxmlformats.org/drawingml/2006/main">
            <a:srgbClr val="F2F8F8"/>
          </a:solidFill>
          <a:ln xmlns:a="http://schemas.openxmlformats.org/drawingml/2006/main">
            <a:solidFill>
              <a:srgbClr val="DEE7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0AC847BA-0E2A-4EB4-8E7A-25B0968B910E}"/>
              </a:ext>
            </a:extLst>
          </p:cNvPr>
          <p:cNvSpPr>
            <a:spLocks xmlns:a="http://schemas.openxmlformats.org/drawingml/2006/main" noGrp="1"/>
          </p:cNvSpPr>
          <p:nvPr/>
        </p:nvSpPr>
        <p:spPr>
          <a:xfrm xmlns:a="http://schemas.openxmlformats.org/drawingml/2006/main">
            <a:off x="932688" y="1847088"/>
            <a:ext cx="205740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009196"/>
                </a:solidFill>
                <a:latin typeface="Aptos"/>
                <a:ea typeface="Aptos"/>
                <a:cs typeface="Aptos"/>
              </a:defRPr>
            </a:pPr>
            <a:r>
              <a:t>TEDAVİYE YANITSIZLIK</a:t>
            </a:r>
          </a:p>
        </p:txBody>
      </p:sp>
      <p:sp>
        <p:nvSpPr>
          <p:cNvPr id="7" name="TextBox 6">
            <a:extLst xmlns:a="http://schemas.openxmlformats.org/drawingml/2006/main">
              <a:ext uri="{FF2B5EF4-FFF2-40B4-BE49-F238E27FC236}">
                <a16:creationId xmlns:a16="http://schemas.microsoft.com/office/drawing/2014/main" id="{9B053D15-2A24-4134-BD5B-5F811B70846F}"/>
              </a:ext>
            </a:extLst>
          </p:cNvPr>
          <p:cNvSpPr>
            <a:spLocks xmlns:a="http://schemas.openxmlformats.org/drawingml/2006/main" noGrp="1"/>
          </p:cNvSpPr>
          <p:nvPr/>
        </p:nvSpPr>
        <p:spPr>
          <a:xfrm xmlns:a="http://schemas.openxmlformats.org/drawingml/2006/main">
            <a:off x="3063240" y="1810512"/>
            <a:ext cx="8046720" cy="6583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500" b="0">
                <a:solidFill>
                  <a:srgbClr val="263445"/>
                </a:solidFill>
                <a:latin typeface="Aptos"/>
                <a:ea typeface="Aptos"/>
                <a:cs typeface="Aptos"/>
              </a:defRPr>
            </a:pPr>
            <a:r>
              <a:t>Süregelen belirtiler ve ağır hipoalbüminemi nedeniyle tekrarlayan infüzyon gereksiniminde oktreotid veya sirolimus düşünülebilir. Bu ilaçların kullanımı tartışmalıdır.</a:t>
            </a:r>
          </a:p>
        </p:txBody>
      </p:sp>
      <p:sp>
        <p:nvSpPr>
          <p:cNvPr id="8" name="Rounded Rectangle 7">
            <a:extLst xmlns:a="http://schemas.openxmlformats.org/drawingml/2006/main">
              <a:ext uri="{FF2B5EF4-FFF2-40B4-BE49-F238E27FC236}">
                <a16:creationId xmlns:a16="http://schemas.microsoft.com/office/drawing/2014/main" id="{F763AAC8-08D8-41F1-8F31-5C8F80716C2F}"/>
              </a:ext>
            </a:extLst>
          </p:cNvPr>
          <p:cNvSpPr>
            <a:spLocks xmlns:a="http://schemas.openxmlformats.org/drawingml/2006/main" noGrp="1"/>
          </p:cNvSpPr>
          <p:nvPr/>
        </p:nvSpPr>
        <p:spPr>
          <a:xfrm xmlns:a="http://schemas.openxmlformats.org/drawingml/2006/main">
            <a:off x="658368" y="3063240"/>
            <a:ext cx="5285232" cy="3063240"/>
          </a:xfrm>
          <a:prstGeom xmlns:a="http://schemas.openxmlformats.org/drawingml/2006/main" prst="roundRect">
            <a:avLst/>
          </a:prstGeom>
          <a:solidFill xmlns:a="http://schemas.openxmlformats.org/drawingml/2006/main">
            <a:srgbClr val="FFFFFF"/>
          </a:solidFill>
          <a:ln xmlns:a="http://schemas.openxmlformats.org/drawingml/2006/main">
            <a:solidFill>
              <a:srgbClr val="DEE7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2AAAA0FB-58F2-4CE6-B7AD-AD586741B0AB}"/>
              </a:ext>
            </a:extLst>
          </p:cNvPr>
          <p:cNvSpPr>
            <a:spLocks xmlns:a="http://schemas.openxmlformats.org/drawingml/2006/main" noGrp="1"/>
          </p:cNvSpPr>
          <p:nvPr/>
        </p:nvSpPr>
        <p:spPr>
          <a:xfrm xmlns:a="http://schemas.openxmlformats.org/drawingml/2006/main">
            <a:off x="914400" y="3310128"/>
            <a:ext cx="4736592" cy="38404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009196"/>
                </a:solidFill>
                <a:latin typeface="Aptos"/>
                <a:ea typeface="Aptos"/>
                <a:cs typeface="Aptos"/>
              </a:defRPr>
            </a:pPr>
            <a:r>
              <a:t>NEDEN DAHA FAZLA VERİ GEREKİYOR?</a:t>
            </a:r>
          </a:p>
        </p:txBody>
      </p:sp>
      <p:sp>
        <p:nvSpPr>
          <p:cNvPr id="10" name="Rounded Rectangle 9">
            <a:extLst xmlns:a="http://schemas.openxmlformats.org/drawingml/2006/main">
              <a:ext uri="{FF2B5EF4-FFF2-40B4-BE49-F238E27FC236}">
                <a16:creationId xmlns:a16="http://schemas.microsoft.com/office/drawing/2014/main" id="{CF746CDC-FD2B-4C1F-B35C-CF47CEF1375E}"/>
              </a:ext>
            </a:extLst>
          </p:cNvPr>
          <p:cNvSpPr>
            <a:spLocks xmlns:a="http://schemas.openxmlformats.org/drawingml/2006/main" noGrp="1"/>
          </p:cNvSpPr>
          <p:nvPr/>
        </p:nvSpPr>
        <p:spPr>
          <a:xfrm xmlns:a="http://schemas.openxmlformats.org/drawingml/2006/main">
            <a:off x="6236208" y="3063240"/>
            <a:ext cx="5285232" cy="3063240"/>
          </a:xfrm>
          <a:prstGeom xmlns:a="http://schemas.openxmlformats.org/drawingml/2006/main" prst="roundRect">
            <a:avLst/>
          </a:prstGeom>
          <a:solidFill xmlns:a="http://schemas.openxmlformats.org/drawingml/2006/main">
            <a:srgbClr val="FFFFFF"/>
          </a:solidFill>
          <a:ln xmlns:a="http://schemas.openxmlformats.org/drawingml/2006/main">
            <a:solidFill>
              <a:srgbClr val="DEE7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37A91EF1-CFD4-49B9-96CC-098E2BEFE068}"/>
              </a:ext>
            </a:extLst>
          </p:cNvPr>
          <p:cNvSpPr>
            <a:spLocks xmlns:a="http://schemas.openxmlformats.org/drawingml/2006/main" noGrp="1"/>
          </p:cNvSpPr>
          <p:nvPr/>
        </p:nvSpPr>
        <p:spPr>
          <a:xfrm xmlns:a="http://schemas.openxmlformats.org/drawingml/2006/main">
            <a:off x="6492240" y="3310128"/>
            <a:ext cx="4736592" cy="38404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009196"/>
                </a:solidFill>
                <a:latin typeface="Aptos"/>
                <a:ea typeface="Aptos"/>
                <a:cs typeface="Aptos"/>
              </a:defRPr>
            </a:pPr>
            <a:r>
              <a:t>BU ÇALIŞMANIN HEDEFLERİ</a:t>
            </a:r>
          </a:p>
        </p:txBody>
      </p:sp>
      <p:sp>
        <p:nvSpPr>
          <p:cNvPr id="12" name="TextBox 11">
            <a:extLst xmlns:a="http://schemas.openxmlformats.org/drawingml/2006/main">
              <a:ext uri="{FF2B5EF4-FFF2-40B4-BE49-F238E27FC236}">
                <a16:creationId xmlns:a16="http://schemas.microsoft.com/office/drawing/2014/main" id="{5C0BB9F4-FABE-4F36-BF3F-6627F00C7EA5}"/>
              </a:ext>
            </a:extLst>
          </p:cNvPr>
          <p:cNvSpPr>
            <a:spLocks xmlns:a="http://schemas.openxmlformats.org/drawingml/2006/main" noGrp="1"/>
          </p:cNvSpPr>
          <p:nvPr/>
        </p:nvSpPr>
        <p:spPr>
          <a:xfrm xmlns:a="http://schemas.openxmlformats.org/drawingml/2006/main">
            <a:off x="941832" y="3886200"/>
            <a:ext cx="4681728"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200" b="1">
                <a:solidFill>
                  <a:srgbClr val="12263F"/>
                </a:solidFill>
                <a:latin typeface="Aptos"/>
                <a:ea typeface="Aptos"/>
                <a:cs typeface="Aptos"/>
              </a:defRPr>
            </a:pPr>
            <a:r>
              <a:t>&lt;200 olgu</a:t>
            </a:r>
          </a:p>
        </p:txBody>
      </p:sp>
      <p:sp>
        <p:nvSpPr>
          <p:cNvPr id="13" name="TextBox 12">
            <a:extLst xmlns:a="http://schemas.openxmlformats.org/drawingml/2006/main">
              <a:ext uri="{FF2B5EF4-FFF2-40B4-BE49-F238E27FC236}">
                <a16:creationId xmlns:a16="http://schemas.microsoft.com/office/drawing/2014/main" id="{56540F3B-FEFA-4799-A87E-033D6B3EDDFE}"/>
              </a:ext>
            </a:extLst>
          </p:cNvPr>
          <p:cNvSpPr>
            <a:spLocks xmlns:a="http://schemas.openxmlformats.org/drawingml/2006/main" noGrp="1"/>
          </p:cNvSpPr>
          <p:nvPr/>
        </p:nvSpPr>
        <p:spPr>
          <a:xfrm xmlns:a="http://schemas.openxmlformats.org/drawingml/2006/main">
            <a:off x="941832" y="4315968"/>
            <a:ext cx="4681728" cy="69494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0">
                <a:solidFill>
                  <a:srgbClr val="263445"/>
                </a:solidFill>
                <a:latin typeface="Aptos"/>
                <a:ea typeface="Aptos"/>
                <a:cs typeface="Aptos"/>
              </a:defRPr>
            </a:pPr>
            <a:r>
              <a:t>1961’deki ilk bildirimden bu yana dünya genelinde bildirilen intestinal lenfanjiektazi olgusu.</a:t>
            </a:r>
          </a:p>
        </p:txBody>
      </p:sp>
      <p:sp>
        <p:nvSpPr>
          <p:cNvPr id="14" name="TextBox 13">
            <a:extLst xmlns:a="http://schemas.openxmlformats.org/drawingml/2006/main">
              <a:ext uri="{FF2B5EF4-FFF2-40B4-BE49-F238E27FC236}">
                <a16:creationId xmlns:a16="http://schemas.microsoft.com/office/drawing/2014/main" id="{8BC12B7F-5751-4F2F-8B36-B09931A04A12}"/>
              </a:ext>
            </a:extLst>
          </p:cNvPr>
          <p:cNvSpPr>
            <a:spLocks xmlns:a="http://schemas.openxmlformats.org/drawingml/2006/main" noGrp="1"/>
          </p:cNvSpPr>
          <p:nvPr/>
        </p:nvSpPr>
        <p:spPr>
          <a:xfrm xmlns:a="http://schemas.openxmlformats.org/drawingml/2006/main">
            <a:off x="941832" y="5047488"/>
            <a:ext cx="4681728" cy="8046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0">
                <a:solidFill>
                  <a:srgbClr val="263445"/>
                </a:solidFill>
                <a:latin typeface="Aptos"/>
                <a:ea typeface="Aptos"/>
                <a:cs typeface="Aptos"/>
              </a:defRPr>
            </a:pPr>
            <a:r>
              <a:t>Hastalık nadir olduğu için prospektif çalışma mümkün olmamış; yayınlar çoğunlukla tanıya odaklanan olgu sunumlarıdır. İzlem ve sonuç verileri sınırlıdır.</a:t>
            </a:r>
          </a:p>
        </p:txBody>
      </p:sp>
      <p:sp>
        <p:nvSpPr>
          <p:cNvPr id="15" name="TextBox 14">
            <a:extLst xmlns:a="http://schemas.openxmlformats.org/drawingml/2006/main">
              <a:ext uri="{FF2B5EF4-FFF2-40B4-BE49-F238E27FC236}">
                <a16:creationId xmlns:a16="http://schemas.microsoft.com/office/drawing/2014/main" id="{0E5E6014-CE83-40C7-9225-A53CB5ED40A5}"/>
              </a:ext>
            </a:extLst>
          </p:cNvPr>
          <p:cNvSpPr>
            <a:spLocks xmlns:a="http://schemas.openxmlformats.org/drawingml/2006/main" noGrp="1"/>
          </p:cNvSpPr>
          <p:nvPr/>
        </p:nvSpPr>
        <p:spPr>
          <a:xfrm xmlns:a="http://schemas.openxmlformats.org/drawingml/2006/main">
            <a:off x="6519672" y="3886200"/>
            <a:ext cx="4645152" cy="5760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500" b="1">
                <a:solidFill>
                  <a:srgbClr val="12263F"/>
                </a:solidFill>
                <a:latin typeface="Aptos"/>
                <a:ea typeface="Aptos"/>
                <a:cs typeface="Aptos"/>
              </a:defRPr>
            </a:pPr>
            <a:r>
              <a:t>1  Fransız çocuk kohortunu tanımlamak</a:t>
            </a:r>
          </a:p>
        </p:txBody>
      </p:sp>
      <p:sp>
        <p:nvSpPr>
          <p:cNvPr id="16" name="TextBox 15">
            <a:extLst xmlns:a="http://schemas.openxmlformats.org/drawingml/2006/main">
              <a:ext uri="{FF2B5EF4-FFF2-40B4-BE49-F238E27FC236}">
                <a16:creationId xmlns:a16="http://schemas.microsoft.com/office/drawing/2014/main" id="{394F4D9B-5006-41B0-9532-2C44CE8F490F}"/>
              </a:ext>
            </a:extLst>
          </p:cNvPr>
          <p:cNvSpPr>
            <a:spLocks xmlns:a="http://schemas.openxmlformats.org/drawingml/2006/main" noGrp="1"/>
          </p:cNvSpPr>
          <p:nvPr/>
        </p:nvSpPr>
        <p:spPr>
          <a:xfrm xmlns:a="http://schemas.openxmlformats.org/drawingml/2006/main">
            <a:off x="6519672" y="4462272"/>
            <a:ext cx="4645152"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0">
                <a:solidFill>
                  <a:srgbClr val="263445"/>
                </a:solidFill>
                <a:latin typeface="Aptos"/>
                <a:ea typeface="Aptos"/>
                <a:cs typeface="Aptos"/>
              </a:defRPr>
            </a:pPr>
            <a:r>
              <a:t>Klinik sunum, tedavi yanıtı ve uzun dönem sonuçları incelemek.</a:t>
            </a:r>
          </a:p>
        </p:txBody>
      </p:sp>
      <p:sp>
        <p:nvSpPr>
          <p:cNvPr id="17" name="TextBox 16">
            <a:extLst xmlns:a="http://schemas.openxmlformats.org/drawingml/2006/main">
              <a:ext uri="{FF2B5EF4-FFF2-40B4-BE49-F238E27FC236}">
                <a16:creationId xmlns:a16="http://schemas.microsoft.com/office/drawing/2014/main" id="{8F04D5A7-A52F-4A1F-9643-3B6A1D48DDF6}"/>
              </a:ext>
            </a:extLst>
          </p:cNvPr>
          <p:cNvSpPr>
            <a:spLocks xmlns:a="http://schemas.openxmlformats.org/drawingml/2006/main" noGrp="1"/>
          </p:cNvSpPr>
          <p:nvPr/>
        </p:nvSpPr>
        <p:spPr>
          <a:xfrm xmlns:a="http://schemas.openxmlformats.org/drawingml/2006/main">
            <a:off x="6519672" y="5074920"/>
            <a:ext cx="4645152" cy="51206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12263F"/>
                </a:solidFill>
                <a:latin typeface="Aptos"/>
                <a:ea typeface="Aptos"/>
                <a:cs typeface="Aptos"/>
              </a:defRPr>
            </a:pPr>
            <a:r>
              <a:t>2  Diyete tam yanıtı öngören özellikleri belirlemek</a:t>
            </a:r>
          </a:p>
        </p:txBody>
      </p:sp>
      <p:sp>
        <p:nvSpPr>
          <p:cNvPr id="18" name="TextBox 17">
            <a:extLst xmlns:a="http://schemas.openxmlformats.org/drawingml/2006/main">
              <a:ext uri="{FF2B5EF4-FFF2-40B4-BE49-F238E27FC236}">
                <a16:creationId xmlns:a16="http://schemas.microsoft.com/office/drawing/2014/main" id="{56097C04-DD9E-449A-9DCB-0196A59DFECB}"/>
              </a:ext>
            </a:extLst>
          </p:cNvPr>
          <p:cNvSpPr>
            <a:spLocks xmlns:a="http://schemas.openxmlformats.org/drawingml/2006/main" noGrp="1"/>
          </p:cNvSpPr>
          <p:nvPr/>
        </p:nvSpPr>
        <p:spPr>
          <a:xfrm xmlns:a="http://schemas.openxmlformats.org/drawingml/2006/main">
            <a:off x="6519672" y="5596128"/>
            <a:ext cx="4645152" cy="39319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0">
                <a:solidFill>
                  <a:srgbClr val="263445"/>
                </a:solidFill>
                <a:latin typeface="Aptos"/>
                <a:ea typeface="Aptos"/>
                <a:cs typeface="Aptos"/>
              </a:defRPr>
            </a:pPr>
            <a:r>
              <a:t>Tanı anındaki klinik ve biyolojik özellikleri değerlendirmek.</a:t>
            </a:r>
          </a:p>
        </p:txBody>
      </p:sp>
      <p:sp xmlns:a="http://schemas.openxmlformats.org/drawingml/2006/main">
        <p:nvSpPr>
          <p:cNvPr id="19" name="Inceleme notu"/>
          <p:cNvSpPr txBox="1"/>
          <p:nvPr/>
        </p:nvSpPr>
        <p:spPr>
          <a:xfrm>
            <a:off x="150000" y="6628976"/>
            <a:ext cx="11891695" cy="204024"/>
          </a:xfrm>
          <a:prstGeom prst="rect">
            <a:avLst/>
          </a:prstGeom>
          <a:solidFill>
            <a:srgbClr val="FFF4CC"/>
          </a:solidFill>
          <a:ln w="9525">
            <a:solidFill>
              <a:srgbClr val="C99A00"/>
            </a:solidFill>
          </a:ln>
        </p:spPr>
        <p:txBody>
          <a:bodyPr wrap="square" anchor="ctr" tIns="27432" bIns="27432">
            <a:spAutoFit/>
          </a:bodyPr>
          <a:lstStyle/>
          <a:p>
            <a:r>
              <a:rPr b="1" sz="900">
                <a:solidFill>
                  <a:srgbClr val="A61B1B"/>
                </a:solidFill>
              </a:rPr>
              <a:t>İnceleme notu: </a:t>
            </a:r>
            <a:r>
              <a:rPr sz="900">
                <a:solidFill>
                  <a:srgbClr val="1F1F1F"/>
                </a:solidFill>
              </a:rPr>
              <a:t>“&lt;200 olgu” iddiasına makalede kaynak gösterilmemiş; slayt 17’deki “84 hastalık kohort” ile de çelişiyor (o kaynak, ref 19, bir olgu serisi + literatür derlemesi).</a:t>
            </a:r>
          </a:p>
        </p:txBody>
      </p:sp>
    </p:spTree>
    <p:extLst>
      <p:ext uri="{BB962C8B-B14F-4D97-AF65-F5344CB8AC3E}">
        <p14:creationId xmlns:p14="http://schemas.microsoft.com/office/powerpoint/2010/main" val="110010530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2AFD9FD-BC58-4CDD-A717-3AF2ED500384}"/>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00919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56906B5E-3AF2-4ABA-8CBD-171F78B4B625}"/>
              </a:ext>
            </a:extLst>
          </p:cNvPr>
          <p:cNvSpPr>
            <a:spLocks xmlns:a="http://schemas.openxmlformats.org/drawingml/2006/main" noGrp="1"/>
          </p:cNvSpPr>
          <p:nvPr/>
        </p:nvSpPr>
        <p:spPr>
          <a:xfrm xmlns:a="http://schemas.openxmlformats.org/drawingml/2006/main">
            <a:off x="658368" y="411480"/>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400" b="1">
                <a:solidFill>
                  <a:srgbClr val="12263F"/>
                </a:solidFill>
                <a:latin typeface="Aptos"/>
                <a:ea typeface="Aptos"/>
                <a:cs typeface="Aptos"/>
              </a:defRPr>
            </a:pPr>
            <a:r>
              <a:t>YÖNTEM | KOHORT VE VERİ TOPLAMA</a:t>
            </a:r>
          </a:p>
        </p:txBody>
      </p:sp>
      <p:sp>
        <p:nvSpPr>
          <p:cNvPr id="4" name="TextBox 3">
            <a:extLst xmlns:a="http://schemas.openxmlformats.org/drawingml/2006/main">
              <a:ext uri="{FF2B5EF4-FFF2-40B4-BE49-F238E27FC236}">
                <a16:creationId xmlns:a16="http://schemas.microsoft.com/office/drawing/2014/main" id="{A4659AFA-6C14-4DFF-848E-FA9CD2564A06}"/>
              </a:ext>
            </a:extLst>
          </p:cNvPr>
          <p:cNvSpPr>
            <a:spLocks xmlns:a="http://schemas.openxmlformats.org/drawingml/2006/main" noGrp="1"/>
          </p:cNvSpPr>
          <p:nvPr/>
        </p:nvSpPr>
        <p:spPr>
          <a:xfrm xmlns:a="http://schemas.openxmlformats.org/drawingml/2006/main">
            <a:off x="676656" y="1005840"/>
            <a:ext cx="10881360" cy="32918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667584"/>
                </a:solidFill>
                <a:latin typeface="Aptos"/>
                <a:ea typeface="Aptos"/>
                <a:cs typeface="Aptos"/>
              </a:defRPr>
            </a:pPr>
            <a:r>
              <a:t>Fransa • çok merkezli • retrospektif çalışma</a:t>
            </a:r>
          </a:p>
        </p:txBody>
      </p:sp>
      <p:sp>
        <p:nvSpPr>
          <p:cNvPr id="5" name="Rounded Rectangle 4">
            <a:extLst xmlns:a="http://schemas.openxmlformats.org/drawingml/2006/main">
              <a:ext uri="{FF2B5EF4-FFF2-40B4-BE49-F238E27FC236}">
                <a16:creationId xmlns:a16="http://schemas.microsoft.com/office/drawing/2014/main" id="{F29C3D63-9B6E-4D3A-9F52-EB31D216C1F9}"/>
              </a:ext>
            </a:extLst>
          </p:cNvPr>
          <p:cNvSpPr>
            <a:spLocks xmlns:a="http://schemas.openxmlformats.org/drawingml/2006/main" noGrp="1"/>
          </p:cNvSpPr>
          <p:nvPr/>
        </p:nvSpPr>
        <p:spPr>
          <a:xfrm xmlns:a="http://schemas.openxmlformats.org/drawingml/2006/main">
            <a:off x="658368" y="1600200"/>
            <a:ext cx="3520440" cy="4526280"/>
          </a:xfrm>
          <a:prstGeom xmlns:a="http://schemas.openxmlformats.org/drawingml/2006/main" prst="roundRect">
            <a:avLst/>
          </a:prstGeom>
          <a:solidFill xmlns:a="http://schemas.openxmlformats.org/drawingml/2006/main">
            <a:srgbClr val="F2F8F8"/>
          </a:solidFill>
          <a:ln xmlns:a="http://schemas.openxmlformats.org/drawingml/2006/main">
            <a:solidFill>
              <a:srgbClr val="DEE7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5A9F50BB-DD34-4F43-8483-0ECB19CC98D2}"/>
              </a:ext>
            </a:extLst>
          </p:cNvPr>
          <p:cNvSpPr>
            <a:spLocks xmlns:a="http://schemas.openxmlformats.org/drawingml/2006/main" noGrp="1"/>
          </p:cNvSpPr>
          <p:nvPr/>
        </p:nvSpPr>
        <p:spPr>
          <a:xfrm xmlns:a="http://schemas.openxmlformats.org/drawingml/2006/main">
            <a:off x="877824" y="1828800"/>
            <a:ext cx="3090672" cy="47548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009196"/>
                </a:solidFill>
                <a:latin typeface="Aptos"/>
                <a:ea typeface="Aptos"/>
                <a:cs typeface="Aptos"/>
              </a:defRPr>
            </a:pPr>
            <a:r>
              <a:t>KATILIM VE UYGUNLUK</a:t>
            </a:r>
          </a:p>
        </p:txBody>
      </p:sp>
      <p:sp>
        <p:nvSpPr>
          <p:cNvPr id="7" name="Rounded Rectangle 6">
            <a:extLst xmlns:a="http://schemas.openxmlformats.org/drawingml/2006/main">
              <a:ext uri="{FF2B5EF4-FFF2-40B4-BE49-F238E27FC236}">
                <a16:creationId xmlns:a16="http://schemas.microsoft.com/office/drawing/2014/main" id="{56BFFCCC-1F15-4CCD-BE2D-8BBFC5C6AC69}"/>
              </a:ext>
            </a:extLst>
          </p:cNvPr>
          <p:cNvSpPr>
            <a:spLocks xmlns:a="http://schemas.openxmlformats.org/drawingml/2006/main" noGrp="1"/>
          </p:cNvSpPr>
          <p:nvPr/>
        </p:nvSpPr>
        <p:spPr>
          <a:xfrm xmlns:a="http://schemas.openxmlformats.org/drawingml/2006/main">
            <a:off x="4334256" y="1600200"/>
            <a:ext cx="3520440" cy="4526280"/>
          </a:xfrm>
          <a:prstGeom xmlns:a="http://schemas.openxmlformats.org/drawingml/2006/main" prst="roundRect">
            <a:avLst/>
          </a:prstGeom>
          <a:solidFill xmlns:a="http://schemas.openxmlformats.org/drawingml/2006/main">
            <a:srgbClr val="F2F8F8"/>
          </a:solidFill>
          <a:ln xmlns:a="http://schemas.openxmlformats.org/drawingml/2006/main">
            <a:solidFill>
              <a:srgbClr val="DEE7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1DE6EA57-B5E8-4FCD-84D8-3C50DAC2A5E4}"/>
              </a:ext>
            </a:extLst>
          </p:cNvPr>
          <p:cNvSpPr>
            <a:spLocks xmlns:a="http://schemas.openxmlformats.org/drawingml/2006/main" noGrp="1"/>
          </p:cNvSpPr>
          <p:nvPr/>
        </p:nvSpPr>
        <p:spPr>
          <a:xfrm xmlns:a="http://schemas.openxmlformats.org/drawingml/2006/main">
            <a:off x="4553712" y="1828800"/>
            <a:ext cx="3090672" cy="47548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009196"/>
                </a:solidFill>
                <a:latin typeface="Aptos"/>
                <a:ea typeface="Aptos"/>
                <a:cs typeface="Aptos"/>
              </a:defRPr>
            </a:pPr>
            <a:r>
              <a:t>TANI VE DOĞRULAMA</a:t>
            </a:r>
          </a:p>
        </p:txBody>
      </p:sp>
      <p:sp>
        <p:nvSpPr>
          <p:cNvPr id="9" name="Rounded Rectangle 8">
            <a:extLst xmlns:a="http://schemas.openxmlformats.org/drawingml/2006/main">
              <a:ext uri="{FF2B5EF4-FFF2-40B4-BE49-F238E27FC236}">
                <a16:creationId xmlns:a16="http://schemas.microsoft.com/office/drawing/2014/main" id="{86866AC2-B28E-4823-957E-6772D651CAD2}"/>
              </a:ext>
            </a:extLst>
          </p:cNvPr>
          <p:cNvSpPr>
            <a:spLocks xmlns:a="http://schemas.openxmlformats.org/drawingml/2006/main" noGrp="1"/>
          </p:cNvSpPr>
          <p:nvPr/>
        </p:nvSpPr>
        <p:spPr>
          <a:xfrm xmlns:a="http://schemas.openxmlformats.org/drawingml/2006/main">
            <a:off x="8010144" y="1600200"/>
            <a:ext cx="3520440" cy="4526280"/>
          </a:xfrm>
          <a:prstGeom xmlns:a="http://schemas.openxmlformats.org/drawingml/2006/main" prst="roundRect">
            <a:avLst/>
          </a:prstGeom>
          <a:solidFill xmlns:a="http://schemas.openxmlformats.org/drawingml/2006/main">
            <a:srgbClr val="F2F8F8"/>
          </a:solidFill>
          <a:ln xmlns:a="http://schemas.openxmlformats.org/drawingml/2006/main">
            <a:solidFill>
              <a:srgbClr val="DEE7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C8E478E7-3F94-465E-9E5A-998066362F2D}"/>
              </a:ext>
            </a:extLst>
          </p:cNvPr>
          <p:cNvSpPr>
            <a:spLocks xmlns:a="http://schemas.openxmlformats.org/drawingml/2006/main" noGrp="1"/>
          </p:cNvSpPr>
          <p:nvPr/>
        </p:nvSpPr>
        <p:spPr>
          <a:xfrm xmlns:a="http://schemas.openxmlformats.org/drawingml/2006/main">
            <a:off x="8229600" y="1828800"/>
            <a:ext cx="3090672" cy="47548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009196"/>
                </a:solidFill>
                <a:latin typeface="Aptos"/>
                <a:ea typeface="Aptos"/>
                <a:cs typeface="Aptos"/>
              </a:defRPr>
            </a:pPr>
            <a:r>
              <a:t>İZLEM VE ANALİZ</a:t>
            </a:r>
          </a:p>
        </p:txBody>
      </p:sp>
      <p:sp>
        <p:nvSpPr>
          <p:cNvPr id="11" name="TextBox 10">
            <a:extLst xmlns:a="http://schemas.openxmlformats.org/drawingml/2006/main">
              <a:ext uri="{FF2B5EF4-FFF2-40B4-BE49-F238E27FC236}">
                <a16:creationId xmlns:a16="http://schemas.microsoft.com/office/drawing/2014/main" id="{22BD568C-58D3-4F5E-B919-42D4F08D247B}"/>
              </a:ext>
            </a:extLst>
          </p:cNvPr>
          <p:cNvSpPr>
            <a:spLocks xmlns:a="http://schemas.openxmlformats.org/drawingml/2006/main" noGrp="1"/>
          </p:cNvSpPr>
          <p:nvPr/>
        </p:nvSpPr>
        <p:spPr>
          <a:xfrm xmlns:a="http://schemas.openxmlformats.org/drawingml/2006/main">
            <a:off x="896112" y="2487168"/>
            <a:ext cx="301752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800" b="1">
                <a:solidFill>
                  <a:srgbClr val="12263F"/>
                </a:solidFill>
                <a:latin typeface="Aptos"/>
                <a:ea typeface="Aptos"/>
                <a:cs typeface="Aptos"/>
              </a:defRPr>
            </a:pPr>
            <a:r>
              <a:t>&lt;18 yaş</a:t>
            </a:r>
          </a:p>
        </p:txBody>
      </p:sp>
      <p:sp>
        <p:nvSpPr>
          <p:cNvPr id="12" name="TextBox 11">
            <a:extLst xmlns:a="http://schemas.openxmlformats.org/drawingml/2006/main">
              <a:ext uri="{FF2B5EF4-FFF2-40B4-BE49-F238E27FC236}">
                <a16:creationId xmlns:a16="http://schemas.microsoft.com/office/drawing/2014/main" id="{309E6082-C214-45EF-A271-F53C650526FF}"/>
              </a:ext>
            </a:extLst>
          </p:cNvPr>
          <p:cNvSpPr>
            <a:spLocks xmlns:a="http://schemas.openxmlformats.org/drawingml/2006/main" noGrp="1"/>
          </p:cNvSpPr>
          <p:nvPr/>
        </p:nvSpPr>
        <p:spPr>
          <a:xfrm xmlns:a="http://schemas.openxmlformats.org/drawingml/2006/main">
            <a:off x="896112" y="2907792"/>
            <a:ext cx="3017520" cy="8229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0">
                <a:solidFill>
                  <a:srgbClr val="263445"/>
                </a:solidFill>
                <a:latin typeface="Aptos"/>
                <a:ea typeface="Aptos"/>
                <a:cs typeface="Aptos"/>
              </a:defRPr>
            </a:pPr>
            <a:r>
              <a:t>PİL tanısı alan ve uzman merkezlerde izlenen çocuklar.</a:t>
            </a:r>
          </a:p>
        </p:txBody>
      </p:sp>
      <p:sp>
        <p:nvSpPr>
          <p:cNvPr id="13" name="TextBox 12">
            <a:extLst xmlns:a="http://schemas.openxmlformats.org/drawingml/2006/main">
              <a:ext uri="{FF2B5EF4-FFF2-40B4-BE49-F238E27FC236}">
                <a16:creationId xmlns:a16="http://schemas.microsoft.com/office/drawing/2014/main" id="{4328A2C4-0609-4508-8272-332A04D7D7F5}"/>
              </a:ext>
            </a:extLst>
          </p:cNvPr>
          <p:cNvSpPr>
            <a:spLocks xmlns:a="http://schemas.openxmlformats.org/drawingml/2006/main" noGrp="1"/>
          </p:cNvSpPr>
          <p:nvPr/>
        </p:nvSpPr>
        <p:spPr>
          <a:xfrm xmlns:a="http://schemas.openxmlformats.org/drawingml/2006/main">
            <a:off x="896112" y="3794760"/>
            <a:ext cx="3017520" cy="9144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0">
                <a:solidFill>
                  <a:srgbClr val="263445"/>
                </a:solidFill>
                <a:latin typeface="Aptos"/>
                <a:ea typeface="Aptos"/>
                <a:cs typeface="Aptos"/>
              </a:defRPr>
            </a:pPr>
            <a:r>
              <a:t>Dönem: Ocak 2010–Ocak 2022. Enfeksiyöz, inflamatuvar ve kardiyak ikincil nedenler dışlandı.</a:t>
            </a:r>
          </a:p>
        </p:txBody>
      </p:sp>
      <p:sp>
        <p:nvSpPr>
          <p:cNvPr id="14" name="TextBox 13">
            <a:extLst xmlns:a="http://schemas.openxmlformats.org/drawingml/2006/main">
              <a:ext uri="{FF2B5EF4-FFF2-40B4-BE49-F238E27FC236}">
                <a16:creationId xmlns:a16="http://schemas.microsoft.com/office/drawing/2014/main" id="{631B0EA5-DB30-4876-BD74-170B277B77DA}"/>
              </a:ext>
            </a:extLst>
          </p:cNvPr>
          <p:cNvSpPr>
            <a:spLocks xmlns:a="http://schemas.openxmlformats.org/drawingml/2006/main" noGrp="1"/>
          </p:cNvSpPr>
          <p:nvPr/>
        </p:nvSpPr>
        <p:spPr>
          <a:xfrm xmlns:a="http://schemas.openxmlformats.org/drawingml/2006/main">
            <a:off x="896112" y="4846320"/>
            <a:ext cx="3017520" cy="100584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0">
                <a:solidFill>
                  <a:srgbClr val="263445"/>
                </a:solidFill>
                <a:latin typeface="Aptos"/>
                <a:ea typeface="Aptos"/>
                <a:cs typeface="Aptos"/>
              </a:defRPr>
            </a:pPr>
            <a:r>
              <a:t>Protein kaybettiren enteropati olmadan yaygın lenfatik tutulum gösteren durumlar da dışlandı.</a:t>
            </a:r>
          </a:p>
        </p:txBody>
      </p:sp>
      <p:sp>
        <p:nvSpPr>
          <p:cNvPr id="15" name="TextBox 14">
            <a:extLst xmlns:a="http://schemas.openxmlformats.org/drawingml/2006/main">
              <a:ext uri="{FF2B5EF4-FFF2-40B4-BE49-F238E27FC236}">
                <a16:creationId xmlns:a16="http://schemas.microsoft.com/office/drawing/2014/main" id="{E1F2A490-4661-4534-AD9C-048277236AD3}"/>
              </a:ext>
            </a:extLst>
          </p:cNvPr>
          <p:cNvSpPr>
            <a:spLocks xmlns:a="http://schemas.openxmlformats.org/drawingml/2006/main" noGrp="1"/>
          </p:cNvSpPr>
          <p:nvPr/>
        </p:nvSpPr>
        <p:spPr>
          <a:xfrm xmlns:a="http://schemas.openxmlformats.org/drawingml/2006/main">
            <a:off x="4572000" y="2487168"/>
            <a:ext cx="3017520" cy="86868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12263F"/>
                </a:solidFill>
                <a:latin typeface="Aptos"/>
                <a:ea typeface="Aptos"/>
                <a:cs typeface="Aptos"/>
              </a:defRPr>
            </a:pPr>
            <a:r>
              <a:t>Öncelik: endoskopi veya histoloji ile doğrulama.</a:t>
            </a:r>
          </a:p>
        </p:txBody>
      </p:sp>
      <p:sp>
        <p:nvSpPr>
          <p:cNvPr id="16" name="TextBox 15">
            <a:extLst xmlns:a="http://schemas.openxmlformats.org/drawingml/2006/main">
              <a:ext uri="{FF2B5EF4-FFF2-40B4-BE49-F238E27FC236}">
                <a16:creationId xmlns:a16="http://schemas.microsoft.com/office/drawing/2014/main" id="{DB3AD91C-C7B7-40D6-B1E3-D2E2F5D4640E}"/>
              </a:ext>
            </a:extLst>
          </p:cNvPr>
          <p:cNvSpPr>
            <a:spLocks xmlns:a="http://schemas.openxmlformats.org/drawingml/2006/main" noGrp="1"/>
          </p:cNvSpPr>
          <p:nvPr/>
        </p:nvSpPr>
        <p:spPr>
          <a:xfrm xmlns:a="http://schemas.openxmlformats.org/drawingml/2006/main">
            <a:off x="4572000" y="3429000"/>
            <a:ext cx="3017520" cy="13716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100">
                <a:latin typeface="Aptos"/>
                <a:ea typeface="Aptos"/>
                <a:cs typeface="Aptos"/>
              </a:rPr>
              <a:t>Endoskopi tanısal değilse şu ölçütlerden biri arandı: (1) protein kaybettiren enteropati + genetik doğrulanmış Hennekam sendromu (A1AT klirensi &gt;24 mL/gün ve lenfopeni); (2) protein kaybettiren enteropati + diyete iyi yanıt.</a:t>
            </a:r>
          </a:p>
        </p:txBody>
      </p:sp>
      <p:sp>
        <p:nvSpPr>
          <p:cNvPr id="17" name="TextBox 16">
            <a:extLst xmlns:a="http://schemas.openxmlformats.org/drawingml/2006/main">
              <a:ext uri="{FF2B5EF4-FFF2-40B4-BE49-F238E27FC236}">
                <a16:creationId xmlns:a16="http://schemas.microsoft.com/office/drawing/2014/main" id="{7F843469-61C7-4784-9D18-27789D8495D6}"/>
              </a:ext>
            </a:extLst>
          </p:cNvPr>
          <p:cNvSpPr>
            <a:spLocks xmlns:a="http://schemas.openxmlformats.org/drawingml/2006/main" noGrp="1"/>
          </p:cNvSpPr>
          <p:nvPr/>
        </p:nvSpPr>
        <p:spPr>
          <a:xfrm xmlns:a="http://schemas.openxmlformats.org/drawingml/2006/main">
            <a:off x="4572000" y="4983480"/>
            <a:ext cx="3017520" cy="86868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0">
                <a:solidFill>
                  <a:srgbClr val="263445"/>
                </a:solidFill>
                <a:latin typeface="Aptos"/>
                <a:ea typeface="Aptos"/>
                <a:cs typeface="Aptos"/>
              </a:defRPr>
            </a:pPr>
            <a:r>
              <a:t>Kayıtlar merkez araştırmacıları ve koordinasyon ekibince gözden geçirildi.</a:t>
            </a:r>
          </a:p>
        </p:txBody>
      </p:sp>
      <p:sp>
        <p:nvSpPr>
          <p:cNvPr id="18" name="TextBox 17">
            <a:extLst xmlns:a="http://schemas.openxmlformats.org/drawingml/2006/main">
              <a:ext uri="{FF2B5EF4-FFF2-40B4-BE49-F238E27FC236}">
                <a16:creationId xmlns:a16="http://schemas.microsoft.com/office/drawing/2014/main" id="{1AE88B49-62C2-4679-99C5-244450AA5F74}"/>
              </a:ext>
            </a:extLst>
          </p:cNvPr>
          <p:cNvSpPr>
            <a:spLocks xmlns:a="http://schemas.openxmlformats.org/drawingml/2006/main" noGrp="1"/>
          </p:cNvSpPr>
          <p:nvPr/>
        </p:nvSpPr>
        <p:spPr>
          <a:xfrm xmlns:a="http://schemas.openxmlformats.org/drawingml/2006/main">
            <a:off x="8247888" y="2487168"/>
            <a:ext cx="3017520" cy="9144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0">
                <a:solidFill>
                  <a:srgbClr val="263445"/>
                </a:solidFill>
                <a:latin typeface="Aptos"/>
                <a:ea typeface="Aptos"/>
                <a:cs typeface="Aptos"/>
              </a:defRPr>
            </a:pPr>
            <a:r>
              <a:t>Klinik, laboratuvar, görüntüleme, endoskopi, patoloji ve büyüme verileri toplandı.</a:t>
            </a:r>
          </a:p>
        </p:txBody>
      </p:sp>
      <p:sp>
        <p:nvSpPr>
          <p:cNvPr id="19" name="TextBox 18">
            <a:extLst xmlns:a="http://schemas.openxmlformats.org/drawingml/2006/main">
              <a:ext uri="{FF2B5EF4-FFF2-40B4-BE49-F238E27FC236}">
                <a16:creationId xmlns:a16="http://schemas.microsoft.com/office/drawing/2014/main" id="{C2D0BF24-9A81-4C82-90B9-6A13C06D8E65}"/>
              </a:ext>
            </a:extLst>
          </p:cNvPr>
          <p:cNvSpPr>
            <a:spLocks xmlns:a="http://schemas.openxmlformats.org/drawingml/2006/main" noGrp="1"/>
          </p:cNvSpPr>
          <p:nvPr/>
        </p:nvSpPr>
        <p:spPr>
          <a:xfrm xmlns:a="http://schemas.openxmlformats.org/drawingml/2006/main">
            <a:off x="8247888" y="3566160"/>
            <a:ext cx="3017520" cy="10515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0">
                <a:solidFill>
                  <a:srgbClr val="263445"/>
                </a:solidFill>
                <a:latin typeface="Aptos"/>
                <a:ea typeface="Aptos"/>
                <a:cs typeface="Aptos"/>
              </a:defRPr>
            </a:pPr>
            <a:r>
              <a:t>İzlem: tanıdan 2. ve 6. ayda, 1. yılda; ardından yıllık olarak Ocak 2022’ye dek.</a:t>
            </a:r>
          </a:p>
        </p:txBody>
      </p:sp>
      <p:sp>
        <p:nvSpPr>
          <p:cNvPr id="20" name="TextBox 19">
            <a:extLst xmlns:a="http://schemas.openxmlformats.org/drawingml/2006/main">
              <a:ext uri="{FF2B5EF4-FFF2-40B4-BE49-F238E27FC236}">
                <a16:creationId xmlns:a16="http://schemas.microsoft.com/office/drawing/2014/main" id="{AF4F63B6-A51C-431A-8F07-D5520E5F8AC7}"/>
              </a:ext>
            </a:extLst>
          </p:cNvPr>
          <p:cNvSpPr>
            <a:spLocks xmlns:a="http://schemas.openxmlformats.org/drawingml/2006/main" noGrp="1"/>
          </p:cNvSpPr>
          <p:nvPr/>
        </p:nvSpPr>
        <p:spPr>
          <a:xfrm xmlns:a="http://schemas.openxmlformats.org/drawingml/2006/main">
            <a:off x="8247888" y="4736592"/>
            <a:ext cx="3017520" cy="9144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0">
                <a:solidFill>
                  <a:srgbClr val="263445"/>
                </a:solidFill>
                <a:latin typeface="Aptos"/>
                <a:ea typeface="Aptos"/>
                <a:cs typeface="Aptos"/>
              </a:defRPr>
            </a:pPr>
            <a:r>
              <a:t>İstatistik: ki-kare/Fisher ve Mann–Whitney U; anlamlılık p &lt; 0,05.</a:t>
            </a:r>
          </a:p>
        </p:txBody>
      </p:sp>
      <p:sp xmlns:a="http://schemas.openxmlformats.org/drawingml/2006/main">
        <p:nvSpPr>
          <p:cNvPr id="21" name="Inceleme notu"/>
          <p:cNvSpPr txBox="1"/>
          <p:nvPr/>
        </p:nvSpPr>
        <p:spPr>
          <a:xfrm>
            <a:off x="150000" y="6491816"/>
            <a:ext cx="11891695" cy="341184"/>
          </a:xfrm>
          <a:prstGeom prst="rect">
            <a:avLst/>
          </a:prstGeom>
          <a:solidFill>
            <a:srgbClr val="FFF4CC"/>
          </a:solidFill>
          <a:ln w="9525">
            <a:solidFill>
              <a:srgbClr val="C99A00"/>
            </a:solidFill>
          </a:ln>
        </p:spPr>
        <p:txBody>
          <a:bodyPr wrap="square" anchor="ctr" tIns="27432" bIns="27432">
            <a:spAutoFit/>
          </a:bodyPr>
          <a:lstStyle/>
          <a:p>
            <a:r>
              <a:rPr b="1" sz="900">
                <a:solidFill>
                  <a:srgbClr val="A61B1B"/>
                </a:solidFill>
              </a:rPr>
              <a:t>İnceleme notu: </a:t>
            </a:r>
            <a:r>
              <a:rPr sz="900">
                <a:solidFill>
                  <a:srgbClr val="1F1F1F"/>
                </a:solidFill>
              </a:rPr>
              <a:t>Yöntemde “gerektiğinde Fisher” deniyor; ancak Tablo 3’teki p değerleri düzeltmesiz ki-kareyle hesaplanmış (bkz. slayt 13). “Diyete iyi yanıt” hem tanı ölçütü hem sonlanım: bu yolla tanı alan 4 hasta tanımı gereği “yanıtlı”. A1AT: alfa-1 antitripsin.</a:t>
            </a:r>
          </a:p>
        </p:txBody>
      </p:sp>
    </p:spTree>
    <p:extLst>
      <p:ext uri="{BB962C8B-B14F-4D97-AF65-F5344CB8AC3E}">
        <p14:creationId xmlns:p14="http://schemas.microsoft.com/office/powerpoint/2010/main" val="117361059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E407F07-4587-409A-BFBB-8E8603B3F50D}"/>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00919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707CB255-64BA-4AE8-A9FA-5149F0035E6A}"/>
              </a:ext>
            </a:extLst>
          </p:cNvPr>
          <p:cNvSpPr>
            <a:spLocks xmlns:a="http://schemas.openxmlformats.org/drawingml/2006/main" noGrp="1"/>
          </p:cNvSpPr>
          <p:nvPr/>
        </p:nvSpPr>
        <p:spPr>
          <a:xfrm xmlns:a="http://schemas.openxmlformats.org/drawingml/2006/main">
            <a:off x="658368" y="411480"/>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400" b="1">
                <a:solidFill>
                  <a:srgbClr val="12263F"/>
                </a:solidFill>
                <a:latin typeface="Aptos"/>
                <a:ea typeface="Aptos"/>
                <a:cs typeface="Aptos"/>
              </a:defRPr>
            </a:pPr>
            <a:r>
              <a:t>YANIT TANIMLARI VE HASTA SEÇİMİ</a:t>
            </a:r>
          </a:p>
        </p:txBody>
      </p:sp>
      <p:sp>
        <p:nvSpPr>
          <p:cNvPr id="4" name="TextBox 3">
            <a:extLst xmlns:a="http://schemas.openxmlformats.org/drawingml/2006/main">
              <a:ext uri="{FF2B5EF4-FFF2-40B4-BE49-F238E27FC236}">
                <a16:creationId xmlns:a16="http://schemas.microsoft.com/office/drawing/2014/main" id="{672BD2BC-DAD6-4A6F-8F1C-7CFA32958FEE}"/>
              </a:ext>
            </a:extLst>
          </p:cNvPr>
          <p:cNvSpPr>
            <a:spLocks xmlns:a="http://schemas.openxmlformats.org/drawingml/2006/main" noGrp="1"/>
          </p:cNvSpPr>
          <p:nvPr/>
        </p:nvSpPr>
        <p:spPr>
          <a:xfrm xmlns:a="http://schemas.openxmlformats.org/drawingml/2006/main">
            <a:off x="676656" y="1005840"/>
            <a:ext cx="10881360" cy="32918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667584"/>
                </a:solidFill>
                <a:latin typeface="Aptos"/>
                <a:ea typeface="Aptos"/>
                <a:cs typeface="Aptos"/>
              </a:defRPr>
            </a:pPr>
            <a:r>
              <a:t>Klinik yanıt ölçütleri ve çalışmaya alınan çocuklar</a:t>
            </a:r>
          </a:p>
        </p:txBody>
      </p:sp>
      <p:sp>
        <p:nvSpPr>
          <p:cNvPr id="5" name="Rounded Rectangle 4">
            <a:extLst xmlns:a="http://schemas.openxmlformats.org/drawingml/2006/main">
              <a:ext uri="{FF2B5EF4-FFF2-40B4-BE49-F238E27FC236}">
                <a16:creationId xmlns:a16="http://schemas.microsoft.com/office/drawing/2014/main" id="{B4A7AB3F-0A9A-4EBF-BEA5-A02A58382D16}"/>
              </a:ext>
            </a:extLst>
          </p:cNvPr>
          <p:cNvSpPr>
            <a:spLocks xmlns:a="http://schemas.openxmlformats.org/drawingml/2006/main" noGrp="1"/>
          </p:cNvSpPr>
          <p:nvPr/>
        </p:nvSpPr>
        <p:spPr>
          <a:xfrm xmlns:a="http://schemas.openxmlformats.org/drawingml/2006/main">
            <a:off x="658368" y="1600200"/>
            <a:ext cx="5285232" cy="4526280"/>
          </a:xfrm>
          <a:prstGeom xmlns:a="http://schemas.openxmlformats.org/drawingml/2006/main" prst="roundRect">
            <a:avLst/>
          </a:prstGeom>
          <a:solidFill xmlns:a="http://schemas.openxmlformats.org/drawingml/2006/main">
            <a:srgbClr val="F2F8F8"/>
          </a:solidFill>
          <a:ln xmlns:a="http://schemas.openxmlformats.org/drawingml/2006/main">
            <a:solidFill>
              <a:srgbClr val="DEE7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19AEB483-5A24-4A87-8D20-3E979C427849}"/>
              </a:ext>
            </a:extLst>
          </p:cNvPr>
          <p:cNvSpPr>
            <a:spLocks xmlns:a="http://schemas.openxmlformats.org/drawingml/2006/main" noGrp="1"/>
          </p:cNvSpPr>
          <p:nvPr/>
        </p:nvSpPr>
        <p:spPr>
          <a:xfrm xmlns:a="http://schemas.openxmlformats.org/drawingml/2006/main">
            <a:off x="896112" y="1847088"/>
            <a:ext cx="4754880" cy="38404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009196"/>
                </a:solidFill>
                <a:latin typeface="Aptos"/>
                <a:ea typeface="Aptos"/>
                <a:cs typeface="Aptos"/>
              </a:defRPr>
            </a:pPr>
            <a:r>
              <a:t>TEDAVİYE YANIT</a:t>
            </a:r>
          </a:p>
        </p:txBody>
      </p:sp>
      <p:sp>
        <p:nvSpPr>
          <p:cNvPr id="7" name="TextBox 6">
            <a:extLst xmlns:a="http://schemas.openxmlformats.org/drawingml/2006/main">
              <a:ext uri="{FF2B5EF4-FFF2-40B4-BE49-F238E27FC236}">
                <a16:creationId xmlns:a16="http://schemas.microsoft.com/office/drawing/2014/main" id="{E267ACFC-A81E-4CAE-A1B9-E71F75BDC3A7}"/>
              </a:ext>
            </a:extLst>
          </p:cNvPr>
          <p:cNvSpPr>
            <a:spLocks xmlns:a="http://schemas.openxmlformats.org/drawingml/2006/main" noGrp="1"/>
          </p:cNvSpPr>
          <p:nvPr/>
        </p:nvSpPr>
        <p:spPr>
          <a:xfrm xmlns:a="http://schemas.openxmlformats.org/drawingml/2006/main">
            <a:off x="896112" y="2331720"/>
            <a:ext cx="4754880" cy="9144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500" b="1">
                <a:solidFill>
                  <a:srgbClr val="12263F"/>
                </a:solidFill>
                <a:latin typeface="Aptos"/>
                <a:ea typeface="Aptos"/>
                <a:cs typeface="Aptos"/>
              </a:defRPr>
            </a:pPr>
            <a:r>
              <a:t>Belirtilerin uzun süreli düzelmesi ve albümin infüzyonu gereksiniminin olmaması.</a:t>
            </a:r>
          </a:p>
        </p:txBody>
      </p:sp>
      <p:sp>
        <p:nvSpPr>
          <p:cNvPr id="8" name="TextBox 7">
            <a:extLst xmlns:a="http://schemas.openxmlformats.org/drawingml/2006/main">
              <a:ext uri="{FF2B5EF4-FFF2-40B4-BE49-F238E27FC236}">
                <a16:creationId xmlns:a16="http://schemas.microsoft.com/office/drawing/2014/main" id="{18DD547E-B2D2-4392-AE0A-55D4245A09E5}"/>
              </a:ext>
            </a:extLst>
          </p:cNvPr>
          <p:cNvSpPr>
            <a:spLocks xmlns:a="http://schemas.openxmlformats.org/drawingml/2006/main" noGrp="1"/>
          </p:cNvSpPr>
          <p:nvPr/>
        </p:nvSpPr>
        <p:spPr>
          <a:xfrm xmlns:a="http://schemas.openxmlformats.org/drawingml/2006/main">
            <a:off x="896112" y="3429000"/>
            <a:ext cx="4754880" cy="32918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009196"/>
                </a:solidFill>
                <a:latin typeface="Aptos"/>
                <a:ea typeface="Aptos"/>
                <a:cs typeface="Aptos"/>
              </a:defRPr>
            </a:pPr>
            <a:r>
              <a:t>TAM YANIT</a:t>
            </a:r>
          </a:p>
        </p:txBody>
      </p:sp>
      <p:sp>
        <p:nvSpPr>
          <p:cNvPr id="9" name="TextBox 8">
            <a:extLst xmlns:a="http://schemas.openxmlformats.org/drawingml/2006/main">
              <a:ext uri="{FF2B5EF4-FFF2-40B4-BE49-F238E27FC236}">
                <a16:creationId xmlns:a16="http://schemas.microsoft.com/office/drawing/2014/main" id="{0CEEBED4-E6E5-4D0D-9DA8-BA3403AC3AC1}"/>
              </a:ext>
            </a:extLst>
          </p:cNvPr>
          <p:cNvSpPr>
            <a:spLocks xmlns:a="http://schemas.openxmlformats.org/drawingml/2006/main" noGrp="1"/>
          </p:cNvSpPr>
          <p:nvPr/>
        </p:nvSpPr>
        <p:spPr>
          <a:xfrm xmlns:a="http://schemas.openxmlformats.org/drawingml/2006/main">
            <a:off x="896112" y="3767328"/>
            <a:ext cx="4754880" cy="5029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0">
                <a:solidFill>
                  <a:srgbClr val="263445"/>
                </a:solidFill>
                <a:latin typeface="Aptos"/>
                <a:ea typeface="Aptos"/>
                <a:cs typeface="Aptos"/>
              </a:defRPr>
            </a:pPr>
            <a:r>
              <a:t>Albüminin kalıcı olarak ≥35 g/L olması.</a:t>
            </a:r>
          </a:p>
        </p:txBody>
      </p:sp>
      <p:sp>
        <p:nvSpPr>
          <p:cNvPr id="10" name="TextBox 9">
            <a:extLst xmlns:a="http://schemas.openxmlformats.org/drawingml/2006/main">
              <a:ext uri="{FF2B5EF4-FFF2-40B4-BE49-F238E27FC236}">
                <a16:creationId xmlns:a16="http://schemas.microsoft.com/office/drawing/2014/main" id="{FBC59F7E-713C-489C-8032-13AD4A113698}"/>
              </a:ext>
            </a:extLst>
          </p:cNvPr>
          <p:cNvSpPr>
            <a:spLocks xmlns:a="http://schemas.openxmlformats.org/drawingml/2006/main" noGrp="1"/>
          </p:cNvSpPr>
          <p:nvPr/>
        </p:nvSpPr>
        <p:spPr>
          <a:xfrm xmlns:a="http://schemas.openxmlformats.org/drawingml/2006/main">
            <a:off x="896112" y="4480560"/>
            <a:ext cx="4754880" cy="32918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009196"/>
                </a:solidFill>
                <a:latin typeface="Aptos"/>
                <a:ea typeface="Aptos"/>
                <a:cs typeface="Aptos"/>
              </a:defRPr>
            </a:pPr>
            <a:r>
              <a:t>KISMİ YANIT</a:t>
            </a:r>
          </a:p>
        </p:txBody>
      </p:sp>
      <p:sp>
        <p:nvSpPr>
          <p:cNvPr id="11" name="TextBox 10">
            <a:extLst xmlns:a="http://schemas.openxmlformats.org/drawingml/2006/main">
              <a:ext uri="{FF2B5EF4-FFF2-40B4-BE49-F238E27FC236}">
                <a16:creationId xmlns:a16="http://schemas.microsoft.com/office/drawing/2014/main" id="{994B1F00-8F81-4749-A0F0-AF144C90094D}"/>
              </a:ext>
            </a:extLst>
          </p:cNvPr>
          <p:cNvSpPr>
            <a:spLocks xmlns:a="http://schemas.openxmlformats.org/drawingml/2006/main" noGrp="1"/>
          </p:cNvSpPr>
          <p:nvPr/>
        </p:nvSpPr>
        <p:spPr>
          <a:xfrm xmlns:a="http://schemas.openxmlformats.org/drawingml/2006/main">
            <a:off x="896112" y="4818888"/>
            <a:ext cx="4754880" cy="71323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0">
                <a:solidFill>
                  <a:srgbClr val="263445"/>
                </a:solidFill>
                <a:latin typeface="Aptos"/>
                <a:ea typeface="Aptos"/>
                <a:cs typeface="Aptos"/>
              </a:defRPr>
            </a:pPr>
            <a:r>
              <a:t>Klinik düzelmeye rağmen izlemde albüminin &lt;35 g/L kalması.</a:t>
            </a:r>
          </a:p>
        </p:txBody>
      </p:sp>
      <p:sp>
        <p:nvSpPr>
          <p:cNvPr id="12" name="Rounded Rectangle 11">
            <a:extLst xmlns:a="http://schemas.openxmlformats.org/drawingml/2006/main">
              <a:ext uri="{FF2B5EF4-FFF2-40B4-BE49-F238E27FC236}">
                <a16:creationId xmlns:a16="http://schemas.microsoft.com/office/drawing/2014/main" id="{716DA44F-5DDD-43D7-9399-B2E9185D27FB}"/>
              </a:ext>
            </a:extLst>
          </p:cNvPr>
          <p:cNvSpPr>
            <a:spLocks xmlns:a="http://schemas.openxmlformats.org/drawingml/2006/main" noGrp="1"/>
          </p:cNvSpPr>
          <p:nvPr/>
        </p:nvSpPr>
        <p:spPr>
          <a:xfrm xmlns:a="http://schemas.openxmlformats.org/drawingml/2006/main">
            <a:off x="6236208" y="1600200"/>
            <a:ext cx="5285232" cy="4526280"/>
          </a:xfrm>
          <a:prstGeom xmlns:a="http://schemas.openxmlformats.org/drawingml/2006/main" prst="roundRect">
            <a:avLst/>
          </a:prstGeom>
          <a:solidFill xmlns:a="http://schemas.openxmlformats.org/drawingml/2006/main">
            <a:srgbClr val="FFFFFF"/>
          </a:solidFill>
          <a:ln xmlns:a="http://schemas.openxmlformats.org/drawingml/2006/main">
            <a:solidFill>
              <a:srgbClr val="DEE7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E6CEEC7F-8188-489F-85D8-A10A6654C146}"/>
              </a:ext>
            </a:extLst>
          </p:cNvPr>
          <p:cNvSpPr>
            <a:spLocks xmlns:a="http://schemas.openxmlformats.org/drawingml/2006/main" noGrp="1"/>
          </p:cNvSpPr>
          <p:nvPr/>
        </p:nvSpPr>
        <p:spPr>
          <a:xfrm xmlns:a="http://schemas.openxmlformats.org/drawingml/2006/main">
            <a:off x="6492240" y="1847088"/>
            <a:ext cx="4709160" cy="38404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009196"/>
                </a:solidFill>
                <a:latin typeface="Aptos"/>
                <a:ea typeface="Aptos"/>
                <a:cs typeface="Aptos"/>
              </a:defRPr>
            </a:pPr>
            <a:r>
              <a:t>MERKEZLERDEN KOHORTA</a:t>
            </a:r>
          </a:p>
        </p:txBody>
      </p:sp>
      <p:sp>
        <p:nvSpPr>
          <p:cNvPr id="14" name="TextBox 13">
            <a:extLst xmlns:a="http://schemas.openxmlformats.org/drawingml/2006/main">
              <a:ext uri="{FF2B5EF4-FFF2-40B4-BE49-F238E27FC236}">
                <a16:creationId xmlns:a16="http://schemas.microsoft.com/office/drawing/2014/main" id="{235121BE-2562-4348-9C47-531F9DCC4B4E}"/>
              </a:ext>
            </a:extLst>
          </p:cNvPr>
          <p:cNvSpPr>
            <a:spLocks xmlns:a="http://schemas.openxmlformats.org/drawingml/2006/main" noGrp="1"/>
          </p:cNvSpPr>
          <p:nvPr/>
        </p:nvSpPr>
        <p:spPr>
          <a:xfrm xmlns:a="http://schemas.openxmlformats.org/drawingml/2006/main">
            <a:off x="6492240" y="2487168"/>
            <a:ext cx="4709160" cy="5029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12263F"/>
                </a:solidFill>
                <a:latin typeface="Aptos"/>
                <a:ea typeface="Aptos"/>
                <a:cs typeface="Aptos"/>
              </a:defRPr>
            </a:pPr>
            <a:r>
              <a:t>36 merkez ulusal ağın parçasıydı</a:t>
            </a:r>
          </a:p>
        </p:txBody>
      </p:sp>
      <p:sp>
        <p:nvSpPr>
          <p:cNvPr id="15" name="TextBox 14">
            <a:extLst xmlns:a="http://schemas.openxmlformats.org/drawingml/2006/main">
              <a:ext uri="{FF2B5EF4-FFF2-40B4-BE49-F238E27FC236}">
                <a16:creationId xmlns:a16="http://schemas.microsoft.com/office/drawing/2014/main" id="{FF669BF8-7265-4F37-A7A7-6BC5F292C996}"/>
              </a:ext>
            </a:extLst>
          </p:cNvPr>
          <p:cNvSpPr>
            <a:spLocks xmlns:a="http://schemas.openxmlformats.org/drawingml/2006/main" noGrp="1"/>
          </p:cNvSpPr>
          <p:nvPr/>
        </p:nvSpPr>
        <p:spPr>
          <a:xfrm xmlns:a="http://schemas.openxmlformats.org/drawingml/2006/main">
            <a:off x="6492240" y="3264408"/>
            <a:ext cx="4709160" cy="5029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009196"/>
                </a:solidFill>
                <a:latin typeface="Aptos"/>
                <a:ea typeface="Aptos"/>
                <a:cs typeface="Aptos"/>
              </a:defRPr>
            </a:pPr>
            <a:r>
              <a:t>33/36 merkez katıldı (%92)</a:t>
            </a:r>
          </a:p>
        </p:txBody>
      </p:sp>
      <p:sp>
        <p:nvSpPr>
          <p:cNvPr id="16" name="TextBox 15">
            <a:extLst xmlns:a="http://schemas.openxmlformats.org/drawingml/2006/main">
              <a:ext uri="{FF2B5EF4-FFF2-40B4-BE49-F238E27FC236}">
                <a16:creationId xmlns:a16="http://schemas.microsoft.com/office/drawing/2014/main" id="{D7CB59CF-AD6D-477B-8614-F6F420D639B9}"/>
              </a:ext>
            </a:extLst>
          </p:cNvPr>
          <p:cNvSpPr>
            <a:spLocks xmlns:a="http://schemas.openxmlformats.org/drawingml/2006/main" noGrp="1"/>
          </p:cNvSpPr>
          <p:nvPr/>
        </p:nvSpPr>
        <p:spPr>
          <a:xfrm xmlns:a="http://schemas.openxmlformats.org/drawingml/2006/main">
            <a:off x="6492240" y="4041648"/>
            <a:ext cx="4709160" cy="5029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12263F"/>
                </a:solidFill>
                <a:latin typeface="Aptos"/>
                <a:ea typeface="Aptos"/>
                <a:cs typeface="Aptos"/>
              </a:defRPr>
            </a:pPr>
            <a:r>
              <a:t>11 merkez PİL hastası izliyordu</a:t>
            </a:r>
          </a:p>
        </p:txBody>
      </p:sp>
      <p:sp>
        <p:nvSpPr>
          <p:cNvPr id="17" name="TextBox 16">
            <a:extLst xmlns:a="http://schemas.openxmlformats.org/drawingml/2006/main">
              <a:ext uri="{FF2B5EF4-FFF2-40B4-BE49-F238E27FC236}">
                <a16:creationId xmlns:a16="http://schemas.microsoft.com/office/drawing/2014/main" id="{29278360-32E3-44CC-8EBD-14E32AF8ADC4}"/>
              </a:ext>
            </a:extLst>
          </p:cNvPr>
          <p:cNvSpPr>
            <a:spLocks xmlns:a="http://schemas.openxmlformats.org/drawingml/2006/main" noGrp="1"/>
          </p:cNvSpPr>
          <p:nvPr/>
        </p:nvSpPr>
        <p:spPr>
          <a:xfrm xmlns:a="http://schemas.openxmlformats.org/drawingml/2006/main">
            <a:off x="6492240" y="4818888"/>
            <a:ext cx="4709160" cy="7498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009196"/>
                </a:solidFill>
                <a:latin typeface="Aptos"/>
                <a:ea typeface="Aptos"/>
                <a:cs typeface="Aptos"/>
              </a:defRPr>
            </a:pPr>
            <a:r>
              <a:t>38 olgudan 4’ü dışlandı; 34 çocuk analize alındı</a:t>
            </a:r>
          </a:p>
        </p:txBody>
      </p:sp>
    </p:spTree>
    <p:extLst>
      <p:ext uri="{BB962C8B-B14F-4D97-AF65-F5344CB8AC3E}">
        <p14:creationId xmlns:p14="http://schemas.microsoft.com/office/powerpoint/2010/main" val="176947787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F96A0CD-E170-4C82-9E3A-16CD88A4B69D}"/>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00919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84CE267D-83C6-4043-85EA-1764B14D8BBE}"/>
              </a:ext>
            </a:extLst>
          </p:cNvPr>
          <p:cNvSpPr>
            <a:spLocks xmlns:a="http://schemas.openxmlformats.org/drawingml/2006/main" noGrp="1"/>
          </p:cNvSpPr>
          <p:nvPr/>
        </p:nvSpPr>
        <p:spPr>
          <a:xfrm xmlns:a="http://schemas.openxmlformats.org/drawingml/2006/main">
            <a:off x="658368" y="384048"/>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400" b="1">
                <a:solidFill>
                  <a:srgbClr val="12263F"/>
                </a:solidFill>
                <a:latin typeface="Aptos"/>
                <a:ea typeface="Aptos"/>
                <a:cs typeface="Aptos"/>
              </a:defRPr>
            </a:pPr>
            <a:r>
              <a:t>DİYET TEDAVİSİ VE YANIT AKIŞI</a:t>
            </a:r>
          </a:p>
        </p:txBody>
      </p:sp>
      <p:sp>
        <p:nvSpPr>
          <p:cNvPr id="4" name="TextBox 3">
            <a:extLst xmlns:a="http://schemas.openxmlformats.org/drawingml/2006/main">
              <a:ext uri="{FF2B5EF4-FFF2-40B4-BE49-F238E27FC236}">
                <a16:creationId xmlns:a16="http://schemas.microsoft.com/office/drawing/2014/main" id="{60F9CD2F-0AA4-4AB7-881C-F6B2193A97BD}"/>
              </a:ext>
            </a:extLst>
          </p:cNvPr>
          <p:cNvSpPr>
            <a:spLocks xmlns:a="http://schemas.openxmlformats.org/drawingml/2006/main" noGrp="1"/>
          </p:cNvSpPr>
          <p:nvPr/>
        </p:nvSpPr>
        <p:spPr>
          <a:xfrm xmlns:a="http://schemas.openxmlformats.org/drawingml/2006/main">
            <a:off x="676656" y="987552"/>
            <a:ext cx="1088136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667584"/>
                </a:solidFill>
                <a:latin typeface="Aptos"/>
                <a:ea typeface="Aptos"/>
                <a:cs typeface="Aptos"/>
              </a:defRPr>
            </a:pPr>
            <a:r>
              <a:t>Hasta seçimi ve diyet tedavisi sonuçları (n = 34)</a:t>
            </a:r>
          </a:p>
        </p:txBody>
      </p:sp>
      <p:sp>
        <p:nvSpPr>
          <p:cNvPr id="5" name="Rounded Rectangle 4">
            <a:extLst xmlns:a="http://schemas.openxmlformats.org/drawingml/2006/main">
              <a:ext uri="{FF2B5EF4-FFF2-40B4-BE49-F238E27FC236}">
                <a16:creationId xmlns:a16="http://schemas.microsoft.com/office/drawing/2014/main" id="{2CBDE961-F827-4052-92C0-2F3705588B53}"/>
              </a:ext>
            </a:extLst>
          </p:cNvPr>
          <p:cNvSpPr>
            <a:spLocks xmlns:a="http://schemas.openxmlformats.org/drawingml/2006/main" noGrp="1"/>
          </p:cNvSpPr>
          <p:nvPr/>
        </p:nvSpPr>
        <p:spPr>
          <a:xfrm xmlns:a="http://schemas.openxmlformats.org/drawingml/2006/main">
            <a:off x="4315968" y="1572768"/>
            <a:ext cx="3429000" cy="502920"/>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8B153C5D-C6CD-4A9B-AD09-77E6F5A23E60}"/>
              </a:ext>
            </a:extLst>
          </p:cNvPr>
          <p:cNvSpPr>
            <a:spLocks xmlns:a="http://schemas.openxmlformats.org/drawingml/2006/main" noGrp="1"/>
          </p:cNvSpPr>
          <p:nvPr/>
        </p:nvSpPr>
        <p:spPr>
          <a:xfrm xmlns:a="http://schemas.openxmlformats.org/drawingml/2006/main">
            <a:off x="4389120" y="1609344"/>
            <a:ext cx="3282696" cy="4297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12263F"/>
                </a:solidFill>
                <a:latin typeface="Aptos"/>
                <a:ea typeface="Aptos"/>
                <a:cs typeface="Aptos"/>
              </a:defRPr>
            </a:pPr>
            <a:r>
              <a:t>Lenfanjiektazili hastalar (n = 38)</a:t>
            </a:r>
          </a:p>
        </p:txBody>
      </p:sp>
      <p:sp>
        <p:nvSpPr>
          <p:cNvPr id="7" name="Rounded Rectangle 6">
            <a:extLst xmlns:a="http://schemas.openxmlformats.org/drawingml/2006/main">
              <a:ext uri="{FF2B5EF4-FFF2-40B4-BE49-F238E27FC236}">
                <a16:creationId xmlns:a16="http://schemas.microsoft.com/office/drawing/2014/main" id="{2CD67571-1390-41D4-8065-3C0AFE8F4B70}"/>
              </a:ext>
            </a:extLst>
          </p:cNvPr>
          <p:cNvSpPr>
            <a:spLocks xmlns:a="http://schemas.openxmlformats.org/drawingml/2006/main" noGrp="1"/>
          </p:cNvSpPr>
          <p:nvPr/>
        </p:nvSpPr>
        <p:spPr>
          <a:xfrm xmlns:a="http://schemas.openxmlformats.org/drawingml/2006/main">
            <a:off x="8412480" y="1572768"/>
            <a:ext cx="3063240" cy="896112"/>
          </a:xfrm>
          <a:prstGeom xmlns:a="http://schemas.openxmlformats.org/drawingml/2006/main" prst="round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0FB9B8DA-0FB3-4BAC-B5A6-3D5CF933FA71}"/>
              </a:ext>
            </a:extLst>
          </p:cNvPr>
          <p:cNvSpPr>
            <a:spLocks xmlns:a="http://schemas.openxmlformats.org/drawingml/2006/main" noGrp="1"/>
          </p:cNvSpPr>
          <p:nvPr/>
        </p:nvSpPr>
        <p:spPr>
          <a:xfrm xmlns:a="http://schemas.openxmlformats.org/drawingml/2006/main">
            <a:off x="8485632" y="1609344"/>
            <a:ext cx="2916936" cy="8229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000">
                <a:latin typeface="Aptos"/>
                <a:ea typeface="Aptos"/>
                <a:cs typeface="Aptos"/>
              </a:rPr>
              <a:t>Dışlanan (n = 4)</a:t>
            </a:r>
          </a:p>
          <a:p xmlns:a="http://schemas.openxmlformats.org/drawingml/2006/main">
            <a:r>
              <a:rPr sz="1000">
                <a:latin typeface="Aptos"/>
                <a:ea typeface="Aptos"/>
                <a:cs typeface="Aptos"/>
              </a:rPr>
              <a:t>Sekonder lenfanjiektazi / kistik lenfanjiyom: 2</a:t>
            </a:r>
          </a:p>
          <a:p xmlns:a="http://schemas.openxmlformats.org/drawingml/2006/main">
            <a:r>
              <a:rPr sz="1000">
                <a:latin typeface="Aptos"/>
                <a:ea typeface="Aptos"/>
                <a:cs typeface="Aptos"/>
              </a:rPr>
              <a:t>Protein kaybı olmadan yaygın tutulum: 2</a:t>
            </a:r>
          </a:p>
        </p:txBody>
      </p:sp>
      <p:sp>
        <p:nvSpPr>
          <p:cNvPr id="9" name="Connector 8">
            <a:extLst xmlns:a="http://schemas.openxmlformats.org/drawingml/2006/main">
              <a:ext uri="{FF2B5EF4-FFF2-40B4-BE49-F238E27FC236}">
                <a16:creationId xmlns:a16="http://schemas.microsoft.com/office/drawing/2014/main" id="{7EF571E6-DC39-47EF-85B5-A9E24C48A30A}"/>
              </a:ext>
            </a:extLst>
          </p:cNvPr>
          <p:cNvSpPr>
            <a:spLocks xmlns:a="http://schemas.openxmlformats.org/drawingml/2006/main" noGrp="1"/>
          </p:cNvSpPr>
          <p:nvPr/>
        </p:nvSpPr>
        <p:spPr>
          <a:xfrm xmlns:a="http://schemas.openxmlformats.org/drawingml/2006/main">
            <a:off x="7744968" y="1819656"/>
            <a:ext cx="667512" cy="0"/>
          </a:xfrm>
          <a:prstGeom xmlns:a="http://schemas.openxmlformats.org/drawingml/2006/main" prst="line">
            <a:avLst/>
          </a:prstGeom>
          <a:ln xmlns:a="http://schemas.openxmlformats.org/drawingml/2006/main" w="17780">
            <a:solidFill>
              <a:srgbClr val="667584"/>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Rounded Rectangle 9">
            <a:extLst xmlns:a="http://schemas.openxmlformats.org/drawingml/2006/main">
              <a:ext uri="{FF2B5EF4-FFF2-40B4-BE49-F238E27FC236}">
                <a16:creationId xmlns:a16="http://schemas.microsoft.com/office/drawing/2014/main" id="{50615A60-66E8-453C-B71E-2CB0E5F05BCB}"/>
              </a:ext>
            </a:extLst>
          </p:cNvPr>
          <p:cNvSpPr>
            <a:spLocks xmlns:a="http://schemas.openxmlformats.org/drawingml/2006/main" noGrp="1"/>
          </p:cNvSpPr>
          <p:nvPr/>
        </p:nvSpPr>
        <p:spPr>
          <a:xfrm xmlns:a="http://schemas.openxmlformats.org/drawingml/2006/main">
            <a:off x="4526280" y="2487168"/>
            <a:ext cx="3017520" cy="502920"/>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682DE39D-0F1F-4A82-9A34-8906C03AB53C}"/>
              </a:ext>
            </a:extLst>
          </p:cNvPr>
          <p:cNvSpPr>
            <a:spLocks xmlns:a="http://schemas.openxmlformats.org/drawingml/2006/main" noGrp="1"/>
          </p:cNvSpPr>
          <p:nvPr/>
        </p:nvSpPr>
        <p:spPr>
          <a:xfrm xmlns:a="http://schemas.openxmlformats.org/drawingml/2006/main">
            <a:off x="4599432" y="2523744"/>
            <a:ext cx="2871215" cy="4297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12263F"/>
                </a:solidFill>
                <a:latin typeface="Aptos"/>
                <a:ea typeface="Aptos"/>
                <a:cs typeface="Aptos"/>
              </a:defRPr>
            </a:pPr>
            <a:r>
              <a:t>PİL tanısı (n = 34)</a:t>
            </a:r>
          </a:p>
        </p:txBody>
      </p:sp>
      <p:sp>
        <p:nvSpPr>
          <p:cNvPr id="12" name="Connector 11">
            <a:extLst xmlns:a="http://schemas.openxmlformats.org/drawingml/2006/main">
              <a:ext uri="{FF2B5EF4-FFF2-40B4-BE49-F238E27FC236}">
                <a16:creationId xmlns:a16="http://schemas.microsoft.com/office/drawing/2014/main" id="{86FA2C3A-ECE9-4A6A-B2C5-5AEE09617945}"/>
              </a:ext>
            </a:extLst>
          </p:cNvPr>
          <p:cNvSpPr>
            <a:spLocks xmlns:a="http://schemas.openxmlformats.org/drawingml/2006/main" noGrp="1"/>
          </p:cNvSpPr>
          <p:nvPr/>
        </p:nvSpPr>
        <p:spPr>
          <a:xfrm xmlns:a="http://schemas.openxmlformats.org/drawingml/2006/main">
            <a:off x="6035040" y="2075688"/>
            <a:ext cx="0" cy="411480"/>
          </a:xfrm>
          <a:prstGeom xmlns:a="http://schemas.openxmlformats.org/drawingml/2006/main" prst="line">
            <a:avLst/>
          </a:prstGeom>
          <a:ln xmlns:a="http://schemas.openxmlformats.org/drawingml/2006/main" w="17780">
            <a:solidFill>
              <a:srgbClr val="667584"/>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Rounded Rectangle 12">
            <a:extLst xmlns:a="http://schemas.openxmlformats.org/drawingml/2006/main">
              <a:ext uri="{FF2B5EF4-FFF2-40B4-BE49-F238E27FC236}">
                <a16:creationId xmlns:a16="http://schemas.microsoft.com/office/drawing/2014/main" id="{98547889-00CD-4142-B5A3-EF37EABA0BA0}"/>
              </a:ext>
            </a:extLst>
          </p:cNvPr>
          <p:cNvSpPr>
            <a:spLocks xmlns:a="http://schemas.openxmlformats.org/drawingml/2006/main" noGrp="1"/>
          </p:cNvSpPr>
          <p:nvPr/>
        </p:nvSpPr>
        <p:spPr>
          <a:xfrm xmlns:a="http://schemas.openxmlformats.org/drawingml/2006/main">
            <a:off x="8412480" y="2487168"/>
            <a:ext cx="3063240" cy="594360"/>
          </a:xfrm>
          <a:prstGeom xmlns:a="http://schemas.openxmlformats.org/drawingml/2006/main" prst="round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3E69EC02-63B8-452C-83CC-D639B244E61E}"/>
              </a:ext>
            </a:extLst>
          </p:cNvPr>
          <p:cNvSpPr>
            <a:spLocks xmlns:a="http://schemas.openxmlformats.org/drawingml/2006/main" noGrp="1"/>
          </p:cNvSpPr>
          <p:nvPr/>
        </p:nvSpPr>
        <p:spPr>
          <a:xfrm xmlns:a="http://schemas.openxmlformats.org/drawingml/2006/main">
            <a:off x="8485632" y="2523744"/>
            <a:ext cx="2916936" cy="5212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1">
                <a:solidFill>
                  <a:srgbClr val="263445"/>
                </a:solidFill>
                <a:latin typeface="Aptos"/>
                <a:ea typeface="Aptos"/>
                <a:cs typeface="Aptos"/>
              </a:defRPr>
            </a:pPr>
            <a:r>
              <a:t>Belirtisi az; diyet başlanmadı (n = 3)</a:t>
            </a:r>
          </a:p>
        </p:txBody>
      </p:sp>
      <p:sp>
        <p:nvSpPr>
          <p:cNvPr id="15" name="Connector 14">
            <a:extLst xmlns:a="http://schemas.openxmlformats.org/drawingml/2006/main">
              <a:ext uri="{FF2B5EF4-FFF2-40B4-BE49-F238E27FC236}">
                <a16:creationId xmlns:a16="http://schemas.microsoft.com/office/drawing/2014/main" id="{1DFD7E22-E403-4EB8-91D5-5A15BF972C01}"/>
              </a:ext>
            </a:extLst>
          </p:cNvPr>
          <p:cNvSpPr>
            <a:spLocks xmlns:a="http://schemas.openxmlformats.org/drawingml/2006/main" noGrp="1"/>
          </p:cNvSpPr>
          <p:nvPr/>
        </p:nvSpPr>
        <p:spPr>
          <a:xfrm xmlns:a="http://schemas.openxmlformats.org/drawingml/2006/main">
            <a:off x="7543800" y="2734056"/>
            <a:ext cx="868680" cy="0"/>
          </a:xfrm>
          <a:prstGeom xmlns:a="http://schemas.openxmlformats.org/drawingml/2006/main" prst="line">
            <a:avLst/>
          </a:prstGeom>
          <a:ln xmlns:a="http://schemas.openxmlformats.org/drawingml/2006/main" w="17780">
            <a:solidFill>
              <a:srgbClr val="667584"/>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6" name="Rounded Rectangle 15">
            <a:extLst xmlns:a="http://schemas.openxmlformats.org/drawingml/2006/main">
              <a:ext uri="{FF2B5EF4-FFF2-40B4-BE49-F238E27FC236}">
                <a16:creationId xmlns:a16="http://schemas.microsoft.com/office/drawing/2014/main" id="{898802DF-F637-4934-8BE2-66FC11A170C3}"/>
              </a:ext>
            </a:extLst>
          </p:cNvPr>
          <p:cNvSpPr>
            <a:spLocks xmlns:a="http://schemas.openxmlformats.org/drawingml/2006/main" noGrp="1"/>
          </p:cNvSpPr>
          <p:nvPr/>
        </p:nvSpPr>
        <p:spPr>
          <a:xfrm xmlns:a="http://schemas.openxmlformats.org/drawingml/2006/main">
            <a:off x="4407408" y="3310128"/>
            <a:ext cx="3246120" cy="530352"/>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4D15EFD5-FABE-4B74-9272-2413DE49181C}"/>
              </a:ext>
            </a:extLst>
          </p:cNvPr>
          <p:cNvSpPr>
            <a:spLocks xmlns:a="http://schemas.openxmlformats.org/drawingml/2006/main" noGrp="1"/>
          </p:cNvSpPr>
          <p:nvPr/>
        </p:nvSpPr>
        <p:spPr>
          <a:xfrm xmlns:a="http://schemas.openxmlformats.org/drawingml/2006/main">
            <a:off x="4480560" y="3346704"/>
            <a:ext cx="3099815" cy="457199"/>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12263F"/>
                </a:solidFill>
                <a:latin typeface="Aptos"/>
                <a:ea typeface="Aptos"/>
                <a:cs typeface="Aptos"/>
              </a:defRPr>
            </a:pPr>
            <a:r>
              <a:t>Diyet tedavisi alanlar (n = 31)</a:t>
            </a:r>
          </a:p>
        </p:txBody>
      </p:sp>
      <p:sp>
        <p:nvSpPr>
          <p:cNvPr id="18" name="Connector 17">
            <a:extLst xmlns:a="http://schemas.openxmlformats.org/drawingml/2006/main">
              <a:ext uri="{FF2B5EF4-FFF2-40B4-BE49-F238E27FC236}">
                <a16:creationId xmlns:a16="http://schemas.microsoft.com/office/drawing/2014/main" id="{27E6C1AF-A9DD-48DF-94B5-9ACE0FE23974}"/>
              </a:ext>
            </a:extLst>
          </p:cNvPr>
          <p:cNvSpPr>
            <a:spLocks xmlns:a="http://schemas.openxmlformats.org/drawingml/2006/main" noGrp="1"/>
          </p:cNvSpPr>
          <p:nvPr/>
        </p:nvSpPr>
        <p:spPr>
          <a:xfrm xmlns:a="http://schemas.openxmlformats.org/drawingml/2006/main">
            <a:off x="6035040" y="2990088"/>
            <a:ext cx="0" cy="320040"/>
          </a:xfrm>
          <a:prstGeom xmlns:a="http://schemas.openxmlformats.org/drawingml/2006/main" prst="line">
            <a:avLst/>
          </a:prstGeom>
          <a:ln xmlns:a="http://schemas.openxmlformats.org/drawingml/2006/main" w="17780">
            <a:solidFill>
              <a:srgbClr val="667584"/>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9" name="Rounded Rectangle 18">
            <a:extLst xmlns:a="http://schemas.openxmlformats.org/drawingml/2006/main">
              <a:ext uri="{FF2B5EF4-FFF2-40B4-BE49-F238E27FC236}">
                <a16:creationId xmlns:a16="http://schemas.microsoft.com/office/drawing/2014/main" id="{CB088B32-9D4F-4472-BACD-F810991B0564}"/>
              </a:ext>
            </a:extLst>
          </p:cNvPr>
          <p:cNvSpPr>
            <a:spLocks xmlns:a="http://schemas.openxmlformats.org/drawingml/2006/main" noGrp="1"/>
          </p:cNvSpPr>
          <p:nvPr/>
        </p:nvSpPr>
        <p:spPr>
          <a:xfrm xmlns:a="http://schemas.openxmlformats.org/drawingml/2006/main">
            <a:off x="8412480" y="3218688"/>
            <a:ext cx="3063240" cy="960120"/>
          </a:xfrm>
          <a:prstGeom xmlns:a="http://schemas.openxmlformats.org/drawingml/2006/main" prst="round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54BACC74-1BB2-40FB-AF08-149FD9F850D9}"/>
              </a:ext>
            </a:extLst>
          </p:cNvPr>
          <p:cNvSpPr>
            <a:spLocks xmlns:a="http://schemas.openxmlformats.org/drawingml/2006/main" noGrp="1"/>
          </p:cNvSpPr>
          <p:nvPr/>
        </p:nvSpPr>
        <p:spPr>
          <a:xfrm xmlns:a="http://schemas.openxmlformats.org/drawingml/2006/main">
            <a:off x="8485632" y="3255264"/>
            <a:ext cx="2916936" cy="8869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1">
                <a:solidFill>
                  <a:srgbClr val="263445"/>
                </a:solidFill>
                <a:latin typeface="Aptos"/>
                <a:ea typeface="Aptos"/>
                <a:cs typeface="Aptos"/>
              </a:defRPr>
            </a:pPr>
            <a:r>
              <a:t>Yanıt vermeyen (n = 6)</a:t>
            </a:r>
            <a:br/>
            <a:r>
              <a:t>Yaygın tutulum: 2 • uyum zayıf: 3</a:t>
            </a:r>
            <a:br/>
            <a:r>
              <a:t>İnek sütü IgE alerjisi: 1</a:t>
            </a:r>
          </a:p>
        </p:txBody>
      </p:sp>
      <p:sp>
        <p:nvSpPr>
          <p:cNvPr id="21" name="Connector 20">
            <a:extLst xmlns:a="http://schemas.openxmlformats.org/drawingml/2006/main">
              <a:ext uri="{FF2B5EF4-FFF2-40B4-BE49-F238E27FC236}">
                <a16:creationId xmlns:a16="http://schemas.microsoft.com/office/drawing/2014/main" id="{0B01E92A-1B9B-408D-AB71-3E9E8FCB5507}"/>
              </a:ext>
            </a:extLst>
          </p:cNvPr>
          <p:cNvSpPr>
            <a:spLocks xmlns:a="http://schemas.openxmlformats.org/drawingml/2006/main" noGrp="1"/>
          </p:cNvSpPr>
          <p:nvPr/>
        </p:nvSpPr>
        <p:spPr>
          <a:xfrm xmlns:a="http://schemas.openxmlformats.org/drawingml/2006/main">
            <a:off x="7653527" y="3566160"/>
            <a:ext cx="758953" cy="0"/>
          </a:xfrm>
          <a:prstGeom xmlns:a="http://schemas.openxmlformats.org/drawingml/2006/main" prst="line">
            <a:avLst/>
          </a:prstGeom>
          <a:ln xmlns:a="http://schemas.openxmlformats.org/drawingml/2006/main" w="17780">
            <a:solidFill>
              <a:srgbClr val="667584"/>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2" name="Rounded Rectangle 21">
            <a:extLst xmlns:a="http://schemas.openxmlformats.org/drawingml/2006/main">
              <a:ext uri="{FF2B5EF4-FFF2-40B4-BE49-F238E27FC236}">
                <a16:creationId xmlns:a16="http://schemas.microsoft.com/office/drawing/2014/main" id="{9E5DC981-8E89-40B8-B253-C4B824A18FC7}"/>
              </a:ext>
            </a:extLst>
          </p:cNvPr>
          <p:cNvSpPr>
            <a:spLocks xmlns:a="http://schemas.openxmlformats.org/drawingml/2006/main" noGrp="1"/>
          </p:cNvSpPr>
          <p:nvPr/>
        </p:nvSpPr>
        <p:spPr>
          <a:xfrm xmlns:a="http://schemas.openxmlformats.org/drawingml/2006/main">
            <a:off x="4681728" y="4160520"/>
            <a:ext cx="2697480" cy="530352"/>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70F3F059-864A-4A6F-A510-31CC9413DCA7}"/>
              </a:ext>
            </a:extLst>
          </p:cNvPr>
          <p:cNvSpPr>
            <a:spLocks xmlns:a="http://schemas.openxmlformats.org/drawingml/2006/main" noGrp="1"/>
          </p:cNvSpPr>
          <p:nvPr/>
        </p:nvSpPr>
        <p:spPr>
          <a:xfrm xmlns:a="http://schemas.openxmlformats.org/drawingml/2006/main">
            <a:off x="4754880" y="4197096"/>
            <a:ext cx="2551176" cy="457199"/>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009196"/>
                </a:solidFill>
                <a:latin typeface="Aptos"/>
                <a:ea typeface="Aptos"/>
                <a:cs typeface="Aptos"/>
              </a:defRPr>
            </a:pPr>
            <a:r>
              <a:t>İyi yanıt (n = 25)</a:t>
            </a:r>
          </a:p>
        </p:txBody>
      </p:sp>
      <p:sp>
        <p:nvSpPr>
          <p:cNvPr id="24" name="Connector 23">
            <a:extLst xmlns:a="http://schemas.openxmlformats.org/drawingml/2006/main">
              <a:ext uri="{FF2B5EF4-FFF2-40B4-BE49-F238E27FC236}">
                <a16:creationId xmlns:a16="http://schemas.microsoft.com/office/drawing/2014/main" id="{963F2CED-5CC2-4D67-9940-B1790F863364}"/>
              </a:ext>
            </a:extLst>
          </p:cNvPr>
          <p:cNvSpPr>
            <a:spLocks xmlns:a="http://schemas.openxmlformats.org/drawingml/2006/main" noGrp="1"/>
          </p:cNvSpPr>
          <p:nvPr/>
        </p:nvSpPr>
        <p:spPr>
          <a:xfrm xmlns:a="http://schemas.openxmlformats.org/drawingml/2006/main">
            <a:off x="6035040" y="3840480"/>
            <a:ext cx="0" cy="320040"/>
          </a:xfrm>
          <a:prstGeom xmlns:a="http://schemas.openxmlformats.org/drawingml/2006/main" prst="line">
            <a:avLst/>
          </a:prstGeom>
          <a:ln xmlns:a="http://schemas.openxmlformats.org/drawingml/2006/main" w="17780">
            <a:solidFill>
              <a:srgbClr val="667584"/>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5" name="Rounded Rectangle 24">
            <a:extLst xmlns:a="http://schemas.openxmlformats.org/drawingml/2006/main">
              <a:ext uri="{FF2B5EF4-FFF2-40B4-BE49-F238E27FC236}">
                <a16:creationId xmlns:a16="http://schemas.microsoft.com/office/drawing/2014/main" id="{A2147947-7F15-41BE-8DA2-405C89B387D8}"/>
              </a:ext>
            </a:extLst>
          </p:cNvPr>
          <p:cNvSpPr>
            <a:spLocks xmlns:a="http://schemas.openxmlformats.org/drawingml/2006/main" noGrp="1"/>
          </p:cNvSpPr>
          <p:nvPr/>
        </p:nvSpPr>
        <p:spPr>
          <a:xfrm xmlns:a="http://schemas.openxmlformats.org/drawingml/2006/main">
            <a:off x="1325880" y="5010912"/>
            <a:ext cx="3154680" cy="548640"/>
          </a:xfrm>
          <a:prstGeom xmlns:a="http://schemas.openxmlformats.org/drawingml/2006/main" prst="round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F8B2C247-F16E-4107-9E1A-EDBBC32703DB}"/>
              </a:ext>
            </a:extLst>
          </p:cNvPr>
          <p:cNvSpPr>
            <a:spLocks xmlns:a="http://schemas.openxmlformats.org/drawingml/2006/main" noGrp="1"/>
          </p:cNvSpPr>
          <p:nvPr/>
        </p:nvSpPr>
        <p:spPr>
          <a:xfrm xmlns:a="http://schemas.openxmlformats.org/drawingml/2006/main">
            <a:off x="1399032" y="5047488"/>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12263F"/>
                </a:solidFill>
                <a:latin typeface="Aptos"/>
                <a:ea typeface="Aptos"/>
                <a:cs typeface="Aptos"/>
              </a:defRPr>
            </a:pPr>
            <a:r>
              <a:t>Kısmi yanıt (n = 15)</a:t>
            </a:r>
          </a:p>
        </p:txBody>
      </p:sp>
      <p:sp>
        <p:nvSpPr>
          <p:cNvPr id="27" name="Rounded Rectangle 26">
            <a:extLst xmlns:a="http://schemas.openxmlformats.org/drawingml/2006/main">
              <a:ext uri="{FF2B5EF4-FFF2-40B4-BE49-F238E27FC236}">
                <a16:creationId xmlns:a16="http://schemas.microsoft.com/office/drawing/2014/main" id="{5B83B43A-8CAE-4EBB-9850-56F2FB72607C}"/>
              </a:ext>
            </a:extLst>
          </p:cNvPr>
          <p:cNvSpPr>
            <a:spLocks xmlns:a="http://schemas.openxmlformats.org/drawingml/2006/main" noGrp="1"/>
          </p:cNvSpPr>
          <p:nvPr/>
        </p:nvSpPr>
        <p:spPr>
          <a:xfrm xmlns:a="http://schemas.openxmlformats.org/drawingml/2006/main">
            <a:off x="7589520" y="5010912"/>
            <a:ext cx="3154680" cy="548640"/>
          </a:xfrm>
          <a:prstGeom xmlns:a="http://schemas.openxmlformats.org/drawingml/2006/main" prst="round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EE272567-4F0D-4B03-A08D-AA408D338787}"/>
              </a:ext>
            </a:extLst>
          </p:cNvPr>
          <p:cNvSpPr>
            <a:spLocks xmlns:a="http://schemas.openxmlformats.org/drawingml/2006/main" noGrp="1"/>
          </p:cNvSpPr>
          <p:nvPr/>
        </p:nvSpPr>
        <p:spPr>
          <a:xfrm xmlns:a="http://schemas.openxmlformats.org/drawingml/2006/main">
            <a:off x="7662672" y="5047488"/>
            <a:ext cx="3008376" cy="47548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009196"/>
                </a:solidFill>
                <a:latin typeface="Aptos"/>
                <a:ea typeface="Aptos"/>
                <a:cs typeface="Aptos"/>
              </a:defRPr>
            </a:pPr>
            <a:r>
              <a:t>Tam yanıt (n = 10)</a:t>
            </a:r>
          </a:p>
        </p:txBody>
      </p:sp>
      <p:sp>
        <p:nvSpPr>
          <p:cNvPr id="29" name="Connector 28">
            <a:extLst xmlns:a="http://schemas.openxmlformats.org/drawingml/2006/main">
              <a:ext uri="{FF2B5EF4-FFF2-40B4-BE49-F238E27FC236}">
                <a16:creationId xmlns:a16="http://schemas.microsoft.com/office/drawing/2014/main" id="{C304CC0A-1AB4-4527-A52F-92223E40467A}"/>
              </a:ext>
            </a:extLst>
          </p:cNvPr>
          <p:cNvSpPr>
            <a:spLocks xmlns:a="http://schemas.openxmlformats.org/drawingml/2006/main" noGrp="1"/>
          </p:cNvSpPr>
          <p:nvPr/>
        </p:nvSpPr>
        <p:spPr>
          <a:xfrm xmlns:a="http://schemas.openxmlformats.org/drawingml/2006/main">
            <a:off x="6035040" y="4690872"/>
            <a:ext cx="0" cy="137160"/>
          </a:xfrm>
          <a:prstGeom xmlns:a="http://schemas.openxmlformats.org/drawingml/2006/main" prst="line">
            <a:avLst/>
          </a:prstGeom>
          <a:ln xmlns:a="http://schemas.openxmlformats.org/drawingml/2006/main" w="17780">
            <a:solidFill>
              <a:srgbClr val="667584"/>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93C5923B-9683-42A9-844C-CD89D377E000}"/>
              </a:ext>
            </a:extLst>
          </p:cNvPr>
          <p:cNvSpPr>
            <a:spLocks xmlns:a="http://schemas.openxmlformats.org/drawingml/2006/main" noGrp="1"/>
          </p:cNvSpPr>
          <p:nvPr/>
        </p:nvSpPr>
        <p:spPr>
          <a:xfrm xmlns:a="http://schemas.openxmlformats.org/drawingml/2006/main">
            <a:off x="2907792" y="4828032"/>
            <a:ext cx="6254496" cy="0"/>
          </a:xfrm>
          <a:prstGeom xmlns:a="http://schemas.openxmlformats.org/drawingml/2006/main" prst="line">
            <a:avLst/>
          </a:prstGeom>
          <a:ln xmlns:a="http://schemas.openxmlformats.org/drawingml/2006/main" w="17780">
            <a:solidFill>
              <a:srgbClr val="667584"/>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E1C92463-12C0-40E5-8020-B120083FF6B3}"/>
              </a:ext>
            </a:extLst>
          </p:cNvPr>
          <p:cNvSpPr>
            <a:spLocks xmlns:a="http://schemas.openxmlformats.org/drawingml/2006/main" noGrp="1"/>
          </p:cNvSpPr>
          <p:nvPr/>
        </p:nvSpPr>
        <p:spPr>
          <a:xfrm xmlns:a="http://schemas.openxmlformats.org/drawingml/2006/main">
            <a:off x="2907792" y="4828032"/>
            <a:ext cx="0" cy="182880"/>
          </a:xfrm>
          <a:prstGeom xmlns:a="http://schemas.openxmlformats.org/drawingml/2006/main" prst="line">
            <a:avLst/>
          </a:prstGeom>
          <a:ln xmlns:a="http://schemas.openxmlformats.org/drawingml/2006/main" w="17780">
            <a:solidFill>
              <a:srgbClr val="667584"/>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FA7C2DBE-0364-48E3-9D77-B40590E65D70}"/>
              </a:ext>
            </a:extLst>
          </p:cNvPr>
          <p:cNvSpPr>
            <a:spLocks xmlns:a="http://schemas.openxmlformats.org/drawingml/2006/main" noGrp="1"/>
          </p:cNvSpPr>
          <p:nvPr/>
        </p:nvSpPr>
        <p:spPr>
          <a:xfrm xmlns:a="http://schemas.openxmlformats.org/drawingml/2006/main">
            <a:off x="9162288" y="4828032"/>
            <a:ext cx="0" cy="182880"/>
          </a:xfrm>
          <a:prstGeom xmlns:a="http://schemas.openxmlformats.org/drawingml/2006/main" prst="line">
            <a:avLst/>
          </a:prstGeom>
          <a:ln xmlns:a="http://schemas.openxmlformats.org/drawingml/2006/main" w="17780">
            <a:solidFill>
              <a:srgbClr val="667584"/>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3" name="Rounded Rectangle 32">
            <a:extLst xmlns:a="http://schemas.openxmlformats.org/drawingml/2006/main">
              <a:ext uri="{FF2B5EF4-FFF2-40B4-BE49-F238E27FC236}">
                <a16:creationId xmlns:a16="http://schemas.microsoft.com/office/drawing/2014/main" id="{B7E747A0-EA42-42C7-83EF-501A5DFF3BB3}"/>
              </a:ext>
            </a:extLst>
          </p:cNvPr>
          <p:cNvSpPr>
            <a:spLocks xmlns:a="http://schemas.openxmlformats.org/drawingml/2006/main" noGrp="1"/>
          </p:cNvSpPr>
          <p:nvPr/>
        </p:nvSpPr>
        <p:spPr>
          <a:xfrm xmlns:a="http://schemas.openxmlformats.org/drawingml/2006/main">
            <a:off x="1005840" y="5742432"/>
            <a:ext cx="3794760" cy="530352"/>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TextBox 33">
            <a:extLst xmlns:a="http://schemas.openxmlformats.org/drawingml/2006/main">
              <a:ext uri="{FF2B5EF4-FFF2-40B4-BE49-F238E27FC236}">
                <a16:creationId xmlns:a16="http://schemas.microsoft.com/office/drawing/2014/main" id="{0AB1C52C-163C-4DFA-B156-270C7E0971E3}"/>
              </a:ext>
            </a:extLst>
          </p:cNvPr>
          <p:cNvSpPr>
            <a:spLocks xmlns:a="http://schemas.openxmlformats.org/drawingml/2006/main" noGrp="1"/>
          </p:cNvSpPr>
          <p:nvPr/>
        </p:nvSpPr>
        <p:spPr>
          <a:xfrm xmlns:a="http://schemas.openxmlformats.org/drawingml/2006/main">
            <a:off x="1078992" y="5779008"/>
            <a:ext cx="3648456" cy="457199"/>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1">
                <a:solidFill>
                  <a:srgbClr val="263445"/>
                </a:solidFill>
                <a:latin typeface="Aptos"/>
                <a:ea typeface="Aptos"/>
                <a:cs typeface="Aptos"/>
              </a:defRPr>
            </a:pPr>
            <a:r>
              <a:t>Normal diyete döndü: 5  |  Diyette: 10</a:t>
            </a:r>
          </a:p>
        </p:txBody>
      </p:sp>
      <p:sp>
        <p:nvSpPr>
          <p:cNvPr id="35" name="Rounded Rectangle 34">
            <a:extLst xmlns:a="http://schemas.openxmlformats.org/drawingml/2006/main">
              <a:ext uri="{FF2B5EF4-FFF2-40B4-BE49-F238E27FC236}">
                <a16:creationId xmlns:a16="http://schemas.microsoft.com/office/drawing/2014/main" id="{B128EC1D-FBF1-4E65-9262-D0C5DF56F44C}"/>
              </a:ext>
            </a:extLst>
          </p:cNvPr>
          <p:cNvSpPr>
            <a:spLocks xmlns:a="http://schemas.openxmlformats.org/drawingml/2006/main" noGrp="1"/>
          </p:cNvSpPr>
          <p:nvPr/>
        </p:nvSpPr>
        <p:spPr>
          <a:xfrm xmlns:a="http://schemas.openxmlformats.org/drawingml/2006/main">
            <a:off x="7269480" y="5742432"/>
            <a:ext cx="3794760" cy="530352"/>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TextBox 35">
            <a:extLst xmlns:a="http://schemas.openxmlformats.org/drawingml/2006/main">
              <a:ext uri="{FF2B5EF4-FFF2-40B4-BE49-F238E27FC236}">
                <a16:creationId xmlns:a16="http://schemas.microsoft.com/office/drawing/2014/main" id="{807D546F-9049-4FB0-87FD-17C8B3D35514}"/>
              </a:ext>
            </a:extLst>
          </p:cNvPr>
          <p:cNvSpPr>
            <a:spLocks xmlns:a="http://schemas.openxmlformats.org/drawingml/2006/main" noGrp="1"/>
          </p:cNvSpPr>
          <p:nvPr/>
        </p:nvSpPr>
        <p:spPr>
          <a:xfrm xmlns:a="http://schemas.openxmlformats.org/drawingml/2006/main">
            <a:off x="7342631" y="5779008"/>
            <a:ext cx="3648456" cy="457199"/>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1">
                <a:solidFill>
                  <a:srgbClr val="263445"/>
                </a:solidFill>
                <a:latin typeface="Aptos"/>
                <a:ea typeface="Aptos"/>
                <a:cs typeface="Aptos"/>
              </a:defRPr>
            </a:pPr>
            <a:r>
              <a:t>Normal diyete döndü: 9  |  Diyette: 1</a:t>
            </a:r>
          </a:p>
        </p:txBody>
      </p:sp>
      <p:sp>
        <p:nvSpPr>
          <p:cNvPr id="37" name="Connector 36">
            <a:extLst xmlns:a="http://schemas.openxmlformats.org/drawingml/2006/main">
              <a:ext uri="{FF2B5EF4-FFF2-40B4-BE49-F238E27FC236}">
                <a16:creationId xmlns:a16="http://schemas.microsoft.com/office/drawing/2014/main" id="{67175E87-113D-4BEB-857C-21EC47BE0A15}"/>
              </a:ext>
            </a:extLst>
          </p:cNvPr>
          <p:cNvSpPr>
            <a:spLocks xmlns:a="http://schemas.openxmlformats.org/drawingml/2006/main" noGrp="1"/>
          </p:cNvSpPr>
          <p:nvPr/>
        </p:nvSpPr>
        <p:spPr>
          <a:xfrm xmlns:a="http://schemas.openxmlformats.org/drawingml/2006/main">
            <a:off x="2907792" y="5559552"/>
            <a:ext cx="0" cy="182880"/>
          </a:xfrm>
          <a:prstGeom xmlns:a="http://schemas.openxmlformats.org/drawingml/2006/main" prst="line">
            <a:avLst/>
          </a:prstGeom>
          <a:ln xmlns:a="http://schemas.openxmlformats.org/drawingml/2006/main" w="17780">
            <a:solidFill>
              <a:srgbClr val="667584"/>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75E4C17A-8DF0-4E78-8A69-24C7CF36E775}"/>
              </a:ext>
            </a:extLst>
          </p:cNvPr>
          <p:cNvSpPr>
            <a:spLocks xmlns:a="http://schemas.openxmlformats.org/drawingml/2006/main" noGrp="1"/>
          </p:cNvSpPr>
          <p:nvPr/>
        </p:nvSpPr>
        <p:spPr>
          <a:xfrm xmlns:a="http://schemas.openxmlformats.org/drawingml/2006/main">
            <a:off x="9162288" y="5559552"/>
            <a:ext cx="0" cy="182880"/>
          </a:xfrm>
          <a:prstGeom xmlns:a="http://schemas.openxmlformats.org/drawingml/2006/main" prst="line">
            <a:avLst/>
          </a:prstGeom>
          <a:ln xmlns:a="http://schemas.openxmlformats.org/drawingml/2006/main" w="17780">
            <a:solidFill>
              <a:srgbClr val="667584"/>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extLst>
      <p:ext uri="{BB962C8B-B14F-4D97-AF65-F5344CB8AC3E}">
        <p14:creationId xmlns:p14="http://schemas.microsoft.com/office/powerpoint/2010/main" val="136185454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C4B1170-B0FC-47D4-9DA0-B8170034D2AE}"/>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00919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EBC344A8-BFB1-469C-B5FA-FFDBDFB96CAE}"/>
              </a:ext>
            </a:extLst>
          </p:cNvPr>
          <p:cNvSpPr>
            <a:spLocks xmlns:a="http://schemas.openxmlformats.org/drawingml/2006/main" noGrp="1"/>
          </p:cNvSpPr>
          <p:nvPr/>
        </p:nvSpPr>
        <p:spPr>
          <a:xfrm xmlns:a="http://schemas.openxmlformats.org/drawingml/2006/main">
            <a:off x="658368" y="384048"/>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400" b="1">
                <a:solidFill>
                  <a:srgbClr val="12263F"/>
                </a:solidFill>
                <a:latin typeface="Aptos"/>
                <a:ea typeface="Aptos"/>
                <a:cs typeface="Aptos"/>
              </a:defRPr>
            </a:pPr>
            <a:r>
              <a:t>TANI ANINDA HASTA ÖZELLİKLERİ</a:t>
            </a:r>
          </a:p>
        </p:txBody>
      </p:sp>
      <p:sp>
        <p:nvSpPr>
          <p:cNvPr id="4" name="TextBox 3">
            <a:extLst xmlns:a="http://schemas.openxmlformats.org/drawingml/2006/main">
              <a:ext uri="{FF2B5EF4-FFF2-40B4-BE49-F238E27FC236}">
                <a16:creationId xmlns:a16="http://schemas.microsoft.com/office/drawing/2014/main" id="{A1630BD4-5073-42FA-A1A5-968617A05842}"/>
              </a:ext>
            </a:extLst>
          </p:cNvPr>
          <p:cNvSpPr>
            <a:spLocks xmlns:a="http://schemas.openxmlformats.org/drawingml/2006/main" noGrp="1"/>
          </p:cNvSpPr>
          <p:nvPr/>
        </p:nvSpPr>
        <p:spPr>
          <a:xfrm xmlns:a="http://schemas.openxmlformats.org/drawingml/2006/main">
            <a:off x="676656" y="987552"/>
            <a:ext cx="1088136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667584"/>
                </a:solidFill>
                <a:latin typeface="Aptos"/>
                <a:ea typeface="Aptos"/>
                <a:cs typeface="Aptos"/>
              </a:defRPr>
            </a:pPr>
            <a:r>
              <a:t>Fransız kohortu • n = 34</a:t>
            </a:r>
          </a:p>
        </p:txBody>
      </p:sp>
      <p:sp>
        <p:nvSpPr>
          <p:cNvPr id="5" name="Rounded Rectangle 4">
            <a:extLst xmlns:a="http://schemas.openxmlformats.org/drawingml/2006/main">
              <a:ext uri="{FF2B5EF4-FFF2-40B4-BE49-F238E27FC236}">
                <a16:creationId xmlns:a16="http://schemas.microsoft.com/office/drawing/2014/main" id="{1AC9A5EF-A535-4BCA-8DFE-69047C7E94F6}"/>
              </a:ext>
            </a:extLst>
          </p:cNvPr>
          <p:cNvSpPr>
            <a:spLocks xmlns:a="http://schemas.openxmlformats.org/drawingml/2006/main" noGrp="1"/>
          </p:cNvSpPr>
          <p:nvPr/>
        </p:nvSpPr>
        <p:spPr>
          <a:xfrm xmlns:a="http://schemas.openxmlformats.org/drawingml/2006/main">
            <a:off x="658368" y="1572768"/>
            <a:ext cx="5285232" cy="4709160"/>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108DE772-CA66-4000-A351-760EA39339FD}"/>
              </a:ext>
            </a:extLst>
          </p:cNvPr>
          <p:cNvSpPr>
            <a:spLocks xmlns:a="http://schemas.openxmlformats.org/drawingml/2006/main" noGrp="1"/>
          </p:cNvSpPr>
          <p:nvPr/>
        </p:nvSpPr>
        <p:spPr>
          <a:xfrm xmlns:a="http://schemas.openxmlformats.org/drawingml/2006/main">
            <a:off x="886968" y="1783080"/>
            <a:ext cx="480060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009196"/>
                </a:solidFill>
                <a:latin typeface="Aptos"/>
                <a:ea typeface="Aptos"/>
                <a:cs typeface="Aptos"/>
              </a:defRPr>
            </a:pPr>
            <a:r>
              <a:t>DEMOGRAFİ VE BÜYÜME</a:t>
            </a:r>
          </a:p>
        </p:txBody>
      </p:sp>
      <p:sp>
        <p:nvSpPr>
          <p:cNvPr id="7" name="Rounded Rectangle 6">
            <a:extLst xmlns:a="http://schemas.openxmlformats.org/drawingml/2006/main">
              <a:ext uri="{FF2B5EF4-FFF2-40B4-BE49-F238E27FC236}">
                <a16:creationId xmlns:a16="http://schemas.microsoft.com/office/drawing/2014/main" id="{387EBFCA-942B-4DC2-91B0-4F52A521DCC9}"/>
              </a:ext>
            </a:extLst>
          </p:cNvPr>
          <p:cNvSpPr>
            <a:spLocks xmlns:a="http://schemas.openxmlformats.org/drawingml/2006/main" noGrp="1"/>
          </p:cNvSpPr>
          <p:nvPr/>
        </p:nvSpPr>
        <p:spPr>
          <a:xfrm xmlns:a="http://schemas.openxmlformats.org/drawingml/2006/main">
            <a:off x="6236208" y="1572768"/>
            <a:ext cx="5285232" cy="4709160"/>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95517E35-BF8C-4B2A-AA7E-2910678802E2}"/>
              </a:ext>
            </a:extLst>
          </p:cNvPr>
          <p:cNvSpPr>
            <a:spLocks xmlns:a="http://schemas.openxmlformats.org/drawingml/2006/main" noGrp="1"/>
          </p:cNvSpPr>
          <p:nvPr/>
        </p:nvSpPr>
        <p:spPr>
          <a:xfrm xmlns:a="http://schemas.openxmlformats.org/drawingml/2006/main">
            <a:off x="6464808" y="1783080"/>
            <a:ext cx="480060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009196"/>
                </a:solidFill>
                <a:latin typeface="Aptos"/>
                <a:ea typeface="Aptos"/>
                <a:cs typeface="Aptos"/>
              </a:defRPr>
            </a:pPr>
            <a:r>
              <a:t>KLİNİK VE LABORATUVAR</a:t>
            </a:r>
          </a:p>
        </p:txBody>
      </p:sp>
      <p:sp>
        <p:nvSpPr>
          <p:cNvPr id="9" name="TextBox 8">
            <a:extLst xmlns:a="http://schemas.openxmlformats.org/drawingml/2006/main">
              <a:ext uri="{FF2B5EF4-FFF2-40B4-BE49-F238E27FC236}">
                <a16:creationId xmlns:a16="http://schemas.microsoft.com/office/drawing/2014/main" id="{62C47C02-4677-4489-B6B7-3CFFDC8D7D61}"/>
              </a:ext>
            </a:extLst>
          </p:cNvPr>
          <p:cNvSpPr>
            <a:spLocks xmlns:a="http://schemas.openxmlformats.org/drawingml/2006/main" noGrp="1"/>
          </p:cNvSpPr>
          <p:nvPr/>
        </p:nvSpPr>
        <p:spPr>
          <a:xfrm xmlns:a="http://schemas.openxmlformats.org/drawingml/2006/main">
            <a:off x="896112" y="2304288"/>
            <a:ext cx="3108960" cy="31089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263445"/>
                </a:solidFill>
                <a:latin typeface="Aptos"/>
                <a:ea typeface="Aptos"/>
                <a:cs typeface="Aptos"/>
              </a:defRPr>
            </a:pPr>
            <a:r>
              <a:t>Erkek</a:t>
            </a:r>
          </a:p>
        </p:txBody>
      </p:sp>
      <p:sp>
        <p:nvSpPr>
          <p:cNvPr id="10" name="TextBox 9">
            <a:extLst xmlns:a="http://schemas.openxmlformats.org/drawingml/2006/main">
              <a:ext uri="{FF2B5EF4-FFF2-40B4-BE49-F238E27FC236}">
                <a16:creationId xmlns:a16="http://schemas.microsoft.com/office/drawing/2014/main" id="{E847FAEF-0393-4070-80AF-57422DC8E226}"/>
              </a:ext>
            </a:extLst>
          </p:cNvPr>
          <p:cNvSpPr>
            <a:spLocks xmlns:a="http://schemas.openxmlformats.org/drawingml/2006/main" noGrp="1"/>
          </p:cNvSpPr>
          <p:nvPr/>
        </p:nvSpPr>
        <p:spPr>
          <a:xfrm xmlns:a="http://schemas.openxmlformats.org/drawingml/2006/main">
            <a:off x="3931920" y="2304288"/>
            <a:ext cx="1691640" cy="31089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1">
                <a:solidFill>
                  <a:srgbClr val="12263F"/>
                </a:solidFill>
                <a:latin typeface="Aptos"/>
                <a:ea typeface="Aptos"/>
                <a:cs typeface="Aptos"/>
              </a:defRPr>
            </a:pPr>
            <a:r>
              <a:t>22 (%65)</a:t>
            </a:r>
          </a:p>
        </p:txBody>
      </p:sp>
      <p:sp>
        <p:nvSpPr>
          <p:cNvPr id="11" name="TextBox 10">
            <a:extLst xmlns:a="http://schemas.openxmlformats.org/drawingml/2006/main">
              <a:ext uri="{FF2B5EF4-FFF2-40B4-BE49-F238E27FC236}">
                <a16:creationId xmlns:a16="http://schemas.microsoft.com/office/drawing/2014/main" id="{6A0E50E1-F86B-4E52-9C6E-2C181B6CC961}"/>
              </a:ext>
            </a:extLst>
          </p:cNvPr>
          <p:cNvSpPr>
            <a:spLocks xmlns:a="http://schemas.openxmlformats.org/drawingml/2006/main" noGrp="1"/>
          </p:cNvSpPr>
          <p:nvPr/>
        </p:nvSpPr>
        <p:spPr>
          <a:xfrm xmlns:a="http://schemas.openxmlformats.org/drawingml/2006/main">
            <a:off x="896112" y="2752344"/>
            <a:ext cx="3108960" cy="31089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263445"/>
                </a:solidFill>
                <a:latin typeface="Aptos"/>
                <a:ea typeface="Aptos"/>
                <a:cs typeface="Aptos"/>
              </a:defRPr>
            </a:pPr>
            <a:r>
              <a:t>Kız</a:t>
            </a:r>
          </a:p>
        </p:txBody>
      </p:sp>
      <p:sp>
        <p:nvSpPr>
          <p:cNvPr id="12" name="TextBox 11">
            <a:extLst xmlns:a="http://schemas.openxmlformats.org/drawingml/2006/main">
              <a:ext uri="{FF2B5EF4-FFF2-40B4-BE49-F238E27FC236}">
                <a16:creationId xmlns:a16="http://schemas.microsoft.com/office/drawing/2014/main" id="{5EA812FC-C5FF-432A-A061-0535B6A74E0D}"/>
              </a:ext>
            </a:extLst>
          </p:cNvPr>
          <p:cNvSpPr>
            <a:spLocks xmlns:a="http://schemas.openxmlformats.org/drawingml/2006/main" noGrp="1"/>
          </p:cNvSpPr>
          <p:nvPr/>
        </p:nvSpPr>
        <p:spPr>
          <a:xfrm xmlns:a="http://schemas.openxmlformats.org/drawingml/2006/main">
            <a:off x="3931920" y="2752344"/>
            <a:ext cx="1691640" cy="31089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1">
                <a:solidFill>
                  <a:srgbClr val="12263F"/>
                </a:solidFill>
                <a:latin typeface="Aptos"/>
                <a:ea typeface="Aptos"/>
                <a:cs typeface="Aptos"/>
              </a:defRPr>
            </a:pPr>
            <a:r>
              <a:t>12 (%35)</a:t>
            </a:r>
          </a:p>
        </p:txBody>
      </p:sp>
      <p:sp>
        <p:nvSpPr>
          <p:cNvPr id="13" name="TextBox 12">
            <a:extLst xmlns:a="http://schemas.openxmlformats.org/drawingml/2006/main">
              <a:ext uri="{FF2B5EF4-FFF2-40B4-BE49-F238E27FC236}">
                <a16:creationId xmlns:a16="http://schemas.microsoft.com/office/drawing/2014/main" id="{4C42D81D-D40A-40EA-92CE-495CB4C57DD2}"/>
              </a:ext>
            </a:extLst>
          </p:cNvPr>
          <p:cNvSpPr>
            <a:spLocks xmlns:a="http://schemas.openxmlformats.org/drawingml/2006/main" noGrp="1"/>
          </p:cNvSpPr>
          <p:nvPr/>
        </p:nvSpPr>
        <p:spPr>
          <a:xfrm xmlns:a="http://schemas.openxmlformats.org/drawingml/2006/main">
            <a:off x="896112" y="3200400"/>
            <a:ext cx="3108960" cy="31089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263445"/>
                </a:solidFill>
                <a:latin typeface="Aptos"/>
                <a:ea typeface="Aptos"/>
                <a:cs typeface="Aptos"/>
              </a:defRPr>
            </a:pPr>
            <a:r>
              <a:t>Medyan yaş</a:t>
            </a:r>
          </a:p>
        </p:txBody>
      </p:sp>
      <p:sp>
        <p:nvSpPr>
          <p:cNvPr id="14" name="TextBox 13">
            <a:extLst xmlns:a="http://schemas.openxmlformats.org/drawingml/2006/main">
              <a:ext uri="{FF2B5EF4-FFF2-40B4-BE49-F238E27FC236}">
                <a16:creationId xmlns:a16="http://schemas.microsoft.com/office/drawing/2014/main" id="{16C5B3C3-CDFE-47A3-A9A2-D7CAD4AD021B}"/>
              </a:ext>
            </a:extLst>
          </p:cNvPr>
          <p:cNvSpPr>
            <a:spLocks xmlns:a="http://schemas.openxmlformats.org/drawingml/2006/main" noGrp="1"/>
          </p:cNvSpPr>
          <p:nvPr/>
        </p:nvSpPr>
        <p:spPr>
          <a:xfrm xmlns:a="http://schemas.openxmlformats.org/drawingml/2006/main">
            <a:off x="3931920" y="3200400"/>
            <a:ext cx="1691640" cy="31089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1">
                <a:solidFill>
                  <a:srgbClr val="12263F"/>
                </a:solidFill>
                <a:latin typeface="Aptos"/>
                <a:ea typeface="Aptos"/>
                <a:cs typeface="Aptos"/>
              </a:defRPr>
            </a:pPr>
            <a:r>
              <a:t>7 ay (3–29,5)</a:t>
            </a:r>
          </a:p>
        </p:txBody>
      </p:sp>
      <p:sp>
        <p:nvSpPr>
          <p:cNvPr id="15" name="TextBox 14">
            <a:extLst xmlns:a="http://schemas.openxmlformats.org/drawingml/2006/main">
              <a:ext uri="{FF2B5EF4-FFF2-40B4-BE49-F238E27FC236}">
                <a16:creationId xmlns:a16="http://schemas.microsoft.com/office/drawing/2014/main" id="{08D2886E-94C1-4D3E-B70E-31DB4EDDEDBC}"/>
              </a:ext>
            </a:extLst>
          </p:cNvPr>
          <p:cNvSpPr>
            <a:spLocks xmlns:a="http://schemas.openxmlformats.org/drawingml/2006/main" noGrp="1"/>
          </p:cNvSpPr>
          <p:nvPr/>
        </p:nvSpPr>
        <p:spPr>
          <a:xfrm xmlns:a="http://schemas.openxmlformats.org/drawingml/2006/main">
            <a:off x="896112" y="3648456"/>
            <a:ext cx="3108960" cy="31089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263445"/>
                </a:solidFill>
                <a:latin typeface="Aptos"/>
                <a:ea typeface="Aptos"/>
                <a:cs typeface="Aptos"/>
              </a:defRPr>
            </a:pPr>
            <a:r>
              <a:t>&lt;24 ay</a:t>
            </a:r>
          </a:p>
        </p:txBody>
      </p:sp>
      <p:sp>
        <p:nvSpPr>
          <p:cNvPr id="16" name="TextBox 15">
            <a:extLst xmlns:a="http://schemas.openxmlformats.org/drawingml/2006/main">
              <a:ext uri="{FF2B5EF4-FFF2-40B4-BE49-F238E27FC236}">
                <a16:creationId xmlns:a16="http://schemas.microsoft.com/office/drawing/2014/main" id="{72F136AD-9E47-41D7-B013-DFDD99D90011}"/>
              </a:ext>
            </a:extLst>
          </p:cNvPr>
          <p:cNvSpPr>
            <a:spLocks xmlns:a="http://schemas.openxmlformats.org/drawingml/2006/main" noGrp="1"/>
          </p:cNvSpPr>
          <p:nvPr/>
        </p:nvSpPr>
        <p:spPr>
          <a:xfrm xmlns:a="http://schemas.openxmlformats.org/drawingml/2006/main">
            <a:off x="3931920" y="3648456"/>
            <a:ext cx="1691640" cy="31089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1">
                <a:solidFill>
                  <a:srgbClr val="12263F"/>
                </a:solidFill>
                <a:latin typeface="Aptos"/>
                <a:ea typeface="Aptos"/>
                <a:cs typeface="Aptos"/>
              </a:defRPr>
            </a:pPr>
            <a:r>
              <a:t>23 (%68)</a:t>
            </a:r>
          </a:p>
        </p:txBody>
      </p:sp>
      <p:sp>
        <p:nvSpPr>
          <p:cNvPr id="17" name="TextBox 16">
            <a:extLst xmlns:a="http://schemas.openxmlformats.org/drawingml/2006/main">
              <a:ext uri="{FF2B5EF4-FFF2-40B4-BE49-F238E27FC236}">
                <a16:creationId xmlns:a16="http://schemas.microsoft.com/office/drawing/2014/main" id="{BBB4E82E-D250-4926-978D-A583AA10478B}"/>
              </a:ext>
            </a:extLst>
          </p:cNvPr>
          <p:cNvSpPr>
            <a:spLocks xmlns:a="http://schemas.openxmlformats.org/drawingml/2006/main" noGrp="1"/>
          </p:cNvSpPr>
          <p:nvPr/>
        </p:nvSpPr>
        <p:spPr>
          <a:xfrm xmlns:a="http://schemas.openxmlformats.org/drawingml/2006/main">
            <a:off x="896112" y="4096512"/>
            <a:ext cx="3108960" cy="31089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263445"/>
                </a:solidFill>
                <a:latin typeface="Aptos"/>
                <a:ea typeface="Aptos"/>
                <a:cs typeface="Aptos"/>
              </a:defRPr>
            </a:pPr>
            <a:r>
              <a:t>Tanı gecikmesi</a:t>
            </a:r>
          </a:p>
        </p:txBody>
      </p:sp>
      <p:sp>
        <p:nvSpPr>
          <p:cNvPr id="18" name="TextBox 17">
            <a:extLst xmlns:a="http://schemas.openxmlformats.org/drawingml/2006/main">
              <a:ext uri="{FF2B5EF4-FFF2-40B4-BE49-F238E27FC236}">
                <a16:creationId xmlns:a16="http://schemas.microsoft.com/office/drawing/2014/main" id="{3850437C-28B4-49F5-A2D1-8CB0EB4CCAAF}"/>
              </a:ext>
            </a:extLst>
          </p:cNvPr>
          <p:cNvSpPr>
            <a:spLocks xmlns:a="http://schemas.openxmlformats.org/drawingml/2006/main" noGrp="1"/>
          </p:cNvSpPr>
          <p:nvPr/>
        </p:nvSpPr>
        <p:spPr>
          <a:xfrm xmlns:a="http://schemas.openxmlformats.org/drawingml/2006/main">
            <a:off x="3931920" y="4096512"/>
            <a:ext cx="1691640" cy="31089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1">
                <a:solidFill>
                  <a:srgbClr val="12263F"/>
                </a:solidFill>
                <a:latin typeface="Aptos"/>
                <a:ea typeface="Aptos"/>
                <a:cs typeface="Aptos"/>
              </a:defRPr>
            </a:pPr>
            <a:r>
              <a:t>1 ay (0,8–12)</a:t>
            </a:r>
          </a:p>
        </p:txBody>
      </p:sp>
      <p:sp>
        <p:nvSpPr>
          <p:cNvPr id="19" name="TextBox 18">
            <a:extLst xmlns:a="http://schemas.openxmlformats.org/drawingml/2006/main">
              <a:ext uri="{FF2B5EF4-FFF2-40B4-BE49-F238E27FC236}">
                <a16:creationId xmlns:a16="http://schemas.microsoft.com/office/drawing/2014/main" id="{19EC5B3A-7787-4F90-B2C1-B04C7C404DE9}"/>
              </a:ext>
            </a:extLst>
          </p:cNvPr>
          <p:cNvSpPr>
            <a:spLocks xmlns:a="http://schemas.openxmlformats.org/drawingml/2006/main" noGrp="1"/>
          </p:cNvSpPr>
          <p:nvPr/>
        </p:nvSpPr>
        <p:spPr>
          <a:xfrm xmlns:a="http://schemas.openxmlformats.org/drawingml/2006/main">
            <a:off x="896112" y="4544568"/>
            <a:ext cx="3108960" cy="31089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263445"/>
                </a:solidFill>
                <a:latin typeface="Aptos"/>
                <a:ea typeface="Aptos"/>
                <a:cs typeface="Aptos"/>
              </a:defRPr>
            </a:pPr>
            <a:r>
              <a:t>Sendromik bulgu</a:t>
            </a:r>
          </a:p>
        </p:txBody>
      </p:sp>
      <p:sp>
        <p:nvSpPr>
          <p:cNvPr id="20" name="TextBox 19">
            <a:extLst xmlns:a="http://schemas.openxmlformats.org/drawingml/2006/main">
              <a:ext uri="{FF2B5EF4-FFF2-40B4-BE49-F238E27FC236}">
                <a16:creationId xmlns:a16="http://schemas.microsoft.com/office/drawing/2014/main" id="{E871C45B-F63B-4B63-8E26-AD47B10B3A90}"/>
              </a:ext>
            </a:extLst>
          </p:cNvPr>
          <p:cNvSpPr>
            <a:spLocks xmlns:a="http://schemas.openxmlformats.org/drawingml/2006/main" noGrp="1"/>
          </p:cNvSpPr>
          <p:nvPr/>
        </p:nvSpPr>
        <p:spPr>
          <a:xfrm xmlns:a="http://schemas.openxmlformats.org/drawingml/2006/main">
            <a:off x="3931920" y="4544568"/>
            <a:ext cx="1691640" cy="31089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1">
                <a:solidFill>
                  <a:srgbClr val="12263F"/>
                </a:solidFill>
                <a:latin typeface="Aptos"/>
                <a:ea typeface="Aptos"/>
                <a:cs typeface="Aptos"/>
              </a:defRPr>
            </a:pPr>
            <a:r>
              <a:t>7 (%21)</a:t>
            </a:r>
          </a:p>
        </p:txBody>
      </p:sp>
      <p:sp>
        <p:nvSpPr>
          <p:cNvPr id="21" name="TextBox 20">
            <a:extLst xmlns:a="http://schemas.openxmlformats.org/drawingml/2006/main">
              <a:ext uri="{FF2B5EF4-FFF2-40B4-BE49-F238E27FC236}">
                <a16:creationId xmlns:a16="http://schemas.microsoft.com/office/drawing/2014/main" id="{E5D229CC-A90D-4EA5-86B8-3229B3627EA6}"/>
              </a:ext>
            </a:extLst>
          </p:cNvPr>
          <p:cNvSpPr>
            <a:spLocks xmlns:a="http://schemas.openxmlformats.org/drawingml/2006/main" noGrp="1"/>
          </p:cNvSpPr>
          <p:nvPr/>
        </p:nvSpPr>
        <p:spPr>
          <a:xfrm xmlns:a="http://schemas.openxmlformats.org/drawingml/2006/main">
            <a:off x="896112" y="4992624"/>
            <a:ext cx="3108960" cy="31089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263445"/>
                </a:solidFill>
                <a:latin typeface="Aptos"/>
                <a:ea typeface="Aptos"/>
                <a:cs typeface="Aptos"/>
              </a:defRPr>
            </a:pPr>
            <a:r>
              <a:t>Boy / yaş</a:t>
            </a:r>
          </a:p>
        </p:txBody>
      </p:sp>
      <p:sp>
        <p:nvSpPr>
          <p:cNvPr id="22" name="TextBox 21">
            <a:extLst xmlns:a="http://schemas.openxmlformats.org/drawingml/2006/main">
              <a:ext uri="{FF2B5EF4-FFF2-40B4-BE49-F238E27FC236}">
                <a16:creationId xmlns:a16="http://schemas.microsoft.com/office/drawing/2014/main" id="{557D1DFB-A1EE-456A-B930-D3EE1356D243}"/>
              </a:ext>
            </a:extLst>
          </p:cNvPr>
          <p:cNvSpPr>
            <a:spLocks xmlns:a="http://schemas.openxmlformats.org/drawingml/2006/main" noGrp="1"/>
          </p:cNvSpPr>
          <p:nvPr/>
        </p:nvSpPr>
        <p:spPr>
          <a:xfrm xmlns:a="http://schemas.openxmlformats.org/drawingml/2006/main">
            <a:off x="3931920" y="4992624"/>
            <a:ext cx="1691640" cy="31089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1">
                <a:solidFill>
                  <a:srgbClr val="12263F"/>
                </a:solidFill>
                <a:latin typeface="Aptos"/>
                <a:ea typeface="Aptos"/>
                <a:cs typeface="Aptos"/>
              </a:defRPr>
            </a:pPr>
            <a:r>
              <a:t>+0,2 SS (−2,2–1,4)</a:t>
            </a:r>
          </a:p>
        </p:txBody>
      </p:sp>
      <p:sp>
        <p:nvSpPr>
          <p:cNvPr id="23" name="TextBox 22">
            <a:extLst xmlns:a="http://schemas.openxmlformats.org/drawingml/2006/main">
              <a:ext uri="{FF2B5EF4-FFF2-40B4-BE49-F238E27FC236}">
                <a16:creationId xmlns:a16="http://schemas.microsoft.com/office/drawing/2014/main" id="{6E34225F-BFAD-4006-B729-62AF0F4840C7}"/>
              </a:ext>
            </a:extLst>
          </p:cNvPr>
          <p:cNvSpPr>
            <a:spLocks xmlns:a="http://schemas.openxmlformats.org/drawingml/2006/main" noGrp="1"/>
          </p:cNvSpPr>
          <p:nvPr/>
        </p:nvSpPr>
        <p:spPr>
          <a:xfrm xmlns:a="http://schemas.openxmlformats.org/drawingml/2006/main">
            <a:off x="896112" y="5440680"/>
            <a:ext cx="3108960" cy="31089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263445"/>
                </a:solidFill>
                <a:latin typeface="Aptos"/>
                <a:ea typeface="Aptos"/>
                <a:cs typeface="Aptos"/>
              </a:defRPr>
            </a:pPr>
            <a:r>
              <a:t>Kilo / boy</a:t>
            </a:r>
          </a:p>
        </p:txBody>
      </p:sp>
      <p:sp>
        <p:nvSpPr>
          <p:cNvPr id="24" name="TextBox 23">
            <a:extLst xmlns:a="http://schemas.openxmlformats.org/drawingml/2006/main">
              <a:ext uri="{FF2B5EF4-FFF2-40B4-BE49-F238E27FC236}">
                <a16:creationId xmlns:a16="http://schemas.microsoft.com/office/drawing/2014/main" id="{92B567BD-9325-47BD-AB20-EA75768FA18C}"/>
              </a:ext>
            </a:extLst>
          </p:cNvPr>
          <p:cNvSpPr>
            <a:spLocks xmlns:a="http://schemas.openxmlformats.org/drawingml/2006/main" noGrp="1"/>
          </p:cNvSpPr>
          <p:nvPr/>
        </p:nvSpPr>
        <p:spPr>
          <a:xfrm xmlns:a="http://schemas.openxmlformats.org/drawingml/2006/main">
            <a:off x="3931920" y="5440680"/>
            <a:ext cx="1691640" cy="31089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1">
                <a:solidFill>
                  <a:srgbClr val="12263F"/>
                </a:solidFill>
                <a:latin typeface="Aptos"/>
                <a:ea typeface="Aptos"/>
                <a:cs typeface="Aptos"/>
              </a:defRPr>
            </a:pPr>
            <a:r>
              <a:t>−0,23 SS (−0,8–1,7)</a:t>
            </a:r>
          </a:p>
        </p:txBody>
      </p:sp>
      <p:sp>
        <p:nvSpPr>
          <p:cNvPr id="25" name="TextBox 24">
            <a:extLst xmlns:a="http://schemas.openxmlformats.org/drawingml/2006/main">
              <a:ext uri="{FF2B5EF4-FFF2-40B4-BE49-F238E27FC236}">
                <a16:creationId xmlns:a16="http://schemas.microsoft.com/office/drawing/2014/main" id="{52083D8C-40A2-4167-8E8E-55AD2EF09A42}"/>
              </a:ext>
            </a:extLst>
          </p:cNvPr>
          <p:cNvSpPr>
            <a:spLocks xmlns:a="http://schemas.openxmlformats.org/drawingml/2006/main" noGrp="1"/>
          </p:cNvSpPr>
          <p:nvPr/>
        </p:nvSpPr>
        <p:spPr>
          <a:xfrm xmlns:a="http://schemas.openxmlformats.org/drawingml/2006/main">
            <a:off x="6492240" y="2221992"/>
            <a:ext cx="338328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0">
                <a:solidFill>
                  <a:srgbClr val="263445"/>
                </a:solidFill>
                <a:latin typeface="Aptos"/>
                <a:ea typeface="Aptos"/>
                <a:cs typeface="Aptos"/>
              </a:defRPr>
            </a:pPr>
            <a:r>
              <a:t>Ödem</a:t>
            </a:r>
          </a:p>
        </p:txBody>
      </p:sp>
      <p:sp>
        <p:nvSpPr>
          <p:cNvPr id="26" name="TextBox 25">
            <a:extLst xmlns:a="http://schemas.openxmlformats.org/drawingml/2006/main">
              <a:ext uri="{FF2B5EF4-FFF2-40B4-BE49-F238E27FC236}">
                <a16:creationId xmlns:a16="http://schemas.microsoft.com/office/drawing/2014/main" id="{D127CB6D-65E1-42AE-87E3-FC9BAAF61486}"/>
              </a:ext>
            </a:extLst>
          </p:cNvPr>
          <p:cNvSpPr>
            <a:spLocks xmlns:a="http://schemas.openxmlformats.org/drawingml/2006/main" noGrp="1"/>
          </p:cNvSpPr>
          <p:nvPr/>
        </p:nvSpPr>
        <p:spPr>
          <a:xfrm xmlns:a="http://schemas.openxmlformats.org/drawingml/2006/main">
            <a:off x="9838944" y="222199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1">
                <a:solidFill>
                  <a:srgbClr val="12263F"/>
                </a:solidFill>
                <a:latin typeface="Aptos"/>
                <a:ea typeface="Aptos"/>
                <a:cs typeface="Aptos"/>
              </a:defRPr>
            </a:pPr>
            <a:r>
              <a:t>27 (%79)</a:t>
            </a:r>
          </a:p>
        </p:txBody>
      </p:sp>
      <p:sp>
        <p:nvSpPr>
          <p:cNvPr id="27" name="TextBox 26">
            <a:extLst xmlns:a="http://schemas.openxmlformats.org/drawingml/2006/main">
              <a:ext uri="{FF2B5EF4-FFF2-40B4-BE49-F238E27FC236}">
                <a16:creationId xmlns:a16="http://schemas.microsoft.com/office/drawing/2014/main" id="{D1B2E5C8-8C50-40EE-909E-BD6973D2F49D}"/>
              </a:ext>
            </a:extLst>
          </p:cNvPr>
          <p:cNvSpPr>
            <a:spLocks xmlns:a="http://schemas.openxmlformats.org/drawingml/2006/main" noGrp="1"/>
          </p:cNvSpPr>
          <p:nvPr/>
        </p:nvSpPr>
        <p:spPr>
          <a:xfrm xmlns:a="http://schemas.openxmlformats.org/drawingml/2006/main">
            <a:off x="6492240" y="2564892"/>
            <a:ext cx="338328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0">
                <a:solidFill>
                  <a:srgbClr val="263445"/>
                </a:solidFill>
                <a:latin typeface="Aptos"/>
                <a:ea typeface="Aptos"/>
                <a:cs typeface="Aptos"/>
              </a:defRPr>
            </a:pPr>
            <a:r>
              <a:t>Kronik ishal</a:t>
            </a:r>
          </a:p>
        </p:txBody>
      </p:sp>
      <p:sp>
        <p:nvSpPr>
          <p:cNvPr id="28" name="TextBox 27">
            <a:extLst xmlns:a="http://schemas.openxmlformats.org/drawingml/2006/main">
              <a:ext uri="{FF2B5EF4-FFF2-40B4-BE49-F238E27FC236}">
                <a16:creationId xmlns:a16="http://schemas.microsoft.com/office/drawing/2014/main" id="{EBB60988-E22C-4A2F-815F-A72B28D16670}"/>
              </a:ext>
            </a:extLst>
          </p:cNvPr>
          <p:cNvSpPr>
            <a:spLocks xmlns:a="http://schemas.openxmlformats.org/drawingml/2006/main" noGrp="1"/>
          </p:cNvSpPr>
          <p:nvPr/>
        </p:nvSpPr>
        <p:spPr>
          <a:xfrm xmlns:a="http://schemas.openxmlformats.org/drawingml/2006/main">
            <a:off x="9838944" y="256489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1">
                <a:solidFill>
                  <a:srgbClr val="12263F"/>
                </a:solidFill>
                <a:latin typeface="Aptos"/>
                <a:ea typeface="Aptos"/>
                <a:cs typeface="Aptos"/>
              </a:defRPr>
            </a:pPr>
            <a:r>
              <a:t>17 (%50)</a:t>
            </a:r>
          </a:p>
        </p:txBody>
      </p:sp>
      <p:sp>
        <p:nvSpPr>
          <p:cNvPr id="29" name="TextBox 28">
            <a:extLst xmlns:a="http://schemas.openxmlformats.org/drawingml/2006/main">
              <a:ext uri="{FF2B5EF4-FFF2-40B4-BE49-F238E27FC236}">
                <a16:creationId xmlns:a16="http://schemas.microsoft.com/office/drawing/2014/main" id="{113046B4-E235-4054-BE96-574BC79160F3}"/>
              </a:ext>
            </a:extLst>
          </p:cNvPr>
          <p:cNvSpPr>
            <a:spLocks xmlns:a="http://schemas.openxmlformats.org/drawingml/2006/main" noGrp="1"/>
          </p:cNvSpPr>
          <p:nvPr/>
        </p:nvSpPr>
        <p:spPr>
          <a:xfrm xmlns:a="http://schemas.openxmlformats.org/drawingml/2006/main">
            <a:off x="6492240" y="2907792"/>
            <a:ext cx="338328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0">
                <a:solidFill>
                  <a:srgbClr val="263445"/>
                </a:solidFill>
                <a:latin typeface="Aptos"/>
                <a:ea typeface="Aptos"/>
                <a:cs typeface="Aptos"/>
              </a:defRPr>
            </a:pPr>
            <a:r>
              <a:t>Halsizlik</a:t>
            </a:r>
          </a:p>
        </p:txBody>
      </p:sp>
      <p:sp>
        <p:nvSpPr>
          <p:cNvPr id="30" name="TextBox 29">
            <a:extLst xmlns:a="http://schemas.openxmlformats.org/drawingml/2006/main">
              <a:ext uri="{FF2B5EF4-FFF2-40B4-BE49-F238E27FC236}">
                <a16:creationId xmlns:a16="http://schemas.microsoft.com/office/drawing/2014/main" id="{58E33469-4A45-4810-9700-22EA2886528F}"/>
              </a:ext>
            </a:extLst>
          </p:cNvPr>
          <p:cNvSpPr>
            <a:spLocks xmlns:a="http://schemas.openxmlformats.org/drawingml/2006/main" noGrp="1"/>
          </p:cNvSpPr>
          <p:nvPr/>
        </p:nvSpPr>
        <p:spPr>
          <a:xfrm xmlns:a="http://schemas.openxmlformats.org/drawingml/2006/main">
            <a:off x="9838944" y="290779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1">
                <a:solidFill>
                  <a:srgbClr val="12263F"/>
                </a:solidFill>
                <a:latin typeface="Aptos"/>
                <a:ea typeface="Aptos"/>
                <a:cs typeface="Aptos"/>
              </a:defRPr>
            </a:pPr>
            <a:r>
              <a:t>12 (%35)</a:t>
            </a:r>
          </a:p>
        </p:txBody>
      </p:sp>
      <p:sp>
        <p:nvSpPr>
          <p:cNvPr id="31" name="TextBox 30">
            <a:extLst xmlns:a="http://schemas.openxmlformats.org/drawingml/2006/main">
              <a:ext uri="{FF2B5EF4-FFF2-40B4-BE49-F238E27FC236}">
                <a16:creationId xmlns:a16="http://schemas.microsoft.com/office/drawing/2014/main" id="{3B108498-D1E4-46FA-BA59-D4BC18530E97}"/>
              </a:ext>
            </a:extLst>
          </p:cNvPr>
          <p:cNvSpPr>
            <a:spLocks xmlns:a="http://schemas.openxmlformats.org/drawingml/2006/main" noGrp="1"/>
          </p:cNvSpPr>
          <p:nvPr/>
        </p:nvSpPr>
        <p:spPr>
          <a:xfrm xmlns:a="http://schemas.openxmlformats.org/drawingml/2006/main">
            <a:off x="6492240" y="3250692"/>
            <a:ext cx="338328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0">
                <a:solidFill>
                  <a:srgbClr val="263445"/>
                </a:solidFill>
                <a:latin typeface="Aptos"/>
                <a:ea typeface="Aptos"/>
                <a:cs typeface="Aptos"/>
              </a:defRPr>
            </a:pPr>
            <a:r>
              <a:t>Asit</a:t>
            </a:r>
          </a:p>
        </p:txBody>
      </p:sp>
      <p:sp>
        <p:nvSpPr>
          <p:cNvPr id="32" name="TextBox 31">
            <a:extLst xmlns:a="http://schemas.openxmlformats.org/drawingml/2006/main">
              <a:ext uri="{FF2B5EF4-FFF2-40B4-BE49-F238E27FC236}">
                <a16:creationId xmlns:a16="http://schemas.microsoft.com/office/drawing/2014/main" id="{3BCF8433-F118-4E18-9851-79F1590EFB33}"/>
              </a:ext>
            </a:extLst>
          </p:cNvPr>
          <p:cNvSpPr>
            <a:spLocks xmlns:a="http://schemas.openxmlformats.org/drawingml/2006/main" noGrp="1"/>
          </p:cNvSpPr>
          <p:nvPr/>
        </p:nvSpPr>
        <p:spPr>
          <a:xfrm xmlns:a="http://schemas.openxmlformats.org/drawingml/2006/main">
            <a:off x="9838944" y="325069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1">
                <a:solidFill>
                  <a:srgbClr val="12263F"/>
                </a:solidFill>
                <a:latin typeface="Aptos"/>
                <a:ea typeface="Aptos"/>
                <a:cs typeface="Aptos"/>
              </a:defRPr>
            </a:pPr>
            <a:r>
              <a:t>12 (%35)</a:t>
            </a:r>
          </a:p>
        </p:txBody>
      </p:sp>
      <p:sp>
        <p:nvSpPr>
          <p:cNvPr id="33" name="TextBox 32">
            <a:extLst xmlns:a="http://schemas.openxmlformats.org/drawingml/2006/main">
              <a:ext uri="{FF2B5EF4-FFF2-40B4-BE49-F238E27FC236}">
                <a16:creationId xmlns:a16="http://schemas.microsoft.com/office/drawing/2014/main" id="{D022848D-0196-420F-A0DE-8E108BF3F043}"/>
              </a:ext>
            </a:extLst>
          </p:cNvPr>
          <p:cNvSpPr>
            <a:spLocks xmlns:a="http://schemas.openxmlformats.org/drawingml/2006/main" noGrp="1"/>
          </p:cNvSpPr>
          <p:nvPr/>
        </p:nvSpPr>
        <p:spPr>
          <a:xfrm xmlns:a="http://schemas.openxmlformats.org/drawingml/2006/main">
            <a:off x="6492240" y="3593592"/>
            <a:ext cx="338328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0">
                <a:solidFill>
                  <a:srgbClr val="263445"/>
                </a:solidFill>
                <a:latin typeface="Aptos"/>
                <a:ea typeface="Aptos"/>
                <a:cs typeface="Aptos"/>
              </a:defRPr>
            </a:pPr>
            <a:r>
              <a:t>Lenfödem</a:t>
            </a:r>
          </a:p>
        </p:txBody>
      </p:sp>
      <p:sp>
        <p:nvSpPr>
          <p:cNvPr id="34" name="TextBox 33">
            <a:extLst xmlns:a="http://schemas.openxmlformats.org/drawingml/2006/main">
              <a:ext uri="{FF2B5EF4-FFF2-40B4-BE49-F238E27FC236}">
                <a16:creationId xmlns:a16="http://schemas.microsoft.com/office/drawing/2014/main" id="{3BF2B1DA-C933-4951-8930-F52B1EBD0CDF}"/>
              </a:ext>
            </a:extLst>
          </p:cNvPr>
          <p:cNvSpPr>
            <a:spLocks xmlns:a="http://schemas.openxmlformats.org/drawingml/2006/main" noGrp="1"/>
          </p:cNvSpPr>
          <p:nvPr/>
        </p:nvSpPr>
        <p:spPr>
          <a:xfrm xmlns:a="http://schemas.openxmlformats.org/drawingml/2006/main">
            <a:off x="9838944" y="359359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1">
                <a:solidFill>
                  <a:srgbClr val="12263F"/>
                </a:solidFill>
                <a:latin typeface="Aptos"/>
                <a:ea typeface="Aptos"/>
                <a:cs typeface="Aptos"/>
              </a:defRPr>
            </a:pPr>
            <a:r>
              <a:t>10 (%29)</a:t>
            </a:r>
          </a:p>
        </p:txBody>
      </p:sp>
      <p:sp>
        <p:nvSpPr>
          <p:cNvPr id="35" name="TextBox 34">
            <a:extLst xmlns:a="http://schemas.openxmlformats.org/drawingml/2006/main">
              <a:ext uri="{FF2B5EF4-FFF2-40B4-BE49-F238E27FC236}">
                <a16:creationId xmlns:a16="http://schemas.microsoft.com/office/drawing/2014/main" id="{BC1ED6A5-EF8D-4FA2-9FC0-2E6F6BA56D2E}"/>
              </a:ext>
            </a:extLst>
          </p:cNvPr>
          <p:cNvSpPr>
            <a:spLocks xmlns:a="http://schemas.openxmlformats.org/drawingml/2006/main" noGrp="1"/>
          </p:cNvSpPr>
          <p:nvPr/>
        </p:nvSpPr>
        <p:spPr>
          <a:xfrm xmlns:a="http://schemas.openxmlformats.org/drawingml/2006/main">
            <a:off x="6492240" y="3936491"/>
            <a:ext cx="338328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0">
                <a:solidFill>
                  <a:srgbClr val="263445"/>
                </a:solidFill>
                <a:latin typeface="Aptos"/>
                <a:ea typeface="Aptos"/>
                <a:cs typeface="Aptos"/>
              </a:defRPr>
            </a:pPr>
            <a:r>
              <a:t>Hipoalbüminemi</a:t>
            </a:r>
          </a:p>
        </p:txBody>
      </p:sp>
      <p:sp>
        <p:nvSpPr>
          <p:cNvPr id="36" name="TextBox 35">
            <a:extLst xmlns:a="http://schemas.openxmlformats.org/drawingml/2006/main">
              <a:ext uri="{FF2B5EF4-FFF2-40B4-BE49-F238E27FC236}">
                <a16:creationId xmlns:a16="http://schemas.microsoft.com/office/drawing/2014/main" id="{F02D5977-A4E6-4A78-A7CB-65113E11B9C2}"/>
              </a:ext>
            </a:extLst>
          </p:cNvPr>
          <p:cNvSpPr>
            <a:spLocks xmlns:a="http://schemas.openxmlformats.org/drawingml/2006/main" noGrp="1"/>
          </p:cNvSpPr>
          <p:nvPr/>
        </p:nvSpPr>
        <p:spPr>
          <a:xfrm xmlns:a="http://schemas.openxmlformats.org/drawingml/2006/main">
            <a:off x="9838944" y="3936491"/>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1">
                <a:solidFill>
                  <a:srgbClr val="12263F"/>
                </a:solidFill>
                <a:latin typeface="Aptos"/>
                <a:ea typeface="Aptos"/>
                <a:cs typeface="Aptos"/>
              </a:defRPr>
            </a:pPr>
            <a:r>
              <a:t>34 (%100)</a:t>
            </a:r>
          </a:p>
        </p:txBody>
      </p:sp>
      <p:sp>
        <p:nvSpPr>
          <p:cNvPr id="37" name="TextBox 36">
            <a:extLst xmlns:a="http://schemas.openxmlformats.org/drawingml/2006/main">
              <a:ext uri="{FF2B5EF4-FFF2-40B4-BE49-F238E27FC236}">
                <a16:creationId xmlns:a16="http://schemas.microsoft.com/office/drawing/2014/main" id="{294E2522-6CB5-4F02-82E1-B7305090C3F2}"/>
              </a:ext>
            </a:extLst>
          </p:cNvPr>
          <p:cNvSpPr>
            <a:spLocks xmlns:a="http://schemas.openxmlformats.org/drawingml/2006/main" noGrp="1"/>
          </p:cNvSpPr>
          <p:nvPr/>
        </p:nvSpPr>
        <p:spPr>
          <a:xfrm xmlns:a="http://schemas.openxmlformats.org/drawingml/2006/main">
            <a:off x="6492240" y="4279392"/>
            <a:ext cx="338328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0">
                <a:solidFill>
                  <a:srgbClr val="263445"/>
                </a:solidFill>
                <a:latin typeface="Aptos"/>
                <a:ea typeface="Aptos"/>
                <a:cs typeface="Aptos"/>
              </a:defRPr>
            </a:pPr>
            <a:r>
              <a:t>Lenfopeni</a:t>
            </a:r>
          </a:p>
        </p:txBody>
      </p:sp>
      <p:sp>
        <p:nvSpPr>
          <p:cNvPr id="38" name="TextBox 37">
            <a:extLst xmlns:a="http://schemas.openxmlformats.org/drawingml/2006/main">
              <a:ext uri="{FF2B5EF4-FFF2-40B4-BE49-F238E27FC236}">
                <a16:creationId xmlns:a16="http://schemas.microsoft.com/office/drawing/2014/main" id="{9B868ECF-87AE-44B9-9608-6266ED06CCB4}"/>
              </a:ext>
            </a:extLst>
          </p:cNvPr>
          <p:cNvSpPr>
            <a:spLocks xmlns:a="http://schemas.openxmlformats.org/drawingml/2006/main" noGrp="1"/>
          </p:cNvSpPr>
          <p:nvPr/>
        </p:nvSpPr>
        <p:spPr>
          <a:xfrm xmlns:a="http://schemas.openxmlformats.org/drawingml/2006/main">
            <a:off x="9838944" y="427939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1">
                <a:solidFill>
                  <a:srgbClr val="12263F"/>
                </a:solidFill>
                <a:latin typeface="Aptos"/>
                <a:ea typeface="Aptos"/>
                <a:cs typeface="Aptos"/>
              </a:defRPr>
            </a:pPr>
            <a:r>
              <a:t>19/28 (%68)</a:t>
            </a:r>
          </a:p>
        </p:txBody>
      </p:sp>
      <p:sp>
        <p:nvSpPr>
          <p:cNvPr id="39" name="TextBox 38">
            <a:extLst xmlns:a="http://schemas.openxmlformats.org/drawingml/2006/main">
              <a:ext uri="{FF2B5EF4-FFF2-40B4-BE49-F238E27FC236}">
                <a16:creationId xmlns:a16="http://schemas.microsoft.com/office/drawing/2014/main" id="{765D47FD-5282-4CF9-8695-E73BE5CA67F7}"/>
              </a:ext>
            </a:extLst>
          </p:cNvPr>
          <p:cNvSpPr>
            <a:spLocks xmlns:a="http://schemas.openxmlformats.org/drawingml/2006/main" noGrp="1"/>
          </p:cNvSpPr>
          <p:nvPr/>
        </p:nvSpPr>
        <p:spPr>
          <a:xfrm xmlns:a="http://schemas.openxmlformats.org/drawingml/2006/main">
            <a:off x="6492240" y="4622292"/>
            <a:ext cx="338328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0">
                <a:solidFill>
                  <a:srgbClr val="263445"/>
                </a:solidFill>
                <a:latin typeface="Aptos"/>
                <a:ea typeface="Aptos"/>
                <a:cs typeface="Aptos"/>
              </a:defRPr>
            </a:pPr>
            <a:r>
              <a:t>Azalmış IgG</a:t>
            </a:r>
          </a:p>
        </p:txBody>
      </p:sp>
      <p:sp>
        <p:nvSpPr>
          <p:cNvPr id="40" name="TextBox 39">
            <a:extLst xmlns:a="http://schemas.openxmlformats.org/drawingml/2006/main">
              <a:ext uri="{FF2B5EF4-FFF2-40B4-BE49-F238E27FC236}">
                <a16:creationId xmlns:a16="http://schemas.microsoft.com/office/drawing/2014/main" id="{7472DB62-0CF0-4AA6-8B09-94DDF63A1BEB}"/>
              </a:ext>
            </a:extLst>
          </p:cNvPr>
          <p:cNvSpPr>
            <a:spLocks xmlns:a="http://schemas.openxmlformats.org/drawingml/2006/main" noGrp="1"/>
          </p:cNvSpPr>
          <p:nvPr/>
        </p:nvSpPr>
        <p:spPr>
          <a:xfrm xmlns:a="http://schemas.openxmlformats.org/drawingml/2006/main">
            <a:off x="9838944" y="462229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1">
                <a:solidFill>
                  <a:srgbClr val="12263F"/>
                </a:solidFill>
                <a:latin typeface="Aptos"/>
                <a:ea typeface="Aptos"/>
                <a:cs typeface="Aptos"/>
              </a:defRPr>
            </a:pPr>
            <a:r>
              <a:t>29/29 (%100)</a:t>
            </a:r>
          </a:p>
        </p:txBody>
      </p:sp>
      <p:sp>
        <p:nvSpPr>
          <p:cNvPr id="41" name="TextBox 40">
            <a:extLst xmlns:a="http://schemas.openxmlformats.org/drawingml/2006/main">
              <a:ext uri="{FF2B5EF4-FFF2-40B4-BE49-F238E27FC236}">
                <a16:creationId xmlns:a16="http://schemas.microsoft.com/office/drawing/2014/main" id="{13270D00-4973-466D-A56B-81476BDA40C1}"/>
              </a:ext>
            </a:extLst>
          </p:cNvPr>
          <p:cNvSpPr>
            <a:spLocks xmlns:a="http://schemas.openxmlformats.org/drawingml/2006/main" noGrp="1"/>
          </p:cNvSpPr>
          <p:nvPr/>
        </p:nvSpPr>
        <p:spPr>
          <a:xfrm xmlns:a="http://schemas.openxmlformats.org/drawingml/2006/main">
            <a:off x="6492240" y="4965192"/>
            <a:ext cx="338328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0">
                <a:solidFill>
                  <a:srgbClr val="263445"/>
                </a:solidFill>
                <a:latin typeface="Aptos"/>
                <a:ea typeface="Aptos"/>
                <a:cs typeface="Aptos"/>
              </a:defRPr>
            </a:pPr>
            <a:r>
              <a:t>Azalmış IgM</a:t>
            </a:r>
          </a:p>
        </p:txBody>
      </p:sp>
      <p:sp>
        <p:nvSpPr>
          <p:cNvPr id="42" name="TextBox 41">
            <a:extLst xmlns:a="http://schemas.openxmlformats.org/drawingml/2006/main">
              <a:ext uri="{FF2B5EF4-FFF2-40B4-BE49-F238E27FC236}">
                <a16:creationId xmlns:a16="http://schemas.microsoft.com/office/drawing/2014/main" id="{6AE1071A-DD95-40BA-B95D-F4E17689E44A}"/>
              </a:ext>
            </a:extLst>
          </p:cNvPr>
          <p:cNvSpPr>
            <a:spLocks xmlns:a="http://schemas.openxmlformats.org/drawingml/2006/main" noGrp="1"/>
          </p:cNvSpPr>
          <p:nvPr/>
        </p:nvSpPr>
        <p:spPr>
          <a:xfrm xmlns:a="http://schemas.openxmlformats.org/drawingml/2006/main">
            <a:off x="9838944" y="496519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1">
                <a:solidFill>
                  <a:srgbClr val="12263F"/>
                </a:solidFill>
                <a:latin typeface="Aptos"/>
                <a:ea typeface="Aptos"/>
                <a:cs typeface="Aptos"/>
              </a:defRPr>
            </a:pPr>
            <a:r>
              <a:t>19/27 (%70)</a:t>
            </a:r>
          </a:p>
        </p:txBody>
      </p:sp>
      <p:sp>
        <p:nvSpPr>
          <p:cNvPr id="43" name="TextBox 42">
            <a:extLst xmlns:a="http://schemas.openxmlformats.org/drawingml/2006/main">
              <a:ext uri="{FF2B5EF4-FFF2-40B4-BE49-F238E27FC236}">
                <a16:creationId xmlns:a16="http://schemas.microsoft.com/office/drawing/2014/main" id="{87E1FA82-A756-4332-B0C8-D1E2AB041CFB}"/>
              </a:ext>
            </a:extLst>
          </p:cNvPr>
          <p:cNvSpPr>
            <a:spLocks xmlns:a="http://schemas.openxmlformats.org/drawingml/2006/main" noGrp="1"/>
          </p:cNvSpPr>
          <p:nvPr/>
        </p:nvSpPr>
        <p:spPr>
          <a:xfrm xmlns:a="http://schemas.openxmlformats.org/drawingml/2006/main">
            <a:off x="6492240" y="5308092"/>
            <a:ext cx="338328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0">
                <a:solidFill>
                  <a:srgbClr val="263445"/>
                </a:solidFill>
                <a:latin typeface="Aptos"/>
                <a:ea typeface="Aptos"/>
                <a:cs typeface="Aptos"/>
              </a:defRPr>
            </a:pPr>
            <a:r>
              <a:t>Azalmış IgA</a:t>
            </a:r>
          </a:p>
        </p:txBody>
      </p:sp>
      <p:sp>
        <p:nvSpPr>
          <p:cNvPr id="44" name="TextBox 43">
            <a:extLst xmlns:a="http://schemas.openxmlformats.org/drawingml/2006/main">
              <a:ext uri="{FF2B5EF4-FFF2-40B4-BE49-F238E27FC236}">
                <a16:creationId xmlns:a16="http://schemas.microsoft.com/office/drawing/2014/main" id="{E30503A4-F610-4C6B-889E-484CF45DB89C}"/>
              </a:ext>
            </a:extLst>
          </p:cNvPr>
          <p:cNvSpPr>
            <a:spLocks xmlns:a="http://schemas.openxmlformats.org/drawingml/2006/main" noGrp="1"/>
          </p:cNvSpPr>
          <p:nvPr/>
        </p:nvSpPr>
        <p:spPr>
          <a:xfrm xmlns:a="http://schemas.openxmlformats.org/drawingml/2006/main">
            <a:off x="9838944" y="530809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1">
                <a:solidFill>
                  <a:srgbClr val="12263F"/>
                </a:solidFill>
                <a:latin typeface="Aptos"/>
                <a:ea typeface="Aptos"/>
                <a:cs typeface="Aptos"/>
              </a:defRPr>
            </a:pPr>
            <a:r>
              <a:t>11/27 (%41)</a:t>
            </a:r>
          </a:p>
        </p:txBody>
      </p:sp>
      <p:sp>
        <p:nvSpPr>
          <p:cNvPr id="45" name="TextBox 44">
            <a:extLst xmlns:a="http://schemas.openxmlformats.org/drawingml/2006/main">
              <a:ext uri="{FF2B5EF4-FFF2-40B4-BE49-F238E27FC236}">
                <a16:creationId xmlns:a16="http://schemas.microsoft.com/office/drawing/2014/main" id="{45E39CA8-C246-49AF-BDFC-064D76D31521}"/>
              </a:ext>
            </a:extLst>
          </p:cNvPr>
          <p:cNvSpPr>
            <a:spLocks xmlns:a="http://schemas.openxmlformats.org/drawingml/2006/main" noGrp="1"/>
          </p:cNvSpPr>
          <p:nvPr/>
        </p:nvSpPr>
        <p:spPr>
          <a:xfrm xmlns:a="http://schemas.openxmlformats.org/drawingml/2006/main">
            <a:off x="6492240" y="5650992"/>
            <a:ext cx="338328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0">
                <a:solidFill>
                  <a:srgbClr val="263445"/>
                </a:solidFill>
                <a:latin typeface="Aptos"/>
                <a:ea typeface="Aptos"/>
                <a:cs typeface="Aptos"/>
              </a:defRPr>
            </a:pPr>
            <a:r>
              <a:t>Artmış A1AT klirensi</a:t>
            </a:r>
          </a:p>
        </p:txBody>
      </p:sp>
      <p:sp>
        <p:nvSpPr>
          <p:cNvPr id="46" name="TextBox 45">
            <a:extLst xmlns:a="http://schemas.openxmlformats.org/drawingml/2006/main">
              <a:ext uri="{FF2B5EF4-FFF2-40B4-BE49-F238E27FC236}">
                <a16:creationId xmlns:a16="http://schemas.microsoft.com/office/drawing/2014/main" id="{D1F8D99C-2D34-4780-A387-7142F271951C}"/>
              </a:ext>
            </a:extLst>
          </p:cNvPr>
          <p:cNvSpPr>
            <a:spLocks xmlns:a="http://schemas.openxmlformats.org/drawingml/2006/main" noGrp="1"/>
          </p:cNvSpPr>
          <p:nvPr/>
        </p:nvSpPr>
        <p:spPr>
          <a:xfrm xmlns:a="http://schemas.openxmlformats.org/drawingml/2006/main">
            <a:off x="9838944" y="565099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1">
                <a:solidFill>
                  <a:srgbClr val="12263F"/>
                </a:solidFill>
                <a:latin typeface="Aptos"/>
                <a:ea typeface="Aptos"/>
                <a:cs typeface="Aptos"/>
              </a:defRPr>
            </a:pPr>
            <a:r>
              <a:t>21/21 (%100)</a:t>
            </a:r>
          </a:p>
        </p:txBody>
      </p:sp>
      <p:sp>
        <p:nvSpPr>
          <p:cNvPr id="47" name="TextBox 46">
            <a:extLst xmlns:a="http://schemas.openxmlformats.org/drawingml/2006/main">
              <a:ext uri="{FF2B5EF4-FFF2-40B4-BE49-F238E27FC236}">
                <a16:creationId xmlns:a16="http://schemas.microsoft.com/office/drawing/2014/main" id="{31D1FD06-B019-4AEC-8E78-B45190D0E697}"/>
              </a:ext>
            </a:extLst>
          </p:cNvPr>
          <p:cNvSpPr>
            <a:spLocks xmlns:a="http://schemas.openxmlformats.org/drawingml/2006/main" noGrp="1"/>
          </p:cNvSpPr>
          <p:nvPr/>
        </p:nvSpPr>
        <p:spPr>
          <a:xfrm xmlns:a="http://schemas.openxmlformats.org/drawingml/2006/main">
            <a:off x="896112" y="6071616"/>
            <a:ext cx="10424160" cy="20116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900" b="0">
                <a:solidFill>
                  <a:srgbClr val="667584"/>
                </a:solidFill>
                <a:latin typeface="Aptos"/>
                <a:ea typeface="Aptos"/>
                <a:cs typeface="Aptos"/>
              </a:defRPr>
            </a:pPr>
            <a:r>
              <a:t>SS: standart sapma. Laboratuvar eşikleri yaşa göre belirlendi; bazı ölçümlerde payda eksik veriyi yansıtır.</a:t>
            </a:r>
          </a:p>
        </p:txBody>
      </p:sp>
      <p:sp xmlns:a="http://schemas.openxmlformats.org/drawingml/2006/main">
        <p:nvSpPr>
          <p:cNvPr id="48" name="Inceleme notu"/>
          <p:cNvSpPr txBox="1"/>
          <p:nvPr/>
        </p:nvSpPr>
        <p:spPr>
          <a:xfrm>
            <a:off x="150000" y="6628976"/>
            <a:ext cx="11891695" cy="204024"/>
          </a:xfrm>
          <a:prstGeom prst="rect">
            <a:avLst/>
          </a:prstGeom>
          <a:solidFill>
            <a:srgbClr val="FFF4CC"/>
          </a:solidFill>
          <a:ln w="9525">
            <a:solidFill>
              <a:srgbClr val="C99A00"/>
            </a:solidFill>
          </a:ln>
        </p:spPr>
        <p:txBody>
          <a:bodyPr wrap="square" anchor="ctr" tIns="27432" bIns="27432">
            <a:spAutoFit/>
          </a:bodyPr>
          <a:lstStyle/>
          <a:p>
            <a:r>
              <a:rPr b="1" sz="900">
                <a:solidFill>
                  <a:srgbClr val="A61B1B"/>
                </a:solidFill>
              </a:rPr>
              <a:t>İnceleme notu: </a:t>
            </a:r>
            <a:r>
              <a:rPr sz="900">
                <a:solidFill>
                  <a:srgbClr val="1F1F1F"/>
                </a:solidFill>
              </a:rPr>
              <a:t>Tanıdaki medyan albümin 19 g/L (16–24) ve medyan IgG 1,3 g/L (0,7–2,2) eklenebilir; hastalığın ağırlığını en iyi bu değerler gösterir.</a:t>
            </a:r>
          </a:p>
        </p:txBody>
      </p:sp>
    </p:spTree>
    <p:extLst>
      <p:ext uri="{BB962C8B-B14F-4D97-AF65-F5344CB8AC3E}">
        <p14:creationId xmlns:p14="http://schemas.microsoft.com/office/powerpoint/2010/main" val="180613256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D64EBE18-1CF2-4E71-828C-185F2C823612}"/>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00919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E06C460-5A7C-464D-ACB5-289ABABACE15}"/>
              </a:ext>
            </a:extLst>
          </p:cNvPr>
          <p:cNvSpPr>
            <a:spLocks xmlns:a="http://schemas.openxmlformats.org/drawingml/2006/main" noGrp="1"/>
          </p:cNvSpPr>
          <p:nvPr/>
        </p:nvSpPr>
        <p:spPr>
          <a:xfrm xmlns:a="http://schemas.openxmlformats.org/drawingml/2006/main">
            <a:off x="658368" y="384048"/>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400" b="1">
                <a:solidFill>
                  <a:srgbClr val="12263F"/>
                </a:solidFill>
                <a:latin typeface="Aptos"/>
                <a:ea typeface="Aptos"/>
                <a:cs typeface="Aptos"/>
              </a:defRPr>
            </a:pPr>
            <a:r>
              <a:t>TANI NASIL DOĞRULANDI?</a:t>
            </a:r>
          </a:p>
        </p:txBody>
      </p:sp>
      <p:sp>
        <p:nvSpPr>
          <p:cNvPr id="4" name="TextBox 3">
            <a:extLst xmlns:a="http://schemas.openxmlformats.org/drawingml/2006/main">
              <a:ext uri="{FF2B5EF4-FFF2-40B4-BE49-F238E27FC236}">
                <a16:creationId xmlns:a16="http://schemas.microsoft.com/office/drawing/2014/main" id="{2631BA7F-F6E3-4747-A2E5-2C8261A5A255}"/>
              </a:ext>
            </a:extLst>
          </p:cNvPr>
          <p:cNvSpPr>
            <a:spLocks xmlns:a="http://schemas.openxmlformats.org/drawingml/2006/main" noGrp="1"/>
          </p:cNvSpPr>
          <p:nvPr/>
        </p:nvSpPr>
        <p:spPr>
          <a:xfrm xmlns:a="http://schemas.openxmlformats.org/drawingml/2006/main">
            <a:off x="676656" y="987552"/>
            <a:ext cx="1088136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667584"/>
                </a:solidFill>
                <a:latin typeface="Aptos"/>
                <a:ea typeface="Aptos"/>
                <a:cs typeface="Aptos"/>
              </a:defRPr>
            </a:pPr>
            <a:r>
              <a:t>Endoskopik ve/veya histolojik doğrulama (n = 34)</a:t>
            </a:r>
          </a:p>
        </p:txBody>
      </p:sp>
      <p:sp>
        <p:nvSpPr>
          <p:cNvPr id="5" name="Rounded Rectangle 4">
            <a:extLst xmlns:a="http://schemas.openxmlformats.org/drawingml/2006/main">
              <a:ext uri="{FF2B5EF4-FFF2-40B4-BE49-F238E27FC236}">
                <a16:creationId xmlns:a16="http://schemas.microsoft.com/office/drawing/2014/main" id="{5648F41C-0790-45EE-BE91-7938731D7438}"/>
              </a:ext>
            </a:extLst>
          </p:cNvPr>
          <p:cNvSpPr>
            <a:spLocks xmlns:a="http://schemas.openxmlformats.org/drawingml/2006/main" noGrp="1"/>
          </p:cNvSpPr>
          <p:nvPr/>
        </p:nvSpPr>
        <p:spPr>
          <a:xfrm xmlns:a="http://schemas.openxmlformats.org/drawingml/2006/main">
            <a:off x="658368" y="1572768"/>
            <a:ext cx="2971800" cy="2606040"/>
          </a:xfrm>
          <a:prstGeom xmlns:a="http://schemas.openxmlformats.org/drawingml/2006/main" prst="roundRect">
            <a:avLst/>
          </a:prstGeom>
          <a:solidFill xmlns:a="http://schemas.openxmlformats.org/drawingml/2006/main">
            <a:srgbClr val="009196"/>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8AAB3827-093A-4F57-A42E-BFE5D5B3B155}"/>
              </a:ext>
            </a:extLst>
          </p:cNvPr>
          <p:cNvSpPr>
            <a:spLocks xmlns:a="http://schemas.openxmlformats.org/drawingml/2006/main" noGrp="1"/>
          </p:cNvSpPr>
          <p:nvPr/>
        </p:nvSpPr>
        <p:spPr>
          <a:xfrm xmlns:a="http://schemas.openxmlformats.org/drawingml/2006/main">
            <a:off x="914400" y="1901952"/>
            <a:ext cx="2468880" cy="64008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900" b="1">
                <a:solidFill>
                  <a:srgbClr val="FFFFFF"/>
                </a:solidFill>
                <a:latin typeface="Aptos"/>
                <a:ea typeface="Aptos"/>
                <a:cs typeface="Aptos"/>
              </a:defRPr>
            </a:pPr>
            <a:r>
              <a:t>27 / 34</a:t>
            </a:r>
          </a:p>
        </p:txBody>
      </p:sp>
      <p:sp>
        <p:nvSpPr>
          <p:cNvPr id="7" name="TextBox 6">
            <a:extLst xmlns:a="http://schemas.openxmlformats.org/drawingml/2006/main">
              <a:ext uri="{FF2B5EF4-FFF2-40B4-BE49-F238E27FC236}">
                <a16:creationId xmlns:a16="http://schemas.microsoft.com/office/drawing/2014/main" id="{6FD9FAAA-E76D-4A79-A1CE-9E14575F26DA}"/>
              </a:ext>
            </a:extLst>
          </p:cNvPr>
          <p:cNvSpPr>
            <a:spLocks xmlns:a="http://schemas.openxmlformats.org/drawingml/2006/main" noGrp="1"/>
          </p:cNvSpPr>
          <p:nvPr/>
        </p:nvSpPr>
        <p:spPr>
          <a:xfrm xmlns:a="http://schemas.openxmlformats.org/drawingml/2006/main">
            <a:off x="914400" y="2633472"/>
            <a:ext cx="2468880" cy="5943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FFFFFF"/>
                </a:solidFill>
                <a:latin typeface="Aptos"/>
                <a:ea typeface="Aptos"/>
                <a:cs typeface="Aptos"/>
              </a:defRPr>
            </a:pPr>
            <a:r>
              <a:t>%79 endoskopik ve/veya histolojik olarak doğrulandı</a:t>
            </a:r>
          </a:p>
        </p:txBody>
      </p:sp>
      <p:sp>
        <p:nvSpPr>
          <p:cNvPr id="8" name="Rounded Rectangle 7">
            <a:extLst xmlns:a="http://schemas.openxmlformats.org/drawingml/2006/main">
              <a:ext uri="{FF2B5EF4-FFF2-40B4-BE49-F238E27FC236}">
                <a16:creationId xmlns:a16="http://schemas.microsoft.com/office/drawing/2014/main" id="{E2332C95-DE51-4562-B5EB-63B50485B3D0}"/>
              </a:ext>
            </a:extLst>
          </p:cNvPr>
          <p:cNvSpPr>
            <a:spLocks xmlns:a="http://schemas.openxmlformats.org/drawingml/2006/main" noGrp="1"/>
          </p:cNvSpPr>
          <p:nvPr/>
        </p:nvSpPr>
        <p:spPr>
          <a:xfrm xmlns:a="http://schemas.openxmlformats.org/drawingml/2006/main">
            <a:off x="3977639" y="1572768"/>
            <a:ext cx="7543800" cy="530352"/>
          </a:xfrm>
          <a:prstGeom xmlns:a="http://schemas.openxmlformats.org/drawingml/2006/main" prst="round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B71BBF9C-CEA7-41AC-9BFA-6BE1E67D06B3}"/>
              </a:ext>
            </a:extLst>
          </p:cNvPr>
          <p:cNvSpPr>
            <a:spLocks xmlns:a="http://schemas.openxmlformats.org/drawingml/2006/main" noGrp="1"/>
          </p:cNvSpPr>
          <p:nvPr/>
        </p:nvSpPr>
        <p:spPr>
          <a:xfrm xmlns:a="http://schemas.openxmlformats.org/drawingml/2006/main">
            <a:off x="4224528" y="1682495"/>
            <a:ext cx="5806440" cy="31089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263445"/>
                </a:solidFill>
                <a:latin typeface="Aptos"/>
                <a:ea typeface="Aptos"/>
                <a:cs typeface="Aptos"/>
              </a:defRPr>
            </a:pPr>
            <a:r>
              <a:t>Endoskopi ve histolojide düşündürücü bulgular</a:t>
            </a:r>
          </a:p>
        </p:txBody>
      </p:sp>
      <p:sp>
        <p:nvSpPr>
          <p:cNvPr id="10" name="TextBox 9">
            <a:extLst xmlns:a="http://schemas.openxmlformats.org/drawingml/2006/main">
              <a:ext uri="{FF2B5EF4-FFF2-40B4-BE49-F238E27FC236}">
                <a16:creationId xmlns:a16="http://schemas.microsoft.com/office/drawing/2014/main" id="{C5210E52-AEDE-4FD0-9CA3-A13C2349C974}"/>
              </a:ext>
            </a:extLst>
          </p:cNvPr>
          <p:cNvSpPr>
            <a:spLocks xmlns:a="http://schemas.openxmlformats.org/drawingml/2006/main" noGrp="1"/>
          </p:cNvSpPr>
          <p:nvPr/>
        </p:nvSpPr>
        <p:spPr>
          <a:xfrm xmlns:a="http://schemas.openxmlformats.org/drawingml/2006/main">
            <a:off x="10177272" y="1664208"/>
            <a:ext cx="1051560" cy="32004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12263F"/>
                </a:solidFill>
                <a:latin typeface="Aptos"/>
                <a:ea typeface="Aptos"/>
                <a:cs typeface="Aptos"/>
              </a:defRPr>
            </a:pPr>
            <a:r>
              <a:t>18 (%53)</a:t>
            </a:r>
          </a:p>
        </p:txBody>
      </p:sp>
      <p:sp>
        <p:nvSpPr>
          <p:cNvPr id="11" name="Rounded Rectangle 10">
            <a:extLst xmlns:a="http://schemas.openxmlformats.org/drawingml/2006/main">
              <a:ext uri="{FF2B5EF4-FFF2-40B4-BE49-F238E27FC236}">
                <a16:creationId xmlns:a16="http://schemas.microsoft.com/office/drawing/2014/main" id="{58D165C1-D46D-4AA0-A502-45F1842E177E}"/>
              </a:ext>
            </a:extLst>
          </p:cNvPr>
          <p:cNvSpPr>
            <a:spLocks xmlns:a="http://schemas.openxmlformats.org/drawingml/2006/main" noGrp="1"/>
          </p:cNvSpPr>
          <p:nvPr/>
        </p:nvSpPr>
        <p:spPr>
          <a:xfrm xmlns:a="http://schemas.openxmlformats.org/drawingml/2006/main">
            <a:off x="3977639" y="2212848"/>
            <a:ext cx="7543800" cy="530352"/>
          </a:xfrm>
          <a:prstGeom xmlns:a="http://schemas.openxmlformats.org/drawingml/2006/main" prst="round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B664FEB0-A30A-46B7-BC88-AF707A8F59BE}"/>
              </a:ext>
            </a:extLst>
          </p:cNvPr>
          <p:cNvSpPr>
            <a:spLocks xmlns:a="http://schemas.openxmlformats.org/drawingml/2006/main" noGrp="1"/>
          </p:cNvSpPr>
          <p:nvPr/>
        </p:nvSpPr>
        <p:spPr>
          <a:xfrm xmlns:a="http://schemas.openxmlformats.org/drawingml/2006/main">
            <a:off x="4224528" y="2322576"/>
            <a:ext cx="5806440" cy="31089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263445"/>
                </a:solidFill>
                <a:latin typeface="Aptos"/>
                <a:ea typeface="Aptos"/>
                <a:cs typeface="Aptos"/>
              </a:defRPr>
            </a:pPr>
            <a:r>
              <a:t>Yalnız histoloji ile doğrulama</a:t>
            </a:r>
          </a:p>
        </p:txBody>
      </p:sp>
      <p:sp>
        <p:nvSpPr>
          <p:cNvPr id="13" name="TextBox 12">
            <a:extLst xmlns:a="http://schemas.openxmlformats.org/drawingml/2006/main">
              <a:ext uri="{FF2B5EF4-FFF2-40B4-BE49-F238E27FC236}">
                <a16:creationId xmlns:a16="http://schemas.microsoft.com/office/drawing/2014/main" id="{547FE70A-C349-4BDA-89A7-F1D8AC5F4573}"/>
              </a:ext>
            </a:extLst>
          </p:cNvPr>
          <p:cNvSpPr>
            <a:spLocks xmlns:a="http://schemas.openxmlformats.org/drawingml/2006/main" noGrp="1"/>
          </p:cNvSpPr>
          <p:nvPr/>
        </p:nvSpPr>
        <p:spPr>
          <a:xfrm xmlns:a="http://schemas.openxmlformats.org/drawingml/2006/main">
            <a:off x="10177272" y="2304288"/>
            <a:ext cx="1051560" cy="32004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12263F"/>
                </a:solidFill>
                <a:latin typeface="Aptos"/>
                <a:ea typeface="Aptos"/>
                <a:cs typeface="Aptos"/>
              </a:defRPr>
            </a:pPr>
            <a:r>
              <a:t>4 (%12)</a:t>
            </a:r>
          </a:p>
        </p:txBody>
      </p:sp>
      <p:sp>
        <p:nvSpPr>
          <p:cNvPr id="14" name="Rounded Rectangle 13">
            <a:extLst xmlns:a="http://schemas.openxmlformats.org/drawingml/2006/main">
              <a:ext uri="{FF2B5EF4-FFF2-40B4-BE49-F238E27FC236}">
                <a16:creationId xmlns:a16="http://schemas.microsoft.com/office/drawing/2014/main" id="{5AB0BC1B-B9D4-4FFA-B372-D27836369911}"/>
              </a:ext>
            </a:extLst>
          </p:cNvPr>
          <p:cNvSpPr>
            <a:spLocks xmlns:a="http://schemas.openxmlformats.org/drawingml/2006/main" noGrp="1"/>
          </p:cNvSpPr>
          <p:nvPr/>
        </p:nvSpPr>
        <p:spPr>
          <a:xfrm xmlns:a="http://schemas.openxmlformats.org/drawingml/2006/main">
            <a:off x="3977639" y="2852928"/>
            <a:ext cx="7543800" cy="530352"/>
          </a:xfrm>
          <a:prstGeom xmlns:a="http://schemas.openxmlformats.org/drawingml/2006/main" prst="round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E6ACC03B-FF32-4C78-89ED-DE5A1F6DA172}"/>
              </a:ext>
            </a:extLst>
          </p:cNvPr>
          <p:cNvSpPr>
            <a:spLocks xmlns:a="http://schemas.openxmlformats.org/drawingml/2006/main" noGrp="1"/>
          </p:cNvSpPr>
          <p:nvPr/>
        </p:nvSpPr>
        <p:spPr>
          <a:xfrm xmlns:a="http://schemas.openxmlformats.org/drawingml/2006/main">
            <a:off x="4224528" y="2962656"/>
            <a:ext cx="5806440" cy="31089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263445"/>
                </a:solidFill>
                <a:latin typeface="Aptos"/>
                <a:ea typeface="Aptos"/>
                <a:cs typeface="Aptos"/>
              </a:defRPr>
            </a:pPr>
            <a:r>
              <a:t>Kolonoskopide lenfanjiektazi</a:t>
            </a:r>
          </a:p>
        </p:txBody>
      </p:sp>
      <p:sp>
        <p:nvSpPr>
          <p:cNvPr id="16" name="TextBox 15">
            <a:extLst xmlns:a="http://schemas.openxmlformats.org/drawingml/2006/main">
              <a:ext uri="{FF2B5EF4-FFF2-40B4-BE49-F238E27FC236}">
                <a16:creationId xmlns:a16="http://schemas.microsoft.com/office/drawing/2014/main" id="{9F8AED29-F0DE-4604-9E17-F2D2297940F2}"/>
              </a:ext>
            </a:extLst>
          </p:cNvPr>
          <p:cNvSpPr>
            <a:spLocks xmlns:a="http://schemas.openxmlformats.org/drawingml/2006/main" noGrp="1"/>
          </p:cNvSpPr>
          <p:nvPr/>
        </p:nvSpPr>
        <p:spPr>
          <a:xfrm xmlns:a="http://schemas.openxmlformats.org/drawingml/2006/main">
            <a:off x="10177272" y="2944368"/>
            <a:ext cx="1051560" cy="32004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12263F"/>
                </a:solidFill>
                <a:latin typeface="Aptos"/>
                <a:ea typeface="Aptos"/>
                <a:cs typeface="Aptos"/>
              </a:defRPr>
            </a:pPr>
            <a:r>
              <a:t>2 (%6)</a:t>
            </a:r>
          </a:p>
        </p:txBody>
      </p:sp>
      <p:sp>
        <p:nvSpPr>
          <p:cNvPr id="17" name="Rounded Rectangle 16">
            <a:extLst xmlns:a="http://schemas.openxmlformats.org/drawingml/2006/main">
              <a:ext uri="{FF2B5EF4-FFF2-40B4-BE49-F238E27FC236}">
                <a16:creationId xmlns:a16="http://schemas.microsoft.com/office/drawing/2014/main" id="{7999DB02-57B4-48E8-A08C-2548B89474AA}"/>
              </a:ext>
            </a:extLst>
          </p:cNvPr>
          <p:cNvSpPr>
            <a:spLocks xmlns:a="http://schemas.openxmlformats.org/drawingml/2006/main" noGrp="1"/>
          </p:cNvSpPr>
          <p:nvPr/>
        </p:nvSpPr>
        <p:spPr>
          <a:xfrm xmlns:a="http://schemas.openxmlformats.org/drawingml/2006/main">
            <a:off x="3977639" y="3493007"/>
            <a:ext cx="7543800" cy="530352"/>
          </a:xfrm>
          <a:prstGeom xmlns:a="http://schemas.openxmlformats.org/drawingml/2006/main" prst="round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DEBD2209-81B6-428E-B229-C0A5CD535B46}"/>
              </a:ext>
            </a:extLst>
          </p:cNvPr>
          <p:cNvSpPr>
            <a:spLocks xmlns:a="http://schemas.openxmlformats.org/drawingml/2006/main" noGrp="1"/>
          </p:cNvSpPr>
          <p:nvPr/>
        </p:nvSpPr>
        <p:spPr>
          <a:xfrm xmlns:a="http://schemas.openxmlformats.org/drawingml/2006/main">
            <a:off x="4224528" y="3602735"/>
            <a:ext cx="5806440" cy="31089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263445"/>
                </a:solidFill>
                <a:latin typeface="Aptos"/>
                <a:ea typeface="Aptos"/>
                <a:cs typeface="Aptos"/>
              </a:defRPr>
            </a:pPr>
            <a:r>
              <a:t>Kapsül endoskopi ile doğrulama</a:t>
            </a:r>
          </a:p>
        </p:txBody>
      </p:sp>
      <p:sp>
        <p:nvSpPr>
          <p:cNvPr id="19" name="TextBox 18">
            <a:extLst xmlns:a="http://schemas.openxmlformats.org/drawingml/2006/main">
              <a:ext uri="{FF2B5EF4-FFF2-40B4-BE49-F238E27FC236}">
                <a16:creationId xmlns:a16="http://schemas.microsoft.com/office/drawing/2014/main" id="{5212B5AC-82D2-48AB-8C9E-0E69D156EC0C}"/>
              </a:ext>
            </a:extLst>
          </p:cNvPr>
          <p:cNvSpPr>
            <a:spLocks xmlns:a="http://schemas.openxmlformats.org/drawingml/2006/main" noGrp="1"/>
          </p:cNvSpPr>
          <p:nvPr/>
        </p:nvSpPr>
        <p:spPr>
          <a:xfrm xmlns:a="http://schemas.openxmlformats.org/drawingml/2006/main">
            <a:off x="10177272" y="3584447"/>
            <a:ext cx="1051560" cy="32004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12263F"/>
                </a:solidFill>
                <a:latin typeface="Aptos"/>
                <a:ea typeface="Aptos"/>
                <a:cs typeface="Aptos"/>
              </a:defRPr>
            </a:pPr>
            <a:r>
              <a:t>3 (%8)</a:t>
            </a:r>
          </a:p>
        </p:txBody>
      </p:sp>
      <p:sp>
        <p:nvSpPr>
          <p:cNvPr id="20" name="Rounded Rectangle 19">
            <a:extLst xmlns:a="http://schemas.openxmlformats.org/drawingml/2006/main">
              <a:ext uri="{FF2B5EF4-FFF2-40B4-BE49-F238E27FC236}">
                <a16:creationId xmlns:a16="http://schemas.microsoft.com/office/drawing/2014/main" id="{3A0B6E19-AD0F-44C4-854A-43D4C1EAD2A9}"/>
              </a:ext>
            </a:extLst>
          </p:cNvPr>
          <p:cNvSpPr>
            <a:spLocks xmlns:a="http://schemas.openxmlformats.org/drawingml/2006/main" noGrp="1"/>
          </p:cNvSpPr>
          <p:nvPr/>
        </p:nvSpPr>
        <p:spPr>
          <a:xfrm xmlns:a="http://schemas.openxmlformats.org/drawingml/2006/main">
            <a:off x="658368" y="4434840"/>
            <a:ext cx="10863072" cy="1325880"/>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E0006FCC-7E3C-49B0-ADCA-7CA2C786DE98}"/>
              </a:ext>
            </a:extLst>
          </p:cNvPr>
          <p:cNvSpPr>
            <a:spLocks xmlns:a="http://schemas.openxmlformats.org/drawingml/2006/main" noGrp="1"/>
          </p:cNvSpPr>
          <p:nvPr/>
        </p:nvSpPr>
        <p:spPr>
          <a:xfrm xmlns:a="http://schemas.openxmlformats.org/drawingml/2006/main">
            <a:off x="914400" y="4636008"/>
            <a:ext cx="1024128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009196"/>
                </a:solidFill>
                <a:latin typeface="Aptos"/>
                <a:ea typeface="Aptos"/>
                <a:cs typeface="Aptos"/>
              </a:defRPr>
            </a:pPr>
            <a:r>
              <a:t>ENDOSKOPİ TANISAL DEĞİLSE: DİĞER DOĞRULAMA ÖLÇÜTLERİ</a:t>
            </a:r>
          </a:p>
        </p:txBody>
      </p:sp>
      <p:sp>
        <p:nvSpPr>
          <p:cNvPr id="22" name="TextBox 21">
            <a:extLst xmlns:a="http://schemas.openxmlformats.org/drawingml/2006/main">
              <a:ext uri="{FF2B5EF4-FFF2-40B4-BE49-F238E27FC236}">
                <a16:creationId xmlns:a16="http://schemas.microsoft.com/office/drawing/2014/main" id="{F9441FC6-A89B-4D07-8413-0C5E68834CB3}"/>
              </a:ext>
            </a:extLst>
          </p:cNvPr>
          <p:cNvSpPr>
            <a:spLocks xmlns:a="http://schemas.openxmlformats.org/drawingml/2006/main" noGrp="1"/>
          </p:cNvSpPr>
          <p:nvPr/>
        </p:nvSpPr>
        <p:spPr>
          <a:xfrm xmlns:a="http://schemas.openxmlformats.org/drawingml/2006/main">
            <a:off x="914400" y="5074920"/>
            <a:ext cx="4892040" cy="53035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263445"/>
                </a:solidFill>
                <a:latin typeface="Aptos"/>
                <a:ea typeface="Aptos"/>
                <a:cs typeface="Aptos"/>
              </a:defRPr>
            </a:pPr>
            <a:r>
              <a:t>Hennekam sendromu + protein kaybettiren enteropati (3/34; %9)</a:t>
            </a:r>
          </a:p>
        </p:txBody>
      </p:sp>
      <p:sp>
        <p:nvSpPr>
          <p:cNvPr id="23" name="TextBox 22">
            <a:extLst xmlns:a="http://schemas.openxmlformats.org/drawingml/2006/main">
              <a:ext uri="{FF2B5EF4-FFF2-40B4-BE49-F238E27FC236}">
                <a16:creationId xmlns:a16="http://schemas.microsoft.com/office/drawing/2014/main" id="{12F2C448-C2AD-451C-B9E4-76B679E2C634}"/>
              </a:ext>
            </a:extLst>
          </p:cNvPr>
          <p:cNvSpPr>
            <a:spLocks xmlns:a="http://schemas.openxmlformats.org/drawingml/2006/main" noGrp="1"/>
          </p:cNvSpPr>
          <p:nvPr/>
        </p:nvSpPr>
        <p:spPr>
          <a:xfrm xmlns:a="http://schemas.openxmlformats.org/drawingml/2006/main">
            <a:off x="6080760" y="5074920"/>
            <a:ext cx="5029200" cy="53035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263445"/>
                </a:solidFill>
                <a:latin typeface="Aptos"/>
                <a:ea typeface="Aptos"/>
                <a:cs typeface="Aptos"/>
              </a:defRPr>
            </a:pPr>
            <a:r>
              <a:t>Artmış alfa-1 antitripsin klirensi + diyete iyi yanıt (4/34; %12)</a:t>
            </a:r>
          </a:p>
        </p:txBody>
      </p:sp>
      <p:sp xmlns:a="http://schemas.openxmlformats.org/drawingml/2006/main">
        <p:nvSpPr>
          <p:cNvPr id="24" name="Inceleme notu"/>
          <p:cNvSpPr txBox="1"/>
          <p:nvPr/>
        </p:nvSpPr>
        <p:spPr>
          <a:xfrm>
            <a:off x="150000" y="6628976"/>
            <a:ext cx="11891695" cy="204024"/>
          </a:xfrm>
          <a:prstGeom prst="rect">
            <a:avLst/>
          </a:prstGeom>
          <a:solidFill>
            <a:srgbClr val="FFF4CC"/>
          </a:solidFill>
          <a:ln w="9525">
            <a:solidFill>
              <a:srgbClr val="C99A00"/>
            </a:solidFill>
          </a:ln>
        </p:spPr>
        <p:txBody>
          <a:bodyPr wrap="square" anchor="ctr" tIns="27432" bIns="27432">
            <a:spAutoFit/>
          </a:bodyPr>
          <a:lstStyle/>
          <a:p>
            <a:r>
              <a:rPr b="1" sz="900">
                <a:solidFill>
                  <a:srgbClr val="A61B1B"/>
                </a:solidFill>
              </a:rPr>
              <a:t>İnceleme notu: </a:t>
            </a:r>
            <a:r>
              <a:rPr sz="900">
                <a:solidFill>
                  <a:srgbClr val="1F1F1F"/>
                </a:solidFill>
              </a:rPr>
              <a:t>Kapsül endoskopi 3/34 = %8,8 → %9 (makaledeki %8 yuvarlama hatası).</a:t>
            </a:r>
          </a:p>
        </p:txBody>
      </p:sp>
    </p:spTree>
    <p:extLst>
      <p:ext uri="{BB962C8B-B14F-4D97-AF65-F5344CB8AC3E}">
        <p14:creationId xmlns:p14="http://schemas.microsoft.com/office/powerpoint/2010/main" val="166338278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D17DC9E5-4A7D-40DF-B197-55FC09DF04FF}"/>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00919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664BCDB3-E7B4-441E-A39C-2F5DE4D9904D}"/>
              </a:ext>
            </a:extLst>
          </p:cNvPr>
          <p:cNvSpPr>
            <a:spLocks xmlns:a="http://schemas.openxmlformats.org/drawingml/2006/main" noGrp="1"/>
          </p:cNvSpPr>
          <p:nvPr/>
        </p:nvSpPr>
        <p:spPr>
          <a:xfrm xmlns:a="http://schemas.openxmlformats.org/drawingml/2006/main">
            <a:off x="658368" y="384048"/>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400" b="1">
                <a:solidFill>
                  <a:srgbClr val="12263F"/>
                </a:solidFill>
                <a:latin typeface="Aptos"/>
                <a:ea typeface="Aptos"/>
                <a:cs typeface="Aptos"/>
              </a:defRPr>
            </a:pPr>
            <a:r>
              <a:t>TANI ANINDA HASTALIK YÜKÜ</a:t>
            </a:r>
          </a:p>
        </p:txBody>
      </p:sp>
      <p:sp>
        <p:nvSpPr>
          <p:cNvPr id="4" name="TextBox 3">
            <a:extLst xmlns:a="http://schemas.openxmlformats.org/drawingml/2006/main">
              <a:ext uri="{FF2B5EF4-FFF2-40B4-BE49-F238E27FC236}">
                <a16:creationId xmlns:a16="http://schemas.microsoft.com/office/drawing/2014/main" id="{55427876-C896-42E5-A013-517B1E8DCB9D}"/>
              </a:ext>
            </a:extLst>
          </p:cNvPr>
          <p:cNvSpPr>
            <a:spLocks xmlns:a="http://schemas.openxmlformats.org/drawingml/2006/main" noGrp="1"/>
          </p:cNvSpPr>
          <p:nvPr/>
        </p:nvSpPr>
        <p:spPr>
          <a:xfrm xmlns:a="http://schemas.openxmlformats.org/drawingml/2006/main">
            <a:off x="676656" y="987552"/>
            <a:ext cx="1088136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667584"/>
                </a:solidFill>
                <a:latin typeface="Aptos"/>
                <a:ea typeface="Aptos"/>
                <a:cs typeface="Aptos"/>
              </a:defRPr>
            </a:pPr>
            <a:r>
              <a:t>Komplikasyonlar ve destek tedavileri</a:t>
            </a:r>
          </a:p>
        </p:txBody>
      </p:sp>
      <p:sp>
        <p:nvSpPr>
          <p:cNvPr id="5" name="Rounded Rectangle 4">
            <a:extLst xmlns:a="http://schemas.openxmlformats.org/drawingml/2006/main">
              <a:ext uri="{FF2B5EF4-FFF2-40B4-BE49-F238E27FC236}">
                <a16:creationId xmlns:a16="http://schemas.microsoft.com/office/drawing/2014/main" id="{A9FA7AFD-C30E-4390-99E9-589AB3893AF3}"/>
              </a:ext>
            </a:extLst>
          </p:cNvPr>
          <p:cNvSpPr>
            <a:spLocks xmlns:a="http://schemas.openxmlformats.org/drawingml/2006/main" noGrp="1"/>
          </p:cNvSpPr>
          <p:nvPr/>
        </p:nvSpPr>
        <p:spPr>
          <a:xfrm xmlns:a="http://schemas.openxmlformats.org/drawingml/2006/main">
            <a:off x="777240" y="1600200"/>
            <a:ext cx="10652760" cy="822960"/>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8684A2D9-C44D-410F-B7DE-02A3ABB57B62}"/>
              </a:ext>
            </a:extLst>
          </p:cNvPr>
          <p:cNvSpPr>
            <a:spLocks xmlns:a="http://schemas.openxmlformats.org/drawingml/2006/main" noGrp="1"/>
          </p:cNvSpPr>
          <p:nvPr/>
        </p:nvSpPr>
        <p:spPr>
          <a:xfrm xmlns:a="http://schemas.openxmlformats.org/drawingml/2006/main">
            <a:off x="1051560" y="1728216"/>
            <a:ext cx="2788920" cy="5029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009196"/>
                </a:solidFill>
                <a:latin typeface="Aptos"/>
                <a:ea typeface="Aptos"/>
                <a:cs typeface="Aptos"/>
              </a:defRPr>
            </a:pPr>
            <a:r>
              <a:t>Albümin infüzyonu</a:t>
            </a:r>
          </a:p>
        </p:txBody>
      </p:sp>
      <p:sp>
        <p:nvSpPr>
          <p:cNvPr id="7" name="TextBox 6">
            <a:extLst xmlns:a="http://schemas.openxmlformats.org/drawingml/2006/main">
              <a:ext uri="{FF2B5EF4-FFF2-40B4-BE49-F238E27FC236}">
                <a16:creationId xmlns:a16="http://schemas.microsoft.com/office/drawing/2014/main" id="{ABB14C52-8257-40F0-A155-4A3126AA8328}"/>
              </a:ext>
            </a:extLst>
          </p:cNvPr>
          <p:cNvSpPr>
            <a:spLocks xmlns:a="http://schemas.openxmlformats.org/drawingml/2006/main" noGrp="1"/>
          </p:cNvSpPr>
          <p:nvPr/>
        </p:nvSpPr>
        <p:spPr>
          <a:xfrm xmlns:a="http://schemas.openxmlformats.org/drawingml/2006/main">
            <a:off x="3886200" y="1719072"/>
            <a:ext cx="717804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0">
                <a:solidFill>
                  <a:srgbClr val="263445"/>
                </a:solidFill>
                <a:latin typeface="Aptos"/>
                <a:ea typeface="Aptos"/>
                <a:cs typeface="Aptos"/>
              </a:defRPr>
            </a:pPr>
            <a:r>
              <a:t>%78 (n = 26) en az bir kez; medyan 5 infüzyon (2–11)</a:t>
            </a:r>
          </a:p>
        </p:txBody>
      </p:sp>
      <p:sp>
        <p:nvSpPr>
          <p:cNvPr id="8" name="Rounded Rectangle 7">
            <a:extLst xmlns:a="http://schemas.openxmlformats.org/drawingml/2006/main">
              <a:ext uri="{FF2B5EF4-FFF2-40B4-BE49-F238E27FC236}">
                <a16:creationId xmlns:a16="http://schemas.microsoft.com/office/drawing/2014/main" id="{0EF5909D-2686-4011-8FFF-F3D70DA57BA9}"/>
              </a:ext>
            </a:extLst>
          </p:cNvPr>
          <p:cNvSpPr>
            <a:spLocks xmlns:a="http://schemas.openxmlformats.org/drawingml/2006/main" noGrp="1"/>
          </p:cNvSpPr>
          <p:nvPr/>
        </p:nvSpPr>
        <p:spPr>
          <a:xfrm xmlns:a="http://schemas.openxmlformats.org/drawingml/2006/main">
            <a:off x="777240" y="2633472"/>
            <a:ext cx="10652760" cy="822960"/>
          </a:xfrm>
          <a:prstGeom xmlns:a="http://schemas.openxmlformats.org/drawingml/2006/main" prst="round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F4ACBE91-7B36-400D-A61B-EEFED57621EE}"/>
              </a:ext>
            </a:extLst>
          </p:cNvPr>
          <p:cNvSpPr>
            <a:spLocks xmlns:a="http://schemas.openxmlformats.org/drawingml/2006/main" noGrp="1"/>
          </p:cNvSpPr>
          <p:nvPr/>
        </p:nvSpPr>
        <p:spPr>
          <a:xfrm xmlns:a="http://schemas.openxmlformats.org/drawingml/2006/main">
            <a:off x="1051560" y="2761488"/>
            <a:ext cx="2788920" cy="5029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009196"/>
                </a:solidFill>
                <a:latin typeface="Aptos"/>
                <a:ea typeface="Aptos"/>
                <a:cs typeface="Aptos"/>
              </a:defRPr>
            </a:pPr>
            <a:r>
              <a:t>Parenteral beslenme</a:t>
            </a:r>
          </a:p>
        </p:txBody>
      </p:sp>
      <p:sp>
        <p:nvSpPr>
          <p:cNvPr id="10" name="TextBox 9">
            <a:extLst xmlns:a="http://schemas.openxmlformats.org/drawingml/2006/main">
              <a:ext uri="{FF2B5EF4-FFF2-40B4-BE49-F238E27FC236}">
                <a16:creationId xmlns:a16="http://schemas.microsoft.com/office/drawing/2014/main" id="{568B98F3-A63B-4805-97A2-E448B2AAD5A0}"/>
              </a:ext>
            </a:extLst>
          </p:cNvPr>
          <p:cNvSpPr>
            <a:spLocks xmlns:a="http://schemas.openxmlformats.org/drawingml/2006/main" noGrp="1"/>
          </p:cNvSpPr>
          <p:nvPr/>
        </p:nvSpPr>
        <p:spPr>
          <a:xfrm xmlns:a="http://schemas.openxmlformats.org/drawingml/2006/main">
            <a:off x="3886200" y="2752344"/>
            <a:ext cx="717804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0">
                <a:solidFill>
                  <a:srgbClr val="263445"/>
                </a:solidFill>
                <a:latin typeface="Aptos"/>
                <a:ea typeface="Aptos"/>
                <a:cs typeface="Aptos"/>
              </a:defRPr>
            </a:pPr>
            <a:r>
              <a:t>%21 (n = 7); yoğun ishal ve malnütrisyon nedeniyle medyan 4 hafta (1,5–14)</a:t>
            </a:r>
          </a:p>
        </p:txBody>
      </p:sp>
      <p:sp>
        <p:nvSpPr>
          <p:cNvPr id="11" name="Rounded Rectangle 10">
            <a:extLst xmlns:a="http://schemas.openxmlformats.org/drawingml/2006/main">
              <a:ext uri="{FF2B5EF4-FFF2-40B4-BE49-F238E27FC236}">
                <a16:creationId xmlns:a16="http://schemas.microsoft.com/office/drawing/2014/main" id="{4D374E57-7FAC-49A6-B922-1732F677361F}"/>
              </a:ext>
            </a:extLst>
          </p:cNvPr>
          <p:cNvSpPr>
            <a:spLocks xmlns:a="http://schemas.openxmlformats.org/drawingml/2006/main" noGrp="1"/>
          </p:cNvSpPr>
          <p:nvPr/>
        </p:nvSpPr>
        <p:spPr>
          <a:xfrm xmlns:a="http://schemas.openxmlformats.org/drawingml/2006/main">
            <a:off x="777240" y="3666744"/>
            <a:ext cx="10652760" cy="822960"/>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803CBD12-A602-4A74-831C-FAB8261A185F}"/>
              </a:ext>
            </a:extLst>
          </p:cNvPr>
          <p:cNvSpPr>
            <a:spLocks xmlns:a="http://schemas.openxmlformats.org/drawingml/2006/main" noGrp="1"/>
          </p:cNvSpPr>
          <p:nvPr/>
        </p:nvSpPr>
        <p:spPr>
          <a:xfrm xmlns:a="http://schemas.openxmlformats.org/drawingml/2006/main">
            <a:off x="1051560" y="3794759"/>
            <a:ext cx="2788920" cy="5029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009196"/>
                </a:solidFill>
                <a:latin typeface="Aptos"/>
                <a:ea typeface="Aptos"/>
                <a:cs typeface="Aptos"/>
              </a:defRPr>
            </a:pPr>
            <a:r>
              <a:t>Eşlik eden enfeksiyon</a:t>
            </a:r>
          </a:p>
        </p:txBody>
      </p:sp>
      <p:sp>
        <p:nvSpPr>
          <p:cNvPr id="13" name="TextBox 12">
            <a:extLst xmlns:a="http://schemas.openxmlformats.org/drawingml/2006/main">
              <a:ext uri="{FF2B5EF4-FFF2-40B4-BE49-F238E27FC236}">
                <a16:creationId xmlns:a16="http://schemas.microsoft.com/office/drawing/2014/main" id="{0DF1D389-5286-4DFF-BBC1-C15325B861BE}"/>
              </a:ext>
            </a:extLst>
          </p:cNvPr>
          <p:cNvSpPr>
            <a:spLocks xmlns:a="http://schemas.openxmlformats.org/drawingml/2006/main" noGrp="1"/>
          </p:cNvSpPr>
          <p:nvPr/>
        </p:nvSpPr>
        <p:spPr>
          <a:xfrm xmlns:a="http://schemas.openxmlformats.org/drawingml/2006/main">
            <a:off x="3886200" y="3785615"/>
            <a:ext cx="717804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0">
                <a:solidFill>
                  <a:srgbClr val="263445"/>
                </a:solidFill>
                <a:latin typeface="Aptos"/>
                <a:ea typeface="Aptos"/>
                <a:cs typeface="Aptos"/>
              </a:defRPr>
            </a:pPr>
            <a:r>
              <a:t>%35 (n = 12) tanı sırasında</a:t>
            </a:r>
          </a:p>
        </p:txBody>
      </p:sp>
      <p:sp>
        <p:nvSpPr>
          <p:cNvPr id="14" name="Rounded Rectangle 13">
            <a:extLst xmlns:a="http://schemas.openxmlformats.org/drawingml/2006/main">
              <a:ext uri="{FF2B5EF4-FFF2-40B4-BE49-F238E27FC236}">
                <a16:creationId xmlns:a16="http://schemas.microsoft.com/office/drawing/2014/main" id="{59823E52-B3A4-41CE-99A5-78A6178E5485}"/>
              </a:ext>
            </a:extLst>
          </p:cNvPr>
          <p:cNvSpPr>
            <a:spLocks xmlns:a="http://schemas.openxmlformats.org/drawingml/2006/main" noGrp="1"/>
          </p:cNvSpPr>
          <p:nvPr/>
        </p:nvSpPr>
        <p:spPr>
          <a:xfrm xmlns:a="http://schemas.openxmlformats.org/drawingml/2006/main">
            <a:off x="777240" y="4700016"/>
            <a:ext cx="10652760" cy="822960"/>
          </a:xfrm>
          <a:prstGeom xmlns:a="http://schemas.openxmlformats.org/drawingml/2006/main" prst="round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96D091FB-0820-4AE2-BD35-DBCC96C80AB1}"/>
              </a:ext>
            </a:extLst>
          </p:cNvPr>
          <p:cNvSpPr>
            <a:spLocks xmlns:a="http://schemas.openxmlformats.org/drawingml/2006/main" noGrp="1"/>
          </p:cNvSpPr>
          <p:nvPr/>
        </p:nvSpPr>
        <p:spPr>
          <a:xfrm xmlns:a="http://schemas.openxmlformats.org/drawingml/2006/main">
            <a:off x="1051560" y="4828031"/>
            <a:ext cx="2788920" cy="5029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009196"/>
                </a:solidFill>
                <a:latin typeface="Aptos"/>
                <a:ea typeface="Aptos"/>
                <a:cs typeface="Aptos"/>
              </a:defRPr>
            </a:pPr>
            <a:r>
              <a:t>Ağır enfeksiyon</a:t>
            </a:r>
          </a:p>
        </p:txBody>
      </p:sp>
      <p:sp>
        <p:nvSpPr>
          <p:cNvPr id="16" name="TextBox 15">
            <a:extLst xmlns:a="http://schemas.openxmlformats.org/drawingml/2006/main">
              <a:ext uri="{FF2B5EF4-FFF2-40B4-BE49-F238E27FC236}">
                <a16:creationId xmlns:a16="http://schemas.microsoft.com/office/drawing/2014/main" id="{5D599D58-47C8-44E5-8828-0661003D743E}"/>
              </a:ext>
            </a:extLst>
          </p:cNvPr>
          <p:cNvSpPr>
            <a:spLocks xmlns:a="http://schemas.openxmlformats.org/drawingml/2006/main" noGrp="1"/>
          </p:cNvSpPr>
          <p:nvPr/>
        </p:nvSpPr>
        <p:spPr>
          <a:xfrm xmlns:a="http://schemas.openxmlformats.org/drawingml/2006/main">
            <a:off x="3886200" y="4818888"/>
            <a:ext cx="717804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200">
                <a:latin typeface="Aptos"/>
                <a:ea typeface="Aptos"/>
                <a:cs typeface="Aptos"/>
              </a:rPr>
              <a:t>3 çocuk: Enterococcus faecalis bakteriyemisi, pnömokok menenjiti ve akciğer tutulumu/sepsisle seyreden yaygın kriptokok enfeksiyonu</a:t>
            </a:r>
          </a:p>
        </p:txBody>
      </p:sp>
      <p:sp>
        <p:nvSpPr>
          <p:cNvPr id="17" name="TextBox 16">
            <a:extLst xmlns:a="http://schemas.openxmlformats.org/drawingml/2006/main">
              <a:ext uri="{FF2B5EF4-FFF2-40B4-BE49-F238E27FC236}">
                <a16:creationId xmlns:a16="http://schemas.microsoft.com/office/drawing/2014/main" id="{873C9D90-930D-4973-A802-09D2544E2937}"/>
              </a:ext>
            </a:extLst>
          </p:cNvPr>
          <p:cNvSpPr>
            <a:spLocks xmlns:a="http://schemas.openxmlformats.org/drawingml/2006/main" noGrp="1"/>
          </p:cNvSpPr>
          <p:nvPr/>
        </p:nvSpPr>
        <p:spPr>
          <a:xfrm xmlns:a="http://schemas.openxmlformats.org/drawingml/2006/main">
            <a:off x="896112" y="5870448"/>
            <a:ext cx="1051560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12263F"/>
                </a:solidFill>
                <a:latin typeface="Aptos"/>
                <a:ea typeface="Aptos"/>
                <a:cs typeface="Aptos"/>
              </a:defRPr>
            </a:pPr>
            <a:r>
              <a:t>Ağır enfeksiyon geçiren çocukların tümünde uzun dönem komplikasyon olmadan iyileşme bildirildi.</a:t>
            </a:r>
          </a:p>
        </p:txBody>
      </p:sp>
      <p:sp xmlns:a="http://schemas.openxmlformats.org/drawingml/2006/main">
        <p:nvSpPr>
          <p:cNvPr id="18" name="Inceleme notu"/>
          <p:cNvSpPr txBox="1"/>
          <p:nvPr/>
        </p:nvSpPr>
        <p:spPr>
          <a:xfrm>
            <a:off x="150000" y="6628976"/>
            <a:ext cx="11891695" cy="204024"/>
          </a:xfrm>
          <a:prstGeom prst="rect">
            <a:avLst/>
          </a:prstGeom>
          <a:solidFill>
            <a:srgbClr val="FFF4CC"/>
          </a:solidFill>
          <a:ln w="9525">
            <a:solidFill>
              <a:srgbClr val="C99A00"/>
            </a:solidFill>
          </a:ln>
        </p:spPr>
        <p:txBody>
          <a:bodyPr wrap="square" anchor="ctr" tIns="27432" bIns="27432">
            <a:spAutoFit/>
          </a:bodyPr>
          <a:lstStyle/>
          <a:p>
            <a:r>
              <a:rPr b="1" sz="900">
                <a:solidFill>
                  <a:srgbClr val="A61B1B"/>
                </a:solidFill>
              </a:rPr>
              <a:t>İnceleme notu: </a:t>
            </a:r>
            <a:r>
              <a:rPr sz="900">
                <a:solidFill>
                  <a:srgbClr val="1F1F1F"/>
                </a:solidFill>
              </a:rPr>
              <a:t>Makaledeki “%78 (n=26)” hesap hatası: 26/34 = %76,5. %78 ancak payda 33 olursa çıkar.</a:t>
            </a:r>
          </a:p>
        </p:txBody>
      </p:sp>
    </p:spTree>
    <p:extLst>
      <p:ext uri="{BB962C8B-B14F-4D97-AF65-F5344CB8AC3E}">
        <p14:creationId xmlns:p14="http://schemas.microsoft.com/office/powerpoint/2010/main" val="142024036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9719B7C-C465-4DF6-8CD3-F124B05AD371}"/>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00919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9D8D1A1C-669C-4F88-B2EC-424B593AFC81}"/>
              </a:ext>
            </a:extLst>
          </p:cNvPr>
          <p:cNvSpPr>
            <a:spLocks xmlns:a="http://schemas.openxmlformats.org/drawingml/2006/main" noGrp="1"/>
          </p:cNvSpPr>
          <p:nvPr/>
        </p:nvSpPr>
        <p:spPr>
          <a:xfrm xmlns:a="http://schemas.openxmlformats.org/drawingml/2006/main">
            <a:off x="658368" y="384048"/>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400" b="1">
                <a:solidFill>
                  <a:srgbClr val="12263F"/>
                </a:solidFill>
                <a:latin typeface="Aptos"/>
                <a:ea typeface="Aptos"/>
                <a:cs typeface="Aptos"/>
              </a:defRPr>
            </a:pPr>
            <a:r>
              <a:t>İZLEMDE DİYET YANITI VE ALBÜMİN SEYRİ</a:t>
            </a:r>
          </a:p>
        </p:txBody>
      </p:sp>
      <p:sp>
        <p:nvSpPr>
          <p:cNvPr id="4" name="TextBox 3">
            <a:extLst xmlns:a="http://schemas.openxmlformats.org/drawingml/2006/main">
              <a:ext uri="{FF2B5EF4-FFF2-40B4-BE49-F238E27FC236}">
                <a16:creationId xmlns:a16="http://schemas.microsoft.com/office/drawing/2014/main" id="{DC837AED-1EA4-4131-974D-91DAC52BD6F3}"/>
              </a:ext>
            </a:extLst>
          </p:cNvPr>
          <p:cNvSpPr>
            <a:spLocks xmlns:a="http://schemas.openxmlformats.org/drawingml/2006/main" noGrp="1"/>
          </p:cNvSpPr>
          <p:nvPr/>
        </p:nvSpPr>
        <p:spPr>
          <a:xfrm xmlns:a="http://schemas.openxmlformats.org/drawingml/2006/main">
            <a:off x="676656" y="987552"/>
            <a:ext cx="1088136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667584"/>
                </a:solidFill>
                <a:latin typeface="Aptos"/>
                <a:ea typeface="Aptos"/>
                <a:cs typeface="Aptos"/>
              </a:defRPr>
            </a:pPr>
            <a:r>
              <a:t>Medyan izlem: 4,5 yıl (2–11)</a:t>
            </a:r>
          </a:p>
        </p:txBody>
      </p:sp>
      <p:sp>
        <p:nvSpPr>
          <p:cNvPr id="5" name="Rounded Rectangle 4">
            <a:extLst xmlns:a="http://schemas.openxmlformats.org/drawingml/2006/main">
              <a:ext uri="{FF2B5EF4-FFF2-40B4-BE49-F238E27FC236}">
                <a16:creationId xmlns:a16="http://schemas.microsoft.com/office/drawing/2014/main" id="{CD6573BE-06C8-4F9C-B395-F694510A6A8B}"/>
              </a:ext>
            </a:extLst>
          </p:cNvPr>
          <p:cNvSpPr>
            <a:spLocks xmlns:a="http://schemas.openxmlformats.org/drawingml/2006/main" noGrp="1"/>
          </p:cNvSpPr>
          <p:nvPr/>
        </p:nvSpPr>
        <p:spPr>
          <a:xfrm xmlns:a="http://schemas.openxmlformats.org/drawingml/2006/main">
            <a:off x="658368" y="1572768"/>
            <a:ext cx="4160520" cy="4526280"/>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61B3B57E-ED44-41C2-914E-29F0B3CB4CA5}"/>
              </a:ext>
            </a:extLst>
          </p:cNvPr>
          <p:cNvSpPr>
            <a:spLocks xmlns:a="http://schemas.openxmlformats.org/drawingml/2006/main" noGrp="1"/>
          </p:cNvSpPr>
          <p:nvPr/>
        </p:nvSpPr>
        <p:spPr>
          <a:xfrm xmlns:a="http://schemas.openxmlformats.org/drawingml/2006/main">
            <a:off x="896112" y="1810512"/>
            <a:ext cx="3657600"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009196"/>
                </a:solidFill>
                <a:latin typeface="Aptos"/>
                <a:ea typeface="Aptos"/>
                <a:cs typeface="Aptos"/>
              </a:defRPr>
            </a:pPr>
            <a:r>
              <a:t>DİYET TEDAVİSİ</a:t>
            </a:r>
          </a:p>
        </p:txBody>
      </p:sp>
      <p:sp>
        <p:nvSpPr>
          <p:cNvPr id="7" name="TextBox 6">
            <a:extLst xmlns:a="http://schemas.openxmlformats.org/drawingml/2006/main">
              <a:ext uri="{FF2B5EF4-FFF2-40B4-BE49-F238E27FC236}">
                <a16:creationId xmlns:a16="http://schemas.microsoft.com/office/drawing/2014/main" id="{2048F3EF-E5C0-4441-9401-BFD5CCB1FFAE}"/>
              </a:ext>
            </a:extLst>
          </p:cNvPr>
          <p:cNvSpPr>
            <a:spLocks xmlns:a="http://schemas.openxmlformats.org/drawingml/2006/main" noGrp="1"/>
          </p:cNvSpPr>
          <p:nvPr/>
        </p:nvSpPr>
        <p:spPr>
          <a:xfrm xmlns:a="http://schemas.openxmlformats.org/drawingml/2006/main">
            <a:off x="896112" y="2359152"/>
            <a:ext cx="1143000" cy="53035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200" b="1">
                <a:solidFill>
                  <a:srgbClr val="12263F"/>
                </a:solidFill>
                <a:latin typeface="Aptos"/>
                <a:ea typeface="Aptos"/>
                <a:cs typeface="Aptos"/>
              </a:defRPr>
            </a:pPr>
            <a:r>
              <a:t>31/34</a:t>
            </a:r>
          </a:p>
        </p:txBody>
      </p:sp>
      <p:sp>
        <p:nvSpPr>
          <p:cNvPr id="8" name="TextBox 7">
            <a:extLst xmlns:a="http://schemas.openxmlformats.org/drawingml/2006/main">
              <a:ext uri="{FF2B5EF4-FFF2-40B4-BE49-F238E27FC236}">
                <a16:creationId xmlns:a16="http://schemas.microsoft.com/office/drawing/2014/main" id="{CFB21D85-19FB-4492-8F43-2911FE2C39BE}"/>
              </a:ext>
            </a:extLst>
          </p:cNvPr>
          <p:cNvSpPr>
            <a:spLocks xmlns:a="http://schemas.openxmlformats.org/drawingml/2006/main" noGrp="1"/>
          </p:cNvSpPr>
          <p:nvPr/>
        </p:nvSpPr>
        <p:spPr>
          <a:xfrm xmlns:a="http://schemas.openxmlformats.org/drawingml/2006/main">
            <a:off x="2057400" y="2423160"/>
            <a:ext cx="2423160" cy="42062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0">
                <a:solidFill>
                  <a:srgbClr val="263445"/>
                </a:solidFill>
                <a:latin typeface="Aptos"/>
                <a:ea typeface="Aptos"/>
                <a:cs typeface="Aptos"/>
              </a:defRPr>
            </a:pPr>
            <a:r>
              <a:t>%91 diyet başlandı</a:t>
            </a:r>
          </a:p>
        </p:txBody>
      </p:sp>
      <p:sp>
        <p:nvSpPr>
          <p:cNvPr id="9" name="TextBox 8">
            <a:extLst xmlns:a="http://schemas.openxmlformats.org/drawingml/2006/main">
              <a:ext uri="{FF2B5EF4-FFF2-40B4-BE49-F238E27FC236}">
                <a16:creationId xmlns:a16="http://schemas.microsoft.com/office/drawing/2014/main" id="{716F7FFC-4EFC-4AF2-83A2-46EB2757772E}"/>
              </a:ext>
            </a:extLst>
          </p:cNvPr>
          <p:cNvSpPr>
            <a:spLocks xmlns:a="http://schemas.openxmlformats.org/drawingml/2006/main" noGrp="1"/>
          </p:cNvSpPr>
          <p:nvPr/>
        </p:nvSpPr>
        <p:spPr>
          <a:xfrm xmlns:a="http://schemas.openxmlformats.org/drawingml/2006/main">
            <a:off x="896112" y="3127248"/>
            <a:ext cx="1143000" cy="53035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200" b="1">
                <a:solidFill>
                  <a:srgbClr val="009196"/>
                </a:solidFill>
                <a:latin typeface="Aptos"/>
                <a:ea typeface="Aptos"/>
                <a:cs typeface="Aptos"/>
              </a:defRPr>
            </a:pPr>
            <a:r>
              <a:t>25/31</a:t>
            </a:r>
          </a:p>
        </p:txBody>
      </p:sp>
      <p:sp>
        <p:nvSpPr>
          <p:cNvPr id="10" name="TextBox 9">
            <a:extLst xmlns:a="http://schemas.openxmlformats.org/drawingml/2006/main">
              <a:ext uri="{FF2B5EF4-FFF2-40B4-BE49-F238E27FC236}">
                <a16:creationId xmlns:a16="http://schemas.microsoft.com/office/drawing/2014/main" id="{0669C187-CE08-4847-A769-93C0629B0B6F}"/>
              </a:ext>
            </a:extLst>
          </p:cNvPr>
          <p:cNvSpPr>
            <a:spLocks xmlns:a="http://schemas.openxmlformats.org/drawingml/2006/main" noGrp="1"/>
          </p:cNvSpPr>
          <p:nvPr/>
        </p:nvSpPr>
        <p:spPr>
          <a:xfrm xmlns:a="http://schemas.openxmlformats.org/drawingml/2006/main">
            <a:off x="2057400" y="3182112"/>
            <a:ext cx="2423160" cy="43891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0">
                <a:solidFill>
                  <a:srgbClr val="263445"/>
                </a:solidFill>
                <a:latin typeface="Aptos"/>
                <a:ea typeface="Aptos"/>
                <a:cs typeface="Aptos"/>
              </a:defRPr>
            </a:pPr>
            <a:r>
              <a:t>%81 olumlu yanıt</a:t>
            </a:r>
          </a:p>
        </p:txBody>
      </p:sp>
      <p:sp>
        <p:nvSpPr>
          <p:cNvPr id="11" name="TextBox 10">
            <a:extLst xmlns:a="http://schemas.openxmlformats.org/drawingml/2006/main">
              <a:ext uri="{FF2B5EF4-FFF2-40B4-BE49-F238E27FC236}">
                <a16:creationId xmlns:a16="http://schemas.microsoft.com/office/drawing/2014/main" id="{C050E809-D463-4E2B-84C9-12C3D007D593}"/>
              </a:ext>
            </a:extLst>
          </p:cNvPr>
          <p:cNvSpPr>
            <a:spLocks xmlns:a="http://schemas.openxmlformats.org/drawingml/2006/main" noGrp="1"/>
          </p:cNvSpPr>
          <p:nvPr/>
        </p:nvSpPr>
        <p:spPr>
          <a:xfrm xmlns:a="http://schemas.openxmlformats.org/drawingml/2006/main">
            <a:off x="896112" y="3913632"/>
            <a:ext cx="361188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12263F"/>
                </a:solidFill>
                <a:latin typeface="Aptos"/>
                <a:ea typeface="Aptos"/>
                <a:cs typeface="Aptos"/>
              </a:defRPr>
            </a:pPr>
            <a:r>
              <a:t>6 çocukta diyet yanıtı yok</a:t>
            </a:r>
          </a:p>
        </p:txBody>
      </p:sp>
      <p:sp>
        <p:nvSpPr>
          <p:cNvPr id="12" name="TextBox 11">
            <a:extLst xmlns:a="http://schemas.openxmlformats.org/drawingml/2006/main">
              <a:ext uri="{FF2B5EF4-FFF2-40B4-BE49-F238E27FC236}">
                <a16:creationId xmlns:a16="http://schemas.microsoft.com/office/drawing/2014/main" id="{85A48EF3-F675-4F76-A88D-25835E263204}"/>
              </a:ext>
            </a:extLst>
          </p:cNvPr>
          <p:cNvSpPr>
            <a:spLocks xmlns:a="http://schemas.openxmlformats.org/drawingml/2006/main" noGrp="1"/>
          </p:cNvSpPr>
          <p:nvPr/>
        </p:nvSpPr>
        <p:spPr>
          <a:xfrm xmlns:a="http://schemas.openxmlformats.org/drawingml/2006/main">
            <a:off x="896112" y="4370832"/>
            <a:ext cx="3611880" cy="13716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263445"/>
                </a:solidFill>
                <a:latin typeface="Aptos"/>
                <a:ea typeface="Aptos"/>
                <a:cs typeface="Aptos"/>
              </a:defRPr>
            </a:pPr>
            <a:r>
              <a:t>3’ünde uyum zayıftı ve klinik/biyolojik nüksler görüldü. 1 çocukta inek sütü proteini alerjisi MCT kullanımını engelledi. 2 çocukta yaygın akciğer/mediastinal lenfatik tutulum vardı; ikinci basamak ilaç gerekti.</a:t>
            </a:r>
          </a:p>
        </p:txBody>
      </p:sp>
      <p:pic>
        <p:nvPicPr>
          <p:cNvPr id="29" name="Picture 12"/>
          <p:cNvPicPr>
            <a:picLocks xmlns:a="http://schemas.openxmlformats.org/drawingml/2006/main" noChangeAspect="1"/>
          </p:cNvPicPr>
          <p:nvPr/>
        </p:nvPicPr>
        <p:blipFill>
          <a:blip xmlns:r="http://schemas.openxmlformats.org/officeDocument/2006/relationships" xmlns:a="http://schemas.openxmlformats.org/drawingml/2006/main" r:embed="R9a08ea76a6b0438c"/>
          <a:stretch xmlns:a="http://schemas.openxmlformats.org/drawingml/2006/main">
            <a:fillRect l="0" t="0" r="0" b="0"/>
          </a:stretch>
        </p:blipFill>
        <p:spPr>
          <a:xfrm xmlns:a="http://schemas.openxmlformats.org/drawingml/2006/main">
            <a:off x="5486400" y="1627632"/>
            <a:ext cx="5989320" cy="2898648"/>
          </a:xfrm>
          <a:prstGeom xmlns:a="http://schemas.openxmlformats.org/drawingml/2006/main" prst="rect">
            <a:avLst/>
          </a:prstGeom>
        </p:spPr>
      </p:pic>
      <p:sp>
        <p:nvSpPr>
          <p:cNvPr id="14" name="TextBox 13">
            <a:extLst xmlns:a="http://schemas.openxmlformats.org/drawingml/2006/main">
              <a:ext uri="{FF2B5EF4-FFF2-40B4-BE49-F238E27FC236}">
                <a16:creationId xmlns:a16="http://schemas.microsoft.com/office/drawing/2014/main" id="{3565EEBB-4E84-4D95-AA7B-9702030B6ACE}"/>
              </a:ext>
            </a:extLst>
          </p:cNvPr>
          <p:cNvSpPr>
            <a:spLocks xmlns:a="http://schemas.openxmlformats.org/drawingml/2006/main" noGrp="1"/>
          </p:cNvSpPr>
          <p:nvPr/>
        </p:nvSpPr>
        <p:spPr>
          <a:xfrm xmlns:a="http://schemas.openxmlformats.org/drawingml/2006/main">
            <a:off x="5074920" y="4617720"/>
            <a:ext cx="6355080" cy="38404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100">
                <a:latin typeface="Aptos"/>
                <a:ea typeface="Aptos"/>
                <a:cs typeface="Aptos"/>
              </a:rPr>
              <a:t>Albümin seyri: tanı (T0), 6. ay (M6), 1. yıl (Y1), 2. yıl (Y2).</a:t>
            </a:r>
          </a:p>
        </p:txBody>
      </p:sp>
      <p:sp>
        <p:nvSpPr>
          <p:cNvPr id="15" name="TextBox 14">
            <a:extLst xmlns:a="http://schemas.openxmlformats.org/drawingml/2006/main">
              <a:ext uri="{FF2B5EF4-FFF2-40B4-BE49-F238E27FC236}">
                <a16:creationId xmlns:a16="http://schemas.microsoft.com/office/drawing/2014/main" id="{D211C261-C60A-40AC-B772-33FC0B189C46}"/>
              </a:ext>
            </a:extLst>
          </p:cNvPr>
          <p:cNvSpPr>
            <a:spLocks xmlns:a="http://schemas.openxmlformats.org/drawingml/2006/main" noGrp="1"/>
          </p:cNvSpPr>
          <p:nvPr/>
        </p:nvSpPr>
        <p:spPr>
          <a:xfrm xmlns:a="http://schemas.openxmlformats.org/drawingml/2006/main">
            <a:off x="5074920" y="5065776"/>
            <a:ext cx="6263640" cy="7498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100">
                <a:latin typeface="Aptos"/>
                <a:ea typeface="Aptos"/>
                <a:cs typeface="Aptos"/>
              </a:rPr>
              <a:t>Renkler: mavi=diyet yok; turuncu=yanıtsız; yeşil=tam yanıt; sarı=kısmi yanıt. Diyet almayan 3 çocukta belirtiler kendiliğinden düzeldi; albümin düşük kalabildi.</a:t>
            </a:r>
          </a:p>
        </p:txBody>
      </p:sp>
      <p:sp>
        <p:nvSpPr>
          <p:cNvPr id="16" name="TextBox 15">
            <a:extLst xmlns:a="http://schemas.openxmlformats.org/drawingml/2006/main">
              <a:ext uri="{FF2B5EF4-FFF2-40B4-BE49-F238E27FC236}">
                <a16:creationId xmlns:a16="http://schemas.microsoft.com/office/drawing/2014/main" id="{3CD78CE6-9C59-468B-910C-82BE77690E0C}"/>
              </a:ext>
            </a:extLst>
          </p:cNvPr>
          <p:cNvSpPr>
            <a:spLocks xmlns:a="http://schemas.openxmlformats.org/drawingml/2006/main" noGrp="1"/>
          </p:cNvSpPr>
          <p:nvPr/>
        </p:nvSpPr>
        <p:spPr>
          <a:xfrm xmlns:a="http://schemas.openxmlformats.org/drawingml/2006/main">
            <a:off x="5074920" y="5833872"/>
            <a:ext cx="6217920" cy="2286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900" b="0">
                <a:solidFill>
                  <a:srgbClr val="667584"/>
                </a:solidFill>
                <a:latin typeface="Aptos"/>
                <a:ea typeface="Aptos"/>
                <a:cs typeface="Aptos"/>
              </a:defRPr>
            </a:pPr>
            <a:r>
              <a:t>MCT: orta zincirli trigliserit.</a:t>
            </a:r>
          </a:p>
        </p:txBody>
      </p:sp>
      <p:sp xmlns:a="http://schemas.openxmlformats.org/drawingml/2006/main">
        <p:nvSpPr>
          <p:cNvPr id="30" name="Inceleme notu"/>
          <p:cNvSpPr txBox="1"/>
          <p:nvPr/>
        </p:nvSpPr>
        <p:spPr>
          <a:xfrm>
            <a:off x="150000" y="6628976"/>
            <a:ext cx="11891695" cy="204024"/>
          </a:xfrm>
          <a:prstGeom prst="rect">
            <a:avLst/>
          </a:prstGeom>
          <a:solidFill>
            <a:srgbClr val="FFF4CC"/>
          </a:solidFill>
          <a:ln w="9525">
            <a:solidFill>
              <a:srgbClr val="C99A00"/>
            </a:solidFill>
          </a:ln>
        </p:spPr>
        <p:txBody>
          <a:bodyPr wrap="square" anchor="ctr" tIns="27432" bIns="27432">
            <a:spAutoFit/>
          </a:bodyPr>
          <a:lstStyle/>
          <a:p>
            <a:r>
              <a:rPr b="1" sz="900">
                <a:solidFill>
                  <a:srgbClr val="A61B1B"/>
                </a:solidFill>
              </a:rPr>
              <a:t>İnceleme notu: </a:t>
            </a:r>
            <a:r>
              <a:rPr sz="900">
                <a:solidFill>
                  <a:srgbClr val="1F1F1F"/>
                </a:solidFill>
              </a:rPr>
              <a:t>Yanıtsız 2 yaygın tutulumlu olguda lenfödem de vardı (makale s.401); genetik test yapılmamış. Kontrol grubu yok: diyet almayan 3 çocuk da kendiliğinden düzeldi.</a:t>
            </a:r>
          </a:p>
        </p:txBody>
      </p:sp>
    </p:spTree>
    <p:extLst>
      <p:ext uri="{BB962C8B-B14F-4D97-AF65-F5344CB8AC3E}">
        <p14:creationId xmlns:p14="http://schemas.microsoft.com/office/powerpoint/2010/main" val="187793125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0E6D4B1-B417-439B-8265-2D93EC3559E9}"/>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00919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99BB1CC-B308-4A85-8A8D-3EED56DD14F5}"/>
              </a:ext>
            </a:extLst>
          </p:cNvPr>
          <p:cNvSpPr>
            <a:spLocks xmlns:a="http://schemas.openxmlformats.org/drawingml/2006/main" noGrp="1"/>
          </p:cNvSpPr>
          <p:nvPr/>
        </p:nvSpPr>
        <p:spPr>
          <a:xfrm xmlns:a="http://schemas.openxmlformats.org/drawingml/2006/main">
            <a:off x="658368" y="384048"/>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400" b="1">
                <a:solidFill>
                  <a:srgbClr val="12263F"/>
                </a:solidFill>
                <a:latin typeface="Aptos"/>
                <a:ea typeface="Aptos"/>
                <a:cs typeface="Aptos"/>
              </a:defRPr>
            </a:pPr>
            <a:r>
              <a:t>TAM VE KISMİ YANITIN UZUN DÖNEM SEYRİ</a:t>
            </a:r>
          </a:p>
        </p:txBody>
      </p:sp>
      <p:sp>
        <p:nvSpPr>
          <p:cNvPr id="4" name="TextBox 3">
            <a:extLst xmlns:a="http://schemas.openxmlformats.org/drawingml/2006/main">
              <a:ext uri="{FF2B5EF4-FFF2-40B4-BE49-F238E27FC236}">
                <a16:creationId xmlns:a16="http://schemas.microsoft.com/office/drawing/2014/main" id="{AF7A4801-A948-4507-9A2B-D539C4EEEF6B}"/>
              </a:ext>
            </a:extLst>
          </p:cNvPr>
          <p:cNvSpPr>
            <a:spLocks xmlns:a="http://schemas.openxmlformats.org/drawingml/2006/main" noGrp="1"/>
          </p:cNvSpPr>
          <p:nvPr/>
        </p:nvSpPr>
        <p:spPr>
          <a:xfrm xmlns:a="http://schemas.openxmlformats.org/drawingml/2006/main">
            <a:off x="676656" y="987552"/>
            <a:ext cx="1088136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667584"/>
                </a:solidFill>
                <a:latin typeface="Aptos"/>
                <a:ea typeface="Aptos"/>
                <a:cs typeface="Aptos"/>
              </a:defRPr>
            </a:pPr>
            <a:r>
              <a:t>Diyet tedavisine iyi yanıt veren 25 çocuk</a:t>
            </a:r>
          </a:p>
        </p:txBody>
      </p:sp>
      <p:sp>
        <p:nvSpPr>
          <p:cNvPr id="5" name="Rounded Rectangle 4">
            <a:extLst xmlns:a="http://schemas.openxmlformats.org/drawingml/2006/main">
              <a:ext uri="{FF2B5EF4-FFF2-40B4-BE49-F238E27FC236}">
                <a16:creationId xmlns:a16="http://schemas.microsoft.com/office/drawing/2014/main" id="{A6F72B17-085D-45DA-9C4A-AB5FF28AD7D9}"/>
              </a:ext>
            </a:extLst>
          </p:cNvPr>
          <p:cNvSpPr>
            <a:spLocks xmlns:a="http://schemas.openxmlformats.org/drawingml/2006/main" noGrp="1"/>
          </p:cNvSpPr>
          <p:nvPr/>
        </p:nvSpPr>
        <p:spPr>
          <a:xfrm xmlns:a="http://schemas.openxmlformats.org/drawingml/2006/main">
            <a:off x="658368" y="1572768"/>
            <a:ext cx="5285232" cy="4526280"/>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F6F64180-0DF1-4307-A6D9-7EAF5636FE7E}"/>
              </a:ext>
            </a:extLst>
          </p:cNvPr>
          <p:cNvSpPr>
            <a:spLocks xmlns:a="http://schemas.openxmlformats.org/drawingml/2006/main" noGrp="1"/>
          </p:cNvSpPr>
          <p:nvPr/>
        </p:nvSpPr>
        <p:spPr>
          <a:xfrm xmlns:a="http://schemas.openxmlformats.org/drawingml/2006/main">
            <a:off x="914400" y="1810512"/>
            <a:ext cx="4663440"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500" b="1">
                <a:solidFill>
                  <a:srgbClr val="009196"/>
                </a:solidFill>
                <a:latin typeface="Aptos"/>
                <a:ea typeface="Aptos"/>
                <a:cs typeface="Aptos"/>
              </a:defRPr>
            </a:pPr>
            <a:r>
              <a:t>TAM YANIT (n = 10)</a:t>
            </a:r>
          </a:p>
        </p:txBody>
      </p:sp>
      <p:sp>
        <p:nvSpPr>
          <p:cNvPr id="7" name="Rounded Rectangle 6">
            <a:extLst xmlns:a="http://schemas.openxmlformats.org/drawingml/2006/main">
              <a:ext uri="{FF2B5EF4-FFF2-40B4-BE49-F238E27FC236}">
                <a16:creationId xmlns:a16="http://schemas.microsoft.com/office/drawing/2014/main" id="{352DF206-A21E-4227-9275-47F5CF2738AA}"/>
              </a:ext>
            </a:extLst>
          </p:cNvPr>
          <p:cNvSpPr>
            <a:spLocks xmlns:a="http://schemas.openxmlformats.org/drawingml/2006/main" noGrp="1"/>
          </p:cNvSpPr>
          <p:nvPr/>
        </p:nvSpPr>
        <p:spPr>
          <a:xfrm xmlns:a="http://schemas.openxmlformats.org/drawingml/2006/main">
            <a:off x="6236208" y="1572768"/>
            <a:ext cx="5285232" cy="4526280"/>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D88100F6-0836-425F-A7B4-ED2248958711}"/>
              </a:ext>
            </a:extLst>
          </p:cNvPr>
          <p:cNvSpPr>
            <a:spLocks xmlns:a="http://schemas.openxmlformats.org/drawingml/2006/main" noGrp="1"/>
          </p:cNvSpPr>
          <p:nvPr/>
        </p:nvSpPr>
        <p:spPr>
          <a:xfrm xmlns:a="http://schemas.openxmlformats.org/drawingml/2006/main">
            <a:off x="6492240" y="1810512"/>
            <a:ext cx="4663440"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500" b="1">
                <a:solidFill>
                  <a:srgbClr val="CE8F24"/>
                </a:solidFill>
                <a:latin typeface="Aptos"/>
                <a:ea typeface="Aptos"/>
                <a:cs typeface="Aptos"/>
              </a:defRPr>
            </a:pPr>
            <a:r>
              <a:t>KISMİ YANIT (n = 15)</a:t>
            </a:r>
          </a:p>
        </p:txBody>
      </p:sp>
      <p:sp>
        <p:nvSpPr>
          <p:cNvPr id="9" name="TextBox 8">
            <a:extLst xmlns:a="http://schemas.openxmlformats.org/drawingml/2006/main">
              <a:ext uri="{FF2B5EF4-FFF2-40B4-BE49-F238E27FC236}">
                <a16:creationId xmlns:a16="http://schemas.microsoft.com/office/drawing/2014/main" id="{02B96EC6-C2B0-4D07-B9CB-566738D04018}"/>
              </a:ext>
            </a:extLst>
          </p:cNvPr>
          <p:cNvSpPr>
            <a:spLocks xmlns:a="http://schemas.openxmlformats.org/drawingml/2006/main" noGrp="1"/>
          </p:cNvSpPr>
          <p:nvPr/>
        </p:nvSpPr>
        <p:spPr>
          <a:xfrm xmlns:a="http://schemas.openxmlformats.org/drawingml/2006/main">
            <a:off x="896112" y="2395728"/>
            <a:ext cx="1143000" cy="49377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800" b="1">
                <a:solidFill>
                  <a:srgbClr val="12263F"/>
                </a:solidFill>
                <a:latin typeface="Aptos"/>
                <a:ea typeface="Aptos"/>
                <a:cs typeface="Aptos"/>
              </a:defRPr>
            </a:pPr>
            <a:r>
              <a:t>10 (%40)</a:t>
            </a:r>
          </a:p>
        </p:txBody>
      </p:sp>
      <p:sp>
        <p:nvSpPr>
          <p:cNvPr id="10" name="TextBox 9">
            <a:extLst xmlns:a="http://schemas.openxmlformats.org/drawingml/2006/main">
              <a:ext uri="{FF2B5EF4-FFF2-40B4-BE49-F238E27FC236}">
                <a16:creationId xmlns:a16="http://schemas.microsoft.com/office/drawing/2014/main" id="{72491772-718C-4CEA-B699-0B77AC844546}"/>
              </a:ext>
            </a:extLst>
          </p:cNvPr>
          <p:cNvSpPr>
            <a:spLocks xmlns:a="http://schemas.openxmlformats.org/drawingml/2006/main" noGrp="1"/>
          </p:cNvSpPr>
          <p:nvPr/>
        </p:nvSpPr>
        <p:spPr>
          <a:xfrm xmlns:a="http://schemas.openxmlformats.org/drawingml/2006/main">
            <a:off x="2148840" y="2395728"/>
            <a:ext cx="347472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0">
                <a:solidFill>
                  <a:srgbClr val="263445"/>
                </a:solidFill>
                <a:latin typeface="Aptos"/>
                <a:ea typeface="Aptos"/>
                <a:cs typeface="Aptos"/>
              </a:defRPr>
            </a:pPr>
            <a:r>
              <a:t>Albümin ortanca 3,5 ayda (0,6–4) normale döndü; izlem boyunca normal kaldı.</a:t>
            </a:r>
          </a:p>
        </p:txBody>
      </p:sp>
      <p:sp>
        <p:nvSpPr>
          <p:cNvPr id="11" name="TextBox 10">
            <a:extLst xmlns:a="http://schemas.openxmlformats.org/drawingml/2006/main">
              <a:ext uri="{FF2B5EF4-FFF2-40B4-BE49-F238E27FC236}">
                <a16:creationId xmlns:a16="http://schemas.microsoft.com/office/drawing/2014/main" id="{ABA45839-DAAE-4F32-93F8-3ECDBCEFFE6A}"/>
              </a:ext>
            </a:extLst>
          </p:cNvPr>
          <p:cNvSpPr>
            <a:spLocks xmlns:a="http://schemas.openxmlformats.org/drawingml/2006/main" noGrp="1"/>
          </p:cNvSpPr>
          <p:nvPr/>
        </p:nvSpPr>
        <p:spPr>
          <a:xfrm xmlns:a="http://schemas.openxmlformats.org/drawingml/2006/main">
            <a:off x="896112" y="3200400"/>
            <a:ext cx="1143000" cy="49377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900" b="1">
                <a:solidFill>
                  <a:srgbClr val="009196"/>
                </a:solidFill>
                <a:latin typeface="Aptos"/>
                <a:ea typeface="Aptos"/>
                <a:cs typeface="Aptos"/>
              </a:defRPr>
            </a:pPr>
            <a:r>
              <a:t>9/10</a:t>
            </a:r>
          </a:p>
        </p:txBody>
      </p:sp>
      <p:sp>
        <p:nvSpPr>
          <p:cNvPr id="12" name="TextBox 11">
            <a:extLst xmlns:a="http://schemas.openxmlformats.org/drawingml/2006/main">
              <a:ext uri="{FF2B5EF4-FFF2-40B4-BE49-F238E27FC236}">
                <a16:creationId xmlns:a16="http://schemas.microsoft.com/office/drawing/2014/main" id="{27AD274A-A802-4B58-9F8B-B5ECBC69EB42}"/>
              </a:ext>
            </a:extLst>
          </p:cNvPr>
          <p:cNvSpPr>
            <a:spLocks xmlns:a="http://schemas.openxmlformats.org/drawingml/2006/main" noGrp="1"/>
          </p:cNvSpPr>
          <p:nvPr/>
        </p:nvSpPr>
        <p:spPr>
          <a:xfrm xmlns:a="http://schemas.openxmlformats.org/drawingml/2006/main">
            <a:off x="2148840" y="3200400"/>
            <a:ext cx="3474720" cy="60350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0">
                <a:solidFill>
                  <a:srgbClr val="263445"/>
                </a:solidFill>
                <a:latin typeface="Aptos"/>
                <a:ea typeface="Aptos"/>
                <a:cs typeface="Aptos"/>
              </a:defRPr>
            </a:pPr>
            <a:r>
              <a:t>%90’ında medyan 1,8 yılda (1,3–2) normal diyete geçildi.</a:t>
            </a:r>
          </a:p>
        </p:txBody>
      </p:sp>
      <p:sp>
        <p:nvSpPr>
          <p:cNvPr id="13" name="TextBox 12">
            <a:extLst xmlns:a="http://schemas.openxmlformats.org/drawingml/2006/main">
              <a:ext uri="{FF2B5EF4-FFF2-40B4-BE49-F238E27FC236}">
                <a16:creationId xmlns:a16="http://schemas.microsoft.com/office/drawing/2014/main" id="{54CBF8A1-C42E-4FB5-B981-FD6ED6CDAA43}"/>
              </a:ext>
            </a:extLst>
          </p:cNvPr>
          <p:cNvSpPr>
            <a:spLocks xmlns:a="http://schemas.openxmlformats.org/drawingml/2006/main" noGrp="1"/>
          </p:cNvSpPr>
          <p:nvPr/>
        </p:nvSpPr>
        <p:spPr>
          <a:xfrm xmlns:a="http://schemas.openxmlformats.org/drawingml/2006/main">
            <a:off x="896112" y="4041648"/>
            <a:ext cx="4526280" cy="8046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0">
                <a:solidFill>
                  <a:srgbClr val="263445"/>
                </a:solidFill>
                <a:latin typeface="Aptos"/>
                <a:ea typeface="Aptos"/>
                <a:cs typeface="Aptos"/>
              </a:defRPr>
            </a:pPr>
            <a:r>
              <a:t>Nüks olmadı; medyan izlem 3,5 yıl. Son albümin: 45 g/L (38,5–46). Uzun süreli tam remisyon/iyileşme olarak değerlendirildi.</a:t>
            </a:r>
          </a:p>
        </p:txBody>
      </p:sp>
      <p:sp>
        <p:nvSpPr>
          <p:cNvPr id="14" name="TextBox 13">
            <a:extLst xmlns:a="http://schemas.openxmlformats.org/drawingml/2006/main">
              <a:ext uri="{FF2B5EF4-FFF2-40B4-BE49-F238E27FC236}">
                <a16:creationId xmlns:a16="http://schemas.microsoft.com/office/drawing/2014/main" id="{66B4998A-8B29-4906-860C-380616A69CB4}"/>
              </a:ext>
            </a:extLst>
          </p:cNvPr>
          <p:cNvSpPr>
            <a:spLocks xmlns:a="http://schemas.openxmlformats.org/drawingml/2006/main" noGrp="1"/>
          </p:cNvSpPr>
          <p:nvPr/>
        </p:nvSpPr>
        <p:spPr>
          <a:xfrm xmlns:a="http://schemas.openxmlformats.org/drawingml/2006/main">
            <a:off x="6492240" y="2395728"/>
            <a:ext cx="1234440" cy="49377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800" b="1">
                <a:solidFill>
                  <a:srgbClr val="12263F"/>
                </a:solidFill>
                <a:latin typeface="Aptos"/>
                <a:ea typeface="Aptos"/>
                <a:cs typeface="Aptos"/>
              </a:defRPr>
            </a:pPr>
            <a:r>
              <a:t>15 (%60)</a:t>
            </a:r>
          </a:p>
        </p:txBody>
      </p:sp>
      <p:sp>
        <p:nvSpPr>
          <p:cNvPr id="15" name="TextBox 14">
            <a:extLst xmlns:a="http://schemas.openxmlformats.org/drawingml/2006/main">
              <a:ext uri="{FF2B5EF4-FFF2-40B4-BE49-F238E27FC236}">
                <a16:creationId xmlns:a16="http://schemas.microsoft.com/office/drawing/2014/main" id="{210ADD47-0C7F-4983-9F6E-39966BDF4877}"/>
              </a:ext>
            </a:extLst>
          </p:cNvPr>
          <p:cNvSpPr>
            <a:spLocks xmlns:a="http://schemas.openxmlformats.org/drawingml/2006/main" noGrp="1"/>
          </p:cNvSpPr>
          <p:nvPr/>
        </p:nvSpPr>
        <p:spPr>
          <a:xfrm xmlns:a="http://schemas.openxmlformats.org/drawingml/2006/main">
            <a:off x="7818120" y="2395728"/>
            <a:ext cx="3401568"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0">
                <a:solidFill>
                  <a:srgbClr val="263445"/>
                </a:solidFill>
                <a:latin typeface="Aptos"/>
                <a:ea typeface="Aptos"/>
                <a:cs typeface="Aptos"/>
              </a:defRPr>
            </a:pPr>
            <a:r>
              <a:t>Albümin düşük kaldı; ek albümin infüzyonu gerekmedi.</a:t>
            </a:r>
          </a:p>
        </p:txBody>
      </p:sp>
      <p:sp>
        <p:nvSpPr>
          <p:cNvPr id="16" name="TextBox 15">
            <a:extLst xmlns:a="http://schemas.openxmlformats.org/drawingml/2006/main">
              <a:ext uri="{FF2B5EF4-FFF2-40B4-BE49-F238E27FC236}">
                <a16:creationId xmlns:a16="http://schemas.microsoft.com/office/drawing/2014/main" id="{3AECF542-E4CF-467A-8DD7-72C79F386240}"/>
              </a:ext>
            </a:extLst>
          </p:cNvPr>
          <p:cNvSpPr>
            <a:spLocks xmlns:a="http://schemas.openxmlformats.org/drawingml/2006/main" noGrp="1"/>
          </p:cNvSpPr>
          <p:nvPr/>
        </p:nvSpPr>
        <p:spPr>
          <a:xfrm xmlns:a="http://schemas.openxmlformats.org/drawingml/2006/main">
            <a:off x="6492240" y="3200400"/>
            <a:ext cx="1234440" cy="49377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900" b="1">
                <a:solidFill>
                  <a:srgbClr val="CE8F24"/>
                </a:solidFill>
                <a:latin typeface="Aptos"/>
                <a:ea typeface="Aptos"/>
                <a:cs typeface="Aptos"/>
              </a:defRPr>
            </a:pPr>
            <a:r>
              <a:t>5/15</a:t>
            </a:r>
          </a:p>
        </p:txBody>
      </p:sp>
      <p:sp>
        <p:nvSpPr>
          <p:cNvPr id="17" name="TextBox 16">
            <a:extLst xmlns:a="http://schemas.openxmlformats.org/drawingml/2006/main">
              <a:ext uri="{FF2B5EF4-FFF2-40B4-BE49-F238E27FC236}">
                <a16:creationId xmlns:a16="http://schemas.microsoft.com/office/drawing/2014/main" id="{00DC87CC-4F22-4A1F-AFC1-9828D1C961EE}"/>
              </a:ext>
            </a:extLst>
          </p:cNvPr>
          <p:cNvSpPr>
            <a:spLocks xmlns:a="http://schemas.openxmlformats.org/drawingml/2006/main" noGrp="1"/>
          </p:cNvSpPr>
          <p:nvPr/>
        </p:nvSpPr>
        <p:spPr>
          <a:xfrm xmlns:a="http://schemas.openxmlformats.org/drawingml/2006/main">
            <a:off x="7818120" y="3200400"/>
            <a:ext cx="3401568" cy="60350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0">
                <a:solidFill>
                  <a:srgbClr val="263445"/>
                </a:solidFill>
                <a:latin typeface="Aptos"/>
                <a:ea typeface="Aptos"/>
                <a:cs typeface="Aptos"/>
              </a:defRPr>
            </a:pPr>
            <a:r>
              <a:t>%33’ünde medyan 1 yılda (0,7–1,2) normal diyete geçildi.</a:t>
            </a:r>
          </a:p>
        </p:txBody>
      </p:sp>
      <p:sp>
        <p:nvSpPr>
          <p:cNvPr id="18" name="TextBox 17">
            <a:extLst xmlns:a="http://schemas.openxmlformats.org/drawingml/2006/main">
              <a:ext uri="{FF2B5EF4-FFF2-40B4-BE49-F238E27FC236}">
                <a16:creationId xmlns:a16="http://schemas.microsoft.com/office/drawing/2014/main" id="{26314BB2-28C8-4CBA-9E50-8F4D451224FF}"/>
              </a:ext>
            </a:extLst>
          </p:cNvPr>
          <p:cNvSpPr>
            <a:spLocks xmlns:a="http://schemas.openxmlformats.org/drawingml/2006/main" noGrp="1"/>
          </p:cNvSpPr>
          <p:nvPr/>
        </p:nvSpPr>
        <p:spPr>
          <a:xfrm xmlns:a="http://schemas.openxmlformats.org/drawingml/2006/main">
            <a:off x="6492240" y="4041648"/>
            <a:ext cx="4526280" cy="8046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0">
                <a:solidFill>
                  <a:srgbClr val="263445"/>
                </a:solidFill>
                <a:latin typeface="Aptos"/>
                <a:ea typeface="Aptos"/>
                <a:cs typeface="Aptos"/>
              </a:defRPr>
            </a:pPr>
            <a:r>
              <a:t>Nüks olmadı; albümin 28–34,5 g/L aralığında stabil kaldı. Medyan izlem 9 yıl (2,5–10).</a:t>
            </a:r>
          </a:p>
        </p:txBody>
      </p:sp>
      <p:sp>
        <p:nvSpPr>
          <p:cNvPr id="19" name="Rounded Rectangle 18">
            <a:extLst xmlns:a="http://schemas.openxmlformats.org/drawingml/2006/main">
              <a:ext uri="{FF2B5EF4-FFF2-40B4-BE49-F238E27FC236}">
                <a16:creationId xmlns:a16="http://schemas.microsoft.com/office/drawing/2014/main" id="{644688A0-7C25-469E-BA90-310F2115EEC3}"/>
              </a:ext>
            </a:extLst>
          </p:cNvPr>
          <p:cNvSpPr>
            <a:spLocks xmlns:a="http://schemas.openxmlformats.org/drawingml/2006/main" noGrp="1"/>
          </p:cNvSpPr>
          <p:nvPr/>
        </p:nvSpPr>
        <p:spPr>
          <a:xfrm xmlns:a="http://schemas.openxmlformats.org/drawingml/2006/main">
            <a:off x="1325880" y="5440680"/>
            <a:ext cx="9555480" cy="484632"/>
          </a:xfrm>
          <a:prstGeom xmlns:a="http://schemas.openxmlformats.org/drawingml/2006/main" prst="roundRect">
            <a:avLst/>
          </a:prstGeom>
          <a:solidFill xmlns:a="http://schemas.openxmlformats.org/drawingml/2006/main">
            <a:srgbClr val="12263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FB1258D0-DA0D-4CB5-8654-57F4F1BF0A28}"/>
              </a:ext>
            </a:extLst>
          </p:cNvPr>
          <p:cNvSpPr>
            <a:spLocks xmlns:a="http://schemas.openxmlformats.org/drawingml/2006/main" noGrp="1"/>
          </p:cNvSpPr>
          <p:nvPr/>
        </p:nvSpPr>
        <p:spPr>
          <a:xfrm xmlns:a="http://schemas.openxmlformats.org/drawingml/2006/main">
            <a:off x="1536192" y="553212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FFFFFF"/>
                </a:solidFill>
                <a:latin typeface="Aptos"/>
                <a:ea typeface="Aptos"/>
                <a:cs typeface="Aptos"/>
              </a:defRPr>
            </a:pPr>
            <a:r>
              <a:t>Çalışma sonunda kohortun %50’si (n = 17) normal diyet tüketiyordu.</a:t>
            </a:r>
          </a:p>
        </p:txBody>
      </p:sp>
      <p:sp xmlns:a="http://schemas.openxmlformats.org/drawingml/2006/main">
        <p:nvSpPr>
          <p:cNvPr id="21" name="Inceleme notu"/>
          <p:cNvSpPr txBox="1"/>
          <p:nvPr/>
        </p:nvSpPr>
        <p:spPr>
          <a:xfrm>
            <a:off x="150000" y="6628976"/>
            <a:ext cx="11891695" cy="204024"/>
          </a:xfrm>
          <a:prstGeom prst="rect">
            <a:avLst/>
          </a:prstGeom>
          <a:solidFill>
            <a:srgbClr val="FFF4CC"/>
          </a:solidFill>
          <a:ln w="9525">
            <a:solidFill>
              <a:srgbClr val="C99A00"/>
            </a:solidFill>
          </a:ln>
        </p:spPr>
        <p:txBody>
          <a:bodyPr wrap="square" anchor="ctr" tIns="27432" bIns="27432">
            <a:spAutoFit/>
          </a:bodyPr>
          <a:lstStyle/>
          <a:p>
            <a:r>
              <a:rPr b="1" sz="900">
                <a:solidFill>
                  <a:srgbClr val="A61B1B"/>
                </a:solidFill>
              </a:rPr>
              <a:t>İnceleme notu: </a:t>
            </a:r>
            <a:r>
              <a:rPr sz="900">
                <a:solidFill>
                  <a:srgbClr val="1F1F1F"/>
                </a:solidFill>
              </a:rPr>
              <a:t>“Ortanca” ve “medyan” birlikte kullanılmış; birini seçin. İzlem süreleri gruplar arasında farklı: tam yanıt 3,5 yıl, kısmi yanıt 9 yıl.</a:t>
            </a:r>
          </a:p>
        </p:txBody>
      </p:sp>
    </p:spTree>
    <p:extLst>
      <p:ext uri="{BB962C8B-B14F-4D97-AF65-F5344CB8AC3E}">
        <p14:creationId xmlns:p14="http://schemas.microsoft.com/office/powerpoint/2010/main" val="3780418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A1A130F-DD3E-4732-890D-FC003648BFC6}"/>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00919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781111BE-5A87-4B6E-B8BD-3725D8125AEE}"/>
              </a:ext>
            </a:extLst>
          </p:cNvPr>
          <p:cNvSpPr>
            <a:spLocks xmlns:a="http://schemas.openxmlformats.org/drawingml/2006/main" noGrp="1"/>
          </p:cNvSpPr>
          <p:nvPr/>
        </p:nvSpPr>
        <p:spPr>
          <a:xfrm xmlns:a="http://schemas.openxmlformats.org/drawingml/2006/main">
            <a:off x="658368" y="384048"/>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400" b="1">
                <a:solidFill>
                  <a:srgbClr val="12263F"/>
                </a:solidFill>
                <a:latin typeface="Aptos"/>
                <a:ea typeface="Aptos"/>
                <a:cs typeface="Aptos"/>
              </a:defRPr>
            </a:pPr>
            <a:r>
              <a:t>TAM VE KISMİ YANIT: TANI ANINDAKİ FARKLAR</a:t>
            </a:r>
          </a:p>
        </p:txBody>
      </p:sp>
      <p:sp>
        <p:nvSpPr>
          <p:cNvPr id="4" name="TextBox 3">
            <a:extLst xmlns:a="http://schemas.openxmlformats.org/drawingml/2006/main">
              <a:ext uri="{FF2B5EF4-FFF2-40B4-BE49-F238E27FC236}">
                <a16:creationId xmlns:a16="http://schemas.microsoft.com/office/drawing/2014/main" id="{95C201F9-EEEA-4C7A-AFAA-B33442DBB931}"/>
              </a:ext>
            </a:extLst>
          </p:cNvPr>
          <p:cNvSpPr>
            <a:spLocks xmlns:a="http://schemas.openxmlformats.org/drawingml/2006/main" noGrp="1"/>
          </p:cNvSpPr>
          <p:nvPr/>
        </p:nvSpPr>
        <p:spPr>
          <a:xfrm xmlns:a="http://schemas.openxmlformats.org/drawingml/2006/main">
            <a:off x="676656" y="987552"/>
            <a:ext cx="1088136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667584"/>
                </a:solidFill>
                <a:latin typeface="Aptos"/>
                <a:ea typeface="Aptos"/>
                <a:cs typeface="Aptos"/>
              </a:defRPr>
            </a:pPr>
            <a:r>
              <a:t>Anlamlı farklar ve anlamlı olmayan değişkenler (Tablo 3)</a:t>
            </a:r>
          </a:p>
        </p:txBody>
      </p:sp>
      <p:sp>
        <p:nvSpPr>
          <p:cNvPr id="5" name="Rectangle 4">
            <a:extLst xmlns:a="http://schemas.openxmlformats.org/drawingml/2006/main">
              <a:ext uri="{FF2B5EF4-FFF2-40B4-BE49-F238E27FC236}">
                <a16:creationId xmlns:a16="http://schemas.microsoft.com/office/drawing/2014/main" id="{70E9A366-5637-4B30-9CB0-E0BC33935459}"/>
              </a:ext>
            </a:extLst>
          </p:cNvPr>
          <p:cNvSpPr>
            <a:spLocks xmlns:a="http://schemas.openxmlformats.org/drawingml/2006/main" noGrp="1"/>
          </p:cNvSpPr>
          <p:nvPr/>
        </p:nvSpPr>
        <p:spPr>
          <a:xfrm xmlns:a="http://schemas.openxmlformats.org/drawingml/2006/main">
            <a:off x="685800" y="1572768"/>
            <a:ext cx="3931920" cy="603504"/>
          </a:xfrm>
          <a:prstGeom xmlns:a="http://schemas.openxmlformats.org/drawingml/2006/main" prst="rect">
            <a:avLst/>
          </a:prstGeom>
          <a:solidFill xmlns:a="http://schemas.openxmlformats.org/drawingml/2006/main">
            <a:srgbClr val="12263F"/>
          </a:solidFill>
          <a:ln xmlns:a="http://schemas.openxmlformats.org/drawingml/2006/main">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2F9FF900-32B8-4B59-A558-DF22BCB20C1F}"/>
              </a:ext>
            </a:extLst>
          </p:cNvPr>
          <p:cNvSpPr>
            <a:spLocks xmlns:a="http://schemas.openxmlformats.org/drawingml/2006/main" noGrp="1"/>
          </p:cNvSpPr>
          <p:nvPr/>
        </p:nvSpPr>
        <p:spPr>
          <a:xfrm xmlns:a="http://schemas.openxmlformats.org/drawingml/2006/main">
            <a:off x="758952" y="1645920"/>
            <a:ext cx="3785615"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1">
                <a:solidFill>
                  <a:srgbClr val="FFFFFF"/>
                </a:solidFill>
                <a:latin typeface="Aptos"/>
                <a:ea typeface="Aptos"/>
                <a:cs typeface="Aptos"/>
              </a:defRPr>
            </a:pPr>
            <a:r>
              <a:t>Özellik</a:t>
            </a:r>
          </a:p>
        </p:txBody>
      </p:sp>
      <p:sp>
        <p:nvSpPr>
          <p:cNvPr id="7" name="Rectangle 6">
            <a:extLst xmlns:a="http://schemas.openxmlformats.org/drawingml/2006/main">
              <a:ext uri="{FF2B5EF4-FFF2-40B4-BE49-F238E27FC236}">
                <a16:creationId xmlns:a16="http://schemas.microsoft.com/office/drawing/2014/main" id="{A87C1CBB-A69A-4FB5-A963-3F32B8D83C32}"/>
              </a:ext>
            </a:extLst>
          </p:cNvPr>
          <p:cNvSpPr>
            <a:spLocks xmlns:a="http://schemas.openxmlformats.org/drawingml/2006/main" noGrp="1"/>
          </p:cNvSpPr>
          <p:nvPr/>
        </p:nvSpPr>
        <p:spPr>
          <a:xfrm xmlns:a="http://schemas.openxmlformats.org/drawingml/2006/main">
            <a:off x="4617720" y="1572768"/>
            <a:ext cx="2148840" cy="603504"/>
          </a:xfrm>
          <a:prstGeom xmlns:a="http://schemas.openxmlformats.org/drawingml/2006/main" prst="rect">
            <a:avLst/>
          </a:prstGeom>
          <a:solidFill xmlns:a="http://schemas.openxmlformats.org/drawingml/2006/main">
            <a:srgbClr val="12263F"/>
          </a:solidFill>
          <a:ln xmlns:a="http://schemas.openxmlformats.org/drawingml/2006/main">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AC8C209E-E60B-4B58-8B8F-E8C2380D2772}"/>
              </a:ext>
            </a:extLst>
          </p:cNvPr>
          <p:cNvSpPr>
            <a:spLocks xmlns:a="http://schemas.openxmlformats.org/drawingml/2006/main" noGrp="1"/>
          </p:cNvSpPr>
          <p:nvPr/>
        </p:nvSpPr>
        <p:spPr>
          <a:xfrm xmlns:a="http://schemas.openxmlformats.org/drawingml/2006/main">
            <a:off x="4690872" y="1645920"/>
            <a:ext cx="2002536"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1">
                <a:solidFill>
                  <a:srgbClr val="FFFFFF"/>
                </a:solidFill>
                <a:latin typeface="Aptos"/>
                <a:ea typeface="Aptos"/>
                <a:cs typeface="Aptos"/>
              </a:defRPr>
            </a:pPr>
            <a:r>
              <a:t>Tam yanıt</a:t>
            </a:r>
            <a:br/>
            <a:r>
              <a:t>(n = 10)</a:t>
            </a:r>
          </a:p>
        </p:txBody>
      </p:sp>
      <p:sp>
        <p:nvSpPr>
          <p:cNvPr id="9" name="Rectangle 8">
            <a:extLst xmlns:a="http://schemas.openxmlformats.org/drawingml/2006/main">
              <a:ext uri="{FF2B5EF4-FFF2-40B4-BE49-F238E27FC236}">
                <a16:creationId xmlns:a16="http://schemas.microsoft.com/office/drawing/2014/main" id="{B12F0C2C-A7D7-4F40-8C17-02505284995B}"/>
              </a:ext>
            </a:extLst>
          </p:cNvPr>
          <p:cNvSpPr>
            <a:spLocks xmlns:a="http://schemas.openxmlformats.org/drawingml/2006/main" noGrp="1"/>
          </p:cNvSpPr>
          <p:nvPr/>
        </p:nvSpPr>
        <p:spPr>
          <a:xfrm xmlns:a="http://schemas.openxmlformats.org/drawingml/2006/main">
            <a:off x="6766560" y="1572768"/>
            <a:ext cx="2148840" cy="603504"/>
          </a:xfrm>
          <a:prstGeom xmlns:a="http://schemas.openxmlformats.org/drawingml/2006/main" prst="rect">
            <a:avLst/>
          </a:prstGeom>
          <a:solidFill xmlns:a="http://schemas.openxmlformats.org/drawingml/2006/main">
            <a:srgbClr val="12263F"/>
          </a:solidFill>
          <a:ln xmlns:a="http://schemas.openxmlformats.org/drawingml/2006/main">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EA8BAD55-C15A-4738-9E29-5765B8A6859C}"/>
              </a:ext>
            </a:extLst>
          </p:cNvPr>
          <p:cNvSpPr>
            <a:spLocks xmlns:a="http://schemas.openxmlformats.org/drawingml/2006/main" noGrp="1"/>
          </p:cNvSpPr>
          <p:nvPr/>
        </p:nvSpPr>
        <p:spPr>
          <a:xfrm xmlns:a="http://schemas.openxmlformats.org/drawingml/2006/main">
            <a:off x="6839712" y="1645920"/>
            <a:ext cx="2002536"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1">
                <a:solidFill>
                  <a:srgbClr val="FFFFFF"/>
                </a:solidFill>
                <a:latin typeface="Aptos"/>
                <a:ea typeface="Aptos"/>
                <a:cs typeface="Aptos"/>
              </a:defRPr>
            </a:pPr>
            <a:r>
              <a:t>Kısmi yanıt</a:t>
            </a:r>
            <a:br/>
            <a:r>
              <a:t>(n = 15)</a:t>
            </a:r>
          </a:p>
        </p:txBody>
      </p:sp>
      <p:sp>
        <p:nvSpPr>
          <p:cNvPr id="11" name="Rectangle 10">
            <a:extLst xmlns:a="http://schemas.openxmlformats.org/drawingml/2006/main">
              <a:ext uri="{FF2B5EF4-FFF2-40B4-BE49-F238E27FC236}">
                <a16:creationId xmlns:a16="http://schemas.microsoft.com/office/drawing/2014/main" id="{7C44A2B2-7D48-4432-A544-A32B1A13B4FF}"/>
              </a:ext>
            </a:extLst>
          </p:cNvPr>
          <p:cNvSpPr>
            <a:spLocks xmlns:a="http://schemas.openxmlformats.org/drawingml/2006/main" noGrp="1"/>
          </p:cNvSpPr>
          <p:nvPr/>
        </p:nvSpPr>
        <p:spPr>
          <a:xfrm xmlns:a="http://schemas.openxmlformats.org/drawingml/2006/main">
            <a:off x="8915400" y="1572768"/>
            <a:ext cx="1417320" cy="603504"/>
          </a:xfrm>
          <a:prstGeom xmlns:a="http://schemas.openxmlformats.org/drawingml/2006/main" prst="rect">
            <a:avLst/>
          </a:prstGeom>
          <a:solidFill xmlns:a="http://schemas.openxmlformats.org/drawingml/2006/main">
            <a:srgbClr val="12263F"/>
          </a:solidFill>
          <a:ln xmlns:a="http://schemas.openxmlformats.org/drawingml/2006/main">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FEF73617-E599-4821-BD0A-FDBC09219E79}"/>
              </a:ext>
            </a:extLst>
          </p:cNvPr>
          <p:cNvSpPr>
            <a:spLocks xmlns:a="http://schemas.openxmlformats.org/drawingml/2006/main" noGrp="1"/>
          </p:cNvSpPr>
          <p:nvPr/>
        </p:nvSpPr>
        <p:spPr>
          <a:xfrm xmlns:a="http://schemas.openxmlformats.org/drawingml/2006/main">
            <a:off x="8988552" y="1645920"/>
            <a:ext cx="1271016"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1">
                <a:solidFill>
                  <a:srgbClr val="FFFFFF"/>
                </a:solidFill>
                <a:latin typeface="Aptos"/>
                <a:ea typeface="Aptos"/>
                <a:cs typeface="Aptos"/>
              </a:defRPr>
            </a:pPr>
            <a:r>
              <a:t>p değeri</a:t>
            </a:r>
          </a:p>
        </p:txBody>
      </p:sp>
      <p:sp>
        <p:nvSpPr>
          <p:cNvPr id="13" name="Rectangle 12">
            <a:extLst xmlns:a="http://schemas.openxmlformats.org/drawingml/2006/main">
              <a:ext uri="{FF2B5EF4-FFF2-40B4-BE49-F238E27FC236}">
                <a16:creationId xmlns:a16="http://schemas.microsoft.com/office/drawing/2014/main" id="{76CCCFDE-9D1B-49F2-9F9A-2427CEA310BD}"/>
              </a:ext>
            </a:extLst>
          </p:cNvPr>
          <p:cNvSpPr>
            <a:spLocks xmlns:a="http://schemas.openxmlformats.org/drawingml/2006/main" noGrp="1"/>
          </p:cNvSpPr>
          <p:nvPr/>
        </p:nvSpPr>
        <p:spPr>
          <a:xfrm xmlns:a="http://schemas.openxmlformats.org/drawingml/2006/main">
            <a:off x="10332720" y="1572768"/>
            <a:ext cx="1005840" cy="603504"/>
          </a:xfrm>
          <a:prstGeom xmlns:a="http://schemas.openxmlformats.org/drawingml/2006/main" prst="rect">
            <a:avLst/>
          </a:prstGeom>
          <a:solidFill xmlns:a="http://schemas.openxmlformats.org/drawingml/2006/main">
            <a:srgbClr val="12263F"/>
          </a:solidFill>
          <a:ln xmlns:a="http://schemas.openxmlformats.org/drawingml/2006/main">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DBDE7310-B16D-4486-8CF9-115023899D3C}"/>
              </a:ext>
            </a:extLst>
          </p:cNvPr>
          <p:cNvSpPr>
            <a:spLocks xmlns:a="http://schemas.openxmlformats.org/drawingml/2006/main" noGrp="1"/>
          </p:cNvSpPr>
          <p:nvPr/>
        </p:nvSpPr>
        <p:spPr>
          <a:xfrm xmlns:a="http://schemas.openxmlformats.org/drawingml/2006/main">
            <a:off x="10405872" y="1645920"/>
            <a:ext cx="859536"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1">
                <a:solidFill>
                  <a:srgbClr val="FFFFFF"/>
                </a:solidFill>
                <a:latin typeface="Aptos"/>
                <a:ea typeface="Aptos"/>
                <a:cs typeface="Aptos"/>
              </a:defRPr>
            </a:pPr>
            <a:r>
              <a:t>Yorum</a:t>
            </a:r>
          </a:p>
        </p:txBody>
      </p:sp>
      <p:sp>
        <p:nvSpPr>
          <p:cNvPr id="15" name="Rectangle 14">
            <a:extLst xmlns:a="http://schemas.openxmlformats.org/drawingml/2006/main">
              <a:ext uri="{FF2B5EF4-FFF2-40B4-BE49-F238E27FC236}">
                <a16:creationId xmlns:a16="http://schemas.microsoft.com/office/drawing/2014/main" id="{768ACA80-B60B-4A3B-A05E-7304E80A3467}"/>
              </a:ext>
            </a:extLst>
          </p:cNvPr>
          <p:cNvSpPr>
            <a:spLocks xmlns:a="http://schemas.openxmlformats.org/drawingml/2006/main" noGrp="1"/>
          </p:cNvSpPr>
          <p:nvPr/>
        </p:nvSpPr>
        <p:spPr>
          <a:xfrm xmlns:a="http://schemas.openxmlformats.org/drawingml/2006/main">
            <a:off x="685800" y="2176272"/>
            <a:ext cx="3931920" cy="402336"/>
          </a:xfrm>
          <a:prstGeom xmlns:a="http://schemas.openxmlformats.org/drawingml/2006/main" prst="rect">
            <a:avLst/>
          </a:prstGeom>
          <a:solidFill xmlns:a="http://schemas.openxmlformats.org/drawingml/2006/main">
            <a:srgbClr val="E5F3F1"/>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5EC65BC5-D48B-41AE-A3B9-8A287BC6580E}"/>
              </a:ext>
            </a:extLst>
          </p:cNvPr>
          <p:cNvSpPr>
            <a:spLocks xmlns:a="http://schemas.openxmlformats.org/drawingml/2006/main" noGrp="1"/>
          </p:cNvSpPr>
          <p:nvPr/>
        </p:nvSpPr>
        <p:spPr>
          <a:xfrm xmlns:a="http://schemas.openxmlformats.org/drawingml/2006/main">
            <a:off x="749808" y="2240279"/>
            <a:ext cx="380390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1">
                <a:solidFill>
                  <a:srgbClr val="263445"/>
                </a:solidFill>
                <a:latin typeface="Aptos"/>
                <a:ea typeface="Aptos"/>
                <a:cs typeface="Aptos"/>
              </a:defRPr>
            </a:pPr>
            <a:r>
              <a:t>Lenfödem</a:t>
            </a:r>
          </a:p>
        </p:txBody>
      </p:sp>
      <p:sp>
        <p:nvSpPr>
          <p:cNvPr id="17" name="Rectangle 16">
            <a:extLst xmlns:a="http://schemas.openxmlformats.org/drawingml/2006/main">
              <a:ext uri="{FF2B5EF4-FFF2-40B4-BE49-F238E27FC236}">
                <a16:creationId xmlns:a16="http://schemas.microsoft.com/office/drawing/2014/main" id="{64949887-AFBA-4C83-897C-C68010E2C132}"/>
              </a:ext>
            </a:extLst>
          </p:cNvPr>
          <p:cNvSpPr>
            <a:spLocks xmlns:a="http://schemas.openxmlformats.org/drawingml/2006/main" noGrp="1"/>
          </p:cNvSpPr>
          <p:nvPr/>
        </p:nvSpPr>
        <p:spPr>
          <a:xfrm xmlns:a="http://schemas.openxmlformats.org/drawingml/2006/main">
            <a:off x="4617720" y="2176272"/>
            <a:ext cx="2148840" cy="402336"/>
          </a:xfrm>
          <a:prstGeom xmlns:a="http://schemas.openxmlformats.org/drawingml/2006/main" prst="rect">
            <a:avLst/>
          </a:prstGeom>
          <a:solidFill xmlns:a="http://schemas.openxmlformats.org/drawingml/2006/main">
            <a:srgbClr val="E5F3F1"/>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8A1B1702-ABDB-4509-82EC-9605058957F5}"/>
              </a:ext>
            </a:extLst>
          </p:cNvPr>
          <p:cNvSpPr>
            <a:spLocks xmlns:a="http://schemas.openxmlformats.org/drawingml/2006/main" noGrp="1"/>
          </p:cNvSpPr>
          <p:nvPr/>
        </p:nvSpPr>
        <p:spPr>
          <a:xfrm xmlns:a="http://schemas.openxmlformats.org/drawingml/2006/main">
            <a:off x="4681728" y="2240279"/>
            <a:ext cx="2020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1">
                <a:solidFill>
                  <a:srgbClr val="263445"/>
                </a:solidFill>
                <a:latin typeface="Aptos"/>
                <a:ea typeface="Aptos"/>
                <a:cs typeface="Aptos"/>
              </a:defRPr>
            </a:pPr>
            <a:r>
              <a:t>0 (%0)</a:t>
            </a:r>
          </a:p>
        </p:txBody>
      </p:sp>
      <p:sp>
        <p:nvSpPr>
          <p:cNvPr id="19" name="Rectangle 18">
            <a:extLst xmlns:a="http://schemas.openxmlformats.org/drawingml/2006/main">
              <a:ext uri="{FF2B5EF4-FFF2-40B4-BE49-F238E27FC236}">
                <a16:creationId xmlns:a16="http://schemas.microsoft.com/office/drawing/2014/main" id="{06C18BDB-764B-463B-A9C5-C7EBAF7ECEDB}"/>
              </a:ext>
            </a:extLst>
          </p:cNvPr>
          <p:cNvSpPr>
            <a:spLocks xmlns:a="http://schemas.openxmlformats.org/drawingml/2006/main" noGrp="1"/>
          </p:cNvSpPr>
          <p:nvPr/>
        </p:nvSpPr>
        <p:spPr>
          <a:xfrm xmlns:a="http://schemas.openxmlformats.org/drawingml/2006/main">
            <a:off x="6766560" y="2176272"/>
            <a:ext cx="2148840" cy="402336"/>
          </a:xfrm>
          <a:prstGeom xmlns:a="http://schemas.openxmlformats.org/drawingml/2006/main" prst="rect">
            <a:avLst/>
          </a:prstGeom>
          <a:solidFill xmlns:a="http://schemas.openxmlformats.org/drawingml/2006/main">
            <a:srgbClr val="E5F3F1"/>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10CBF883-125A-4BD1-B565-D2AB63327E60}"/>
              </a:ext>
            </a:extLst>
          </p:cNvPr>
          <p:cNvSpPr>
            <a:spLocks xmlns:a="http://schemas.openxmlformats.org/drawingml/2006/main" noGrp="1"/>
          </p:cNvSpPr>
          <p:nvPr/>
        </p:nvSpPr>
        <p:spPr>
          <a:xfrm xmlns:a="http://schemas.openxmlformats.org/drawingml/2006/main">
            <a:off x="6830568" y="2240279"/>
            <a:ext cx="2020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1">
                <a:solidFill>
                  <a:srgbClr val="263445"/>
                </a:solidFill>
                <a:latin typeface="Aptos"/>
                <a:ea typeface="Aptos"/>
                <a:cs typeface="Aptos"/>
              </a:defRPr>
            </a:pPr>
            <a:r>
              <a:t>6 (%40)</a:t>
            </a:r>
          </a:p>
        </p:txBody>
      </p:sp>
      <p:sp>
        <p:nvSpPr>
          <p:cNvPr id="21" name="Rectangle 20">
            <a:extLst xmlns:a="http://schemas.openxmlformats.org/drawingml/2006/main">
              <a:ext uri="{FF2B5EF4-FFF2-40B4-BE49-F238E27FC236}">
                <a16:creationId xmlns:a16="http://schemas.microsoft.com/office/drawing/2014/main" id="{3534C8CF-90E3-46F3-8E18-3441F7A65A18}"/>
              </a:ext>
            </a:extLst>
          </p:cNvPr>
          <p:cNvSpPr>
            <a:spLocks xmlns:a="http://schemas.openxmlformats.org/drawingml/2006/main" noGrp="1"/>
          </p:cNvSpPr>
          <p:nvPr/>
        </p:nvSpPr>
        <p:spPr>
          <a:xfrm xmlns:a="http://schemas.openxmlformats.org/drawingml/2006/main">
            <a:off x="8915400" y="2176272"/>
            <a:ext cx="1417320" cy="402336"/>
          </a:xfrm>
          <a:prstGeom xmlns:a="http://schemas.openxmlformats.org/drawingml/2006/main" prst="rect">
            <a:avLst/>
          </a:prstGeom>
          <a:solidFill xmlns:a="http://schemas.openxmlformats.org/drawingml/2006/main">
            <a:srgbClr val="E5F3F1"/>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C695769A-14BB-4451-B05E-429336AAB684}"/>
              </a:ext>
            </a:extLst>
          </p:cNvPr>
          <p:cNvSpPr>
            <a:spLocks xmlns:a="http://schemas.openxmlformats.org/drawingml/2006/main" noGrp="1"/>
          </p:cNvSpPr>
          <p:nvPr/>
        </p:nvSpPr>
        <p:spPr>
          <a:xfrm xmlns:a="http://schemas.openxmlformats.org/drawingml/2006/main">
            <a:off x="8979408" y="2240279"/>
            <a:ext cx="128930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1">
                <a:solidFill>
                  <a:srgbClr val="263445"/>
                </a:solidFill>
                <a:latin typeface="Aptos"/>
                <a:ea typeface="Aptos"/>
                <a:cs typeface="Aptos"/>
              </a:defRPr>
            </a:pPr>
            <a:r>
              <a:t>0,022</a:t>
            </a:r>
          </a:p>
        </p:txBody>
      </p:sp>
      <p:sp>
        <p:nvSpPr>
          <p:cNvPr id="23" name="Rectangle 22">
            <a:extLst xmlns:a="http://schemas.openxmlformats.org/drawingml/2006/main">
              <a:ext uri="{FF2B5EF4-FFF2-40B4-BE49-F238E27FC236}">
                <a16:creationId xmlns:a16="http://schemas.microsoft.com/office/drawing/2014/main" id="{6AFDE0CF-C204-4BA1-BE07-D81C0A2534FF}"/>
              </a:ext>
            </a:extLst>
          </p:cNvPr>
          <p:cNvSpPr>
            <a:spLocks xmlns:a="http://schemas.openxmlformats.org/drawingml/2006/main" noGrp="1"/>
          </p:cNvSpPr>
          <p:nvPr/>
        </p:nvSpPr>
        <p:spPr>
          <a:xfrm xmlns:a="http://schemas.openxmlformats.org/drawingml/2006/main">
            <a:off x="10332720" y="2176272"/>
            <a:ext cx="1005840" cy="402336"/>
          </a:xfrm>
          <a:prstGeom xmlns:a="http://schemas.openxmlformats.org/drawingml/2006/main" prst="rect">
            <a:avLst/>
          </a:prstGeom>
          <a:solidFill xmlns:a="http://schemas.openxmlformats.org/drawingml/2006/main">
            <a:srgbClr val="E5F3F1"/>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80233732-5B14-4ED2-B2EF-68466ADA3A7B}"/>
              </a:ext>
            </a:extLst>
          </p:cNvPr>
          <p:cNvSpPr>
            <a:spLocks xmlns:a="http://schemas.openxmlformats.org/drawingml/2006/main" noGrp="1"/>
          </p:cNvSpPr>
          <p:nvPr/>
        </p:nvSpPr>
        <p:spPr>
          <a:xfrm xmlns:a="http://schemas.openxmlformats.org/drawingml/2006/main">
            <a:off x="10396728" y="2240279"/>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1">
                <a:solidFill>
                  <a:srgbClr val="009196"/>
                </a:solidFill>
                <a:latin typeface="Aptos"/>
                <a:ea typeface="Aptos"/>
                <a:cs typeface="Aptos"/>
              </a:defRPr>
            </a:pPr>
            <a:r>
              <a:t>Anlamlı</a:t>
            </a:r>
          </a:p>
        </p:txBody>
      </p:sp>
      <p:sp>
        <p:nvSpPr>
          <p:cNvPr id="25" name="Rectangle 24">
            <a:extLst xmlns:a="http://schemas.openxmlformats.org/drawingml/2006/main">
              <a:ext uri="{FF2B5EF4-FFF2-40B4-BE49-F238E27FC236}">
                <a16:creationId xmlns:a16="http://schemas.microsoft.com/office/drawing/2014/main" id="{555EC234-6A4E-4531-9134-8D72B34C561F}"/>
              </a:ext>
            </a:extLst>
          </p:cNvPr>
          <p:cNvSpPr>
            <a:spLocks xmlns:a="http://schemas.openxmlformats.org/drawingml/2006/main" noGrp="1"/>
          </p:cNvSpPr>
          <p:nvPr/>
        </p:nvSpPr>
        <p:spPr>
          <a:xfrm xmlns:a="http://schemas.openxmlformats.org/drawingml/2006/main">
            <a:off x="685800" y="2578608"/>
            <a:ext cx="3931920" cy="402336"/>
          </a:xfrm>
          <a:prstGeom xmlns:a="http://schemas.openxmlformats.org/drawingml/2006/main" prst="rect">
            <a:avLst/>
          </a:prstGeom>
          <a:solidFill xmlns:a="http://schemas.openxmlformats.org/drawingml/2006/main">
            <a:srgbClr val="E5F3F1"/>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AFA5627A-5142-4AB1-9BB9-545E823E5D30}"/>
              </a:ext>
            </a:extLst>
          </p:cNvPr>
          <p:cNvSpPr>
            <a:spLocks xmlns:a="http://schemas.openxmlformats.org/drawingml/2006/main" noGrp="1"/>
          </p:cNvSpPr>
          <p:nvPr/>
        </p:nvSpPr>
        <p:spPr>
          <a:xfrm xmlns:a="http://schemas.openxmlformats.org/drawingml/2006/main">
            <a:off x="749808" y="2642615"/>
            <a:ext cx="380390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1">
                <a:solidFill>
                  <a:srgbClr val="263445"/>
                </a:solidFill>
                <a:latin typeface="Aptos"/>
                <a:ea typeface="Aptos"/>
                <a:cs typeface="Aptos"/>
              </a:defRPr>
            </a:pPr>
            <a:r>
              <a:t>Genetik varyant</a:t>
            </a:r>
          </a:p>
        </p:txBody>
      </p:sp>
      <p:sp>
        <p:nvSpPr>
          <p:cNvPr id="27" name="Rectangle 26">
            <a:extLst xmlns:a="http://schemas.openxmlformats.org/drawingml/2006/main">
              <a:ext uri="{FF2B5EF4-FFF2-40B4-BE49-F238E27FC236}">
                <a16:creationId xmlns:a16="http://schemas.microsoft.com/office/drawing/2014/main" id="{BCFC3B78-70FB-48E3-8C84-EC5F78CF6C2F}"/>
              </a:ext>
            </a:extLst>
          </p:cNvPr>
          <p:cNvSpPr>
            <a:spLocks xmlns:a="http://schemas.openxmlformats.org/drawingml/2006/main" noGrp="1"/>
          </p:cNvSpPr>
          <p:nvPr/>
        </p:nvSpPr>
        <p:spPr>
          <a:xfrm xmlns:a="http://schemas.openxmlformats.org/drawingml/2006/main">
            <a:off x="4617720" y="2578608"/>
            <a:ext cx="2148840" cy="402336"/>
          </a:xfrm>
          <a:prstGeom xmlns:a="http://schemas.openxmlformats.org/drawingml/2006/main" prst="rect">
            <a:avLst/>
          </a:prstGeom>
          <a:solidFill xmlns:a="http://schemas.openxmlformats.org/drawingml/2006/main">
            <a:srgbClr val="E5F3F1"/>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CFCE1F41-36DC-4450-9B64-EF346325AE2A}"/>
              </a:ext>
            </a:extLst>
          </p:cNvPr>
          <p:cNvSpPr>
            <a:spLocks xmlns:a="http://schemas.openxmlformats.org/drawingml/2006/main" noGrp="1"/>
          </p:cNvSpPr>
          <p:nvPr/>
        </p:nvSpPr>
        <p:spPr>
          <a:xfrm xmlns:a="http://schemas.openxmlformats.org/drawingml/2006/main">
            <a:off x="4681728" y="2642615"/>
            <a:ext cx="2020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1">
                <a:solidFill>
                  <a:srgbClr val="263445"/>
                </a:solidFill>
                <a:latin typeface="Aptos"/>
                <a:ea typeface="Aptos"/>
                <a:cs typeface="Aptos"/>
              </a:defRPr>
            </a:pPr>
            <a:r>
              <a:t>0 (%0)</a:t>
            </a:r>
          </a:p>
        </p:txBody>
      </p:sp>
      <p:sp>
        <p:nvSpPr>
          <p:cNvPr id="29" name="Rectangle 28">
            <a:extLst xmlns:a="http://schemas.openxmlformats.org/drawingml/2006/main">
              <a:ext uri="{FF2B5EF4-FFF2-40B4-BE49-F238E27FC236}">
                <a16:creationId xmlns:a16="http://schemas.microsoft.com/office/drawing/2014/main" id="{AD816D05-4066-421D-8894-5AAC495C3D1B}"/>
              </a:ext>
            </a:extLst>
          </p:cNvPr>
          <p:cNvSpPr>
            <a:spLocks xmlns:a="http://schemas.openxmlformats.org/drawingml/2006/main" noGrp="1"/>
          </p:cNvSpPr>
          <p:nvPr/>
        </p:nvSpPr>
        <p:spPr>
          <a:xfrm xmlns:a="http://schemas.openxmlformats.org/drawingml/2006/main">
            <a:off x="6766560" y="2578608"/>
            <a:ext cx="2148840" cy="402336"/>
          </a:xfrm>
          <a:prstGeom xmlns:a="http://schemas.openxmlformats.org/drawingml/2006/main" prst="rect">
            <a:avLst/>
          </a:prstGeom>
          <a:solidFill xmlns:a="http://schemas.openxmlformats.org/drawingml/2006/main">
            <a:srgbClr val="E5F3F1"/>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TextBox 29">
            <a:extLst xmlns:a="http://schemas.openxmlformats.org/drawingml/2006/main">
              <a:ext uri="{FF2B5EF4-FFF2-40B4-BE49-F238E27FC236}">
                <a16:creationId xmlns:a16="http://schemas.microsoft.com/office/drawing/2014/main" id="{4A12F274-4C10-432A-B328-711107C8DDD5}"/>
              </a:ext>
            </a:extLst>
          </p:cNvPr>
          <p:cNvSpPr>
            <a:spLocks xmlns:a="http://schemas.openxmlformats.org/drawingml/2006/main" noGrp="1"/>
          </p:cNvSpPr>
          <p:nvPr/>
        </p:nvSpPr>
        <p:spPr>
          <a:xfrm xmlns:a="http://schemas.openxmlformats.org/drawingml/2006/main">
            <a:off x="6830568" y="2642615"/>
            <a:ext cx="2020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1">
                <a:solidFill>
                  <a:srgbClr val="263445"/>
                </a:solidFill>
                <a:latin typeface="Aptos"/>
                <a:ea typeface="Aptos"/>
                <a:cs typeface="Aptos"/>
              </a:defRPr>
            </a:pPr>
            <a:r>
              <a:t>5 (%33)</a:t>
            </a:r>
          </a:p>
        </p:txBody>
      </p:sp>
      <p:sp>
        <p:nvSpPr>
          <p:cNvPr id="31" name="Rectangle 30">
            <a:extLst xmlns:a="http://schemas.openxmlformats.org/drawingml/2006/main">
              <a:ext uri="{FF2B5EF4-FFF2-40B4-BE49-F238E27FC236}">
                <a16:creationId xmlns:a16="http://schemas.microsoft.com/office/drawing/2014/main" id="{B155C502-5580-4C16-AB9C-49DC45A8F8AC}"/>
              </a:ext>
            </a:extLst>
          </p:cNvPr>
          <p:cNvSpPr>
            <a:spLocks xmlns:a="http://schemas.openxmlformats.org/drawingml/2006/main" noGrp="1"/>
          </p:cNvSpPr>
          <p:nvPr/>
        </p:nvSpPr>
        <p:spPr>
          <a:xfrm xmlns:a="http://schemas.openxmlformats.org/drawingml/2006/main">
            <a:off x="8915400" y="2578608"/>
            <a:ext cx="1417320" cy="402336"/>
          </a:xfrm>
          <a:prstGeom xmlns:a="http://schemas.openxmlformats.org/drawingml/2006/main" prst="rect">
            <a:avLst/>
          </a:prstGeom>
          <a:solidFill xmlns:a="http://schemas.openxmlformats.org/drawingml/2006/main">
            <a:srgbClr val="E5F3F1"/>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TextBox 31">
            <a:extLst xmlns:a="http://schemas.openxmlformats.org/drawingml/2006/main">
              <a:ext uri="{FF2B5EF4-FFF2-40B4-BE49-F238E27FC236}">
                <a16:creationId xmlns:a16="http://schemas.microsoft.com/office/drawing/2014/main" id="{6B35749B-5D23-48C5-808C-5A85FD4E6274}"/>
              </a:ext>
            </a:extLst>
          </p:cNvPr>
          <p:cNvSpPr>
            <a:spLocks xmlns:a="http://schemas.openxmlformats.org/drawingml/2006/main" noGrp="1"/>
          </p:cNvSpPr>
          <p:nvPr/>
        </p:nvSpPr>
        <p:spPr>
          <a:xfrm xmlns:a="http://schemas.openxmlformats.org/drawingml/2006/main">
            <a:off x="8979408" y="2642615"/>
            <a:ext cx="128930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1">
                <a:solidFill>
                  <a:srgbClr val="263445"/>
                </a:solidFill>
                <a:latin typeface="Aptos"/>
                <a:ea typeface="Aptos"/>
                <a:cs typeface="Aptos"/>
              </a:defRPr>
            </a:pPr>
            <a:r>
              <a:t>0,041</a:t>
            </a:r>
          </a:p>
        </p:txBody>
      </p:sp>
      <p:sp>
        <p:nvSpPr>
          <p:cNvPr id="33" name="Rectangle 32">
            <a:extLst xmlns:a="http://schemas.openxmlformats.org/drawingml/2006/main">
              <a:ext uri="{FF2B5EF4-FFF2-40B4-BE49-F238E27FC236}">
                <a16:creationId xmlns:a16="http://schemas.microsoft.com/office/drawing/2014/main" id="{2C39FB89-6C97-47C9-B85B-AB7559ED8F6C}"/>
              </a:ext>
            </a:extLst>
          </p:cNvPr>
          <p:cNvSpPr>
            <a:spLocks xmlns:a="http://schemas.openxmlformats.org/drawingml/2006/main" noGrp="1"/>
          </p:cNvSpPr>
          <p:nvPr/>
        </p:nvSpPr>
        <p:spPr>
          <a:xfrm xmlns:a="http://schemas.openxmlformats.org/drawingml/2006/main">
            <a:off x="10332720" y="2578608"/>
            <a:ext cx="1005840" cy="402336"/>
          </a:xfrm>
          <a:prstGeom xmlns:a="http://schemas.openxmlformats.org/drawingml/2006/main" prst="rect">
            <a:avLst/>
          </a:prstGeom>
          <a:solidFill xmlns:a="http://schemas.openxmlformats.org/drawingml/2006/main">
            <a:srgbClr val="E5F3F1"/>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TextBox 33">
            <a:extLst xmlns:a="http://schemas.openxmlformats.org/drawingml/2006/main">
              <a:ext uri="{FF2B5EF4-FFF2-40B4-BE49-F238E27FC236}">
                <a16:creationId xmlns:a16="http://schemas.microsoft.com/office/drawing/2014/main" id="{7B227287-A737-4CE8-A222-4DB7AEC66E67}"/>
              </a:ext>
            </a:extLst>
          </p:cNvPr>
          <p:cNvSpPr>
            <a:spLocks xmlns:a="http://schemas.openxmlformats.org/drawingml/2006/main" noGrp="1"/>
          </p:cNvSpPr>
          <p:nvPr/>
        </p:nvSpPr>
        <p:spPr>
          <a:xfrm xmlns:a="http://schemas.openxmlformats.org/drawingml/2006/main">
            <a:off x="10396728" y="2642615"/>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1">
                <a:solidFill>
                  <a:srgbClr val="009196"/>
                </a:solidFill>
                <a:latin typeface="Aptos"/>
                <a:ea typeface="Aptos"/>
                <a:cs typeface="Aptos"/>
              </a:defRPr>
            </a:pPr>
            <a:r>
              <a:t>Anlamlı</a:t>
            </a:r>
          </a:p>
        </p:txBody>
      </p:sp>
      <p:sp>
        <p:nvSpPr>
          <p:cNvPr id="35" name="Rectangle 34">
            <a:extLst xmlns:a="http://schemas.openxmlformats.org/drawingml/2006/main">
              <a:ext uri="{FF2B5EF4-FFF2-40B4-BE49-F238E27FC236}">
                <a16:creationId xmlns:a16="http://schemas.microsoft.com/office/drawing/2014/main" id="{425BD91B-6B0E-4572-8FBF-981AEF40F919}"/>
              </a:ext>
            </a:extLst>
          </p:cNvPr>
          <p:cNvSpPr>
            <a:spLocks xmlns:a="http://schemas.openxmlformats.org/drawingml/2006/main" noGrp="1"/>
          </p:cNvSpPr>
          <p:nvPr/>
        </p:nvSpPr>
        <p:spPr>
          <a:xfrm xmlns:a="http://schemas.openxmlformats.org/drawingml/2006/main">
            <a:off x="685800" y="2980944"/>
            <a:ext cx="3931920" cy="402336"/>
          </a:xfrm>
          <a:prstGeom xmlns:a="http://schemas.openxmlformats.org/drawingml/2006/main" prst="rect">
            <a:avLst/>
          </a:prstGeom>
          <a:solidFill xmlns:a="http://schemas.openxmlformats.org/drawingml/2006/main">
            <a:srgbClr val="E5F3F1"/>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TextBox 35">
            <a:extLst xmlns:a="http://schemas.openxmlformats.org/drawingml/2006/main">
              <a:ext uri="{FF2B5EF4-FFF2-40B4-BE49-F238E27FC236}">
                <a16:creationId xmlns:a16="http://schemas.microsoft.com/office/drawing/2014/main" id="{E54E5ADD-37AE-4DC3-8FDC-4048BB12FC8A}"/>
              </a:ext>
            </a:extLst>
          </p:cNvPr>
          <p:cNvSpPr>
            <a:spLocks xmlns:a="http://schemas.openxmlformats.org/drawingml/2006/main" noGrp="1"/>
          </p:cNvSpPr>
          <p:nvPr/>
        </p:nvSpPr>
        <p:spPr>
          <a:xfrm xmlns:a="http://schemas.openxmlformats.org/drawingml/2006/main">
            <a:off x="749808" y="3044951"/>
            <a:ext cx="380390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1">
                <a:solidFill>
                  <a:srgbClr val="263445"/>
                </a:solidFill>
                <a:latin typeface="Aptos"/>
                <a:ea typeface="Aptos"/>
                <a:cs typeface="Aptos"/>
              </a:defRPr>
            </a:pPr>
            <a:r>
              <a:t>Albümin (g/L)</a:t>
            </a:r>
          </a:p>
        </p:txBody>
      </p:sp>
      <p:sp>
        <p:nvSpPr>
          <p:cNvPr id="37" name="Rectangle 36">
            <a:extLst xmlns:a="http://schemas.openxmlformats.org/drawingml/2006/main">
              <a:ext uri="{FF2B5EF4-FFF2-40B4-BE49-F238E27FC236}">
                <a16:creationId xmlns:a16="http://schemas.microsoft.com/office/drawing/2014/main" id="{FD0440BF-F282-4470-9229-670CBE57D9D2}"/>
              </a:ext>
            </a:extLst>
          </p:cNvPr>
          <p:cNvSpPr>
            <a:spLocks xmlns:a="http://schemas.openxmlformats.org/drawingml/2006/main" noGrp="1"/>
          </p:cNvSpPr>
          <p:nvPr/>
        </p:nvSpPr>
        <p:spPr>
          <a:xfrm xmlns:a="http://schemas.openxmlformats.org/drawingml/2006/main">
            <a:off x="4617720" y="2980944"/>
            <a:ext cx="2148840" cy="402336"/>
          </a:xfrm>
          <a:prstGeom xmlns:a="http://schemas.openxmlformats.org/drawingml/2006/main" prst="rect">
            <a:avLst/>
          </a:prstGeom>
          <a:solidFill xmlns:a="http://schemas.openxmlformats.org/drawingml/2006/main">
            <a:srgbClr val="E5F3F1"/>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TextBox 37">
            <a:extLst xmlns:a="http://schemas.openxmlformats.org/drawingml/2006/main">
              <a:ext uri="{FF2B5EF4-FFF2-40B4-BE49-F238E27FC236}">
                <a16:creationId xmlns:a16="http://schemas.microsoft.com/office/drawing/2014/main" id="{90472927-16E6-4BE4-A591-9180B4E8C387}"/>
              </a:ext>
            </a:extLst>
          </p:cNvPr>
          <p:cNvSpPr>
            <a:spLocks xmlns:a="http://schemas.openxmlformats.org/drawingml/2006/main" noGrp="1"/>
          </p:cNvSpPr>
          <p:nvPr/>
        </p:nvSpPr>
        <p:spPr>
          <a:xfrm xmlns:a="http://schemas.openxmlformats.org/drawingml/2006/main">
            <a:off x="4681728" y="3044951"/>
            <a:ext cx="2020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1">
                <a:solidFill>
                  <a:srgbClr val="263445"/>
                </a:solidFill>
                <a:latin typeface="Aptos"/>
                <a:ea typeface="Aptos"/>
                <a:cs typeface="Aptos"/>
              </a:defRPr>
            </a:pPr>
            <a:r>
              <a:t>16,3 (13–19)</a:t>
            </a:r>
          </a:p>
        </p:txBody>
      </p:sp>
      <p:sp>
        <p:nvSpPr>
          <p:cNvPr id="39" name="Rectangle 38">
            <a:extLst xmlns:a="http://schemas.openxmlformats.org/drawingml/2006/main">
              <a:ext uri="{FF2B5EF4-FFF2-40B4-BE49-F238E27FC236}">
                <a16:creationId xmlns:a16="http://schemas.microsoft.com/office/drawing/2014/main" id="{64A0AE94-85E8-4014-B43E-E3830232E8A1}"/>
              </a:ext>
            </a:extLst>
          </p:cNvPr>
          <p:cNvSpPr>
            <a:spLocks xmlns:a="http://schemas.openxmlformats.org/drawingml/2006/main" noGrp="1"/>
          </p:cNvSpPr>
          <p:nvPr/>
        </p:nvSpPr>
        <p:spPr>
          <a:xfrm xmlns:a="http://schemas.openxmlformats.org/drawingml/2006/main">
            <a:off x="6766560" y="2980944"/>
            <a:ext cx="2148840" cy="402336"/>
          </a:xfrm>
          <a:prstGeom xmlns:a="http://schemas.openxmlformats.org/drawingml/2006/main" prst="rect">
            <a:avLst/>
          </a:prstGeom>
          <a:solidFill xmlns:a="http://schemas.openxmlformats.org/drawingml/2006/main">
            <a:srgbClr val="E5F3F1"/>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TextBox 39">
            <a:extLst xmlns:a="http://schemas.openxmlformats.org/drawingml/2006/main">
              <a:ext uri="{FF2B5EF4-FFF2-40B4-BE49-F238E27FC236}">
                <a16:creationId xmlns:a16="http://schemas.microsoft.com/office/drawing/2014/main" id="{4F0FA8A6-3CE3-4392-A6D4-F7F096F5EA03}"/>
              </a:ext>
            </a:extLst>
          </p:cNvPr>
          <p:cNvSpPr>
            <a:spLocks xmlns:a="http://schemas.openxmlformats.org/drawingml/2006/main" noGrp="1"/>
          </p:cNvSpPr>
          <p:nvPr/>
        </p:nvSpPr>
        <p:spPr>
          <a:xfrm xmlns:a="http://schemas.openxmlformats.org/drawingml/2006/main">
            <a:off x="6830568" y="3044951"/>
            <a:ext cx="2020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1">
                <a:solidFill>
                  <a:srgbClr val="263445"/>
                </a:solidFill>
                <a:latin typeface="Aptos"/>
                <a:ea typeface="Aptos"/>
                <a:cs typeface="Aptos"/>
              </a:defRPr>
            </a:pPr>
            <a:r>
              <a:t>20,2 (17–24)</a:t>
            </a:r>
          </a:p>
        </p:txBody>
      </p:sp>
      <p:sp>
        <p:nvSpPr>
          <p:cNvPr id="41" name="Rectangle 40">
            <a:extLst xmlns:a="http://schemas.openxmlformats.org/drawingml/2006/main">
              <a:ext uri="{FF2B5EF4-FFF2-40B4-BE49-F238E27FC236}">
                <a16:creationId xmlns:a16="http://schemas.microsoft.com/office/drawing/2014/main" id="{1B1D0B51-4C45-4AA3-9D89-784D186CC9BA}"/>
              </a:ext>
            </a:extLst>
          </p:cNvPr>
          <p:cNvSpPr>
            <a:spLocks xmlns:a="http://schemas.openxmlformats.org/drawingml/2006/main" noGrp="1"/>
          </p:cNvSpPr>
          <p:nvPr/>
        </p:nvSpPr>
        <p:spPr>
          <a:xfrm xmlns:a="http://schemas.openxmlformats.org/drawingml/2006/main">
            <a:off x="8915400" y="2980944"/>
            <a:ext cx="1417320" cy="402336"/>
          </a:xfrm>
          <a:prstGeom xmlns:a="http://schemas.openxmlformats.org/drawingml/2006/main" prst="rect">
            <a:avLst/>
          </a:prstGeom>
          <a:solidFill xmlns:a="http://schemas.openxmlformats.org/drawingml/2006/main">
            <a:srgbClr val="E5F3F1"/>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TextBox 41">
            <a:extLst xmlns:a="http://schemas.openxmlformats.org/drawingml/2006/main">
              <a:ext uri="{FF2B5EF4-FFF2-40B4-BE49-F238E27FC236}">
                <a16:creationId xmlns:a16="http://schemas.microsoft.com/office/drawing/2014/main" id="{0BBFAD0D-DC7E-4536-9C14-BA678BE3B02D}"/>
              </a:ext>
            </a:extLst>
          </p:cNvPr>
          <p:cNvSpPr>
            <a:spLocks xmlns:a="http://schemas.openxmlformats.org/drawingml/2006/main" noGrp="1"/>
          </p:cNvSpPr>
          <p:nvPr/>
        </p:nvSpPr>
        <p:spPr>
          <a:xfrm xmlns:a="http://schemas.openxmlformats.org/drawingml/2006/main">
            <a:off x="8979408" y="3044951"/>
            <a:ext cx="128930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1">
                <a:solidFill>
                  <a:srgbClr val="263445"/>
                </a:solidFill>
                <a:latin typeface="Aptos"/>
                <a:ea typeface="Aptos"/>
                <a:cs typeface="Aptos"/>
              </a:defRPr>
            </a:pPr>
            <a:r>
              <a:t>0,004</a:t>
            </a:r>
          </a:p>
        </p:txBody>
      </p:sp>
      <p:sp>
        <p:nvSpPr>
          <p:cNvPr id="43" name="Rectangle 42">
            <a:extLst xmlns:a="http://schemas.openxmlformats.org/drawingml/2006/main">
              <a:ext uri="{FF2B5EF4-FFF2-40B4-BE49-F238E27FC236}">
                <a16:creationId xmlns:a16="http://schemas.microsoft.com/office/drawing/2014/main" id="{9E6169E5-FA86-47DE-BC1B-7B7C0C97710E}"/>
              </a:ext>
            </a:extLst>
          </p:cNvPr>
          <p:cNvSpPr>
            <a:spLocks xmlns:a="http://schemas.openxmlformats.org/drawingml/2006/main" noGrp="1"/>
          </p:cNvSpPr>
          <p:nvPr/>
        </p:nvSpPr>
        <p:spPr>
          <a:xfrm xmlns:a="http://schemas.openxmlformats.org/drawingml/2006/main">
            <a:off x="10332720" y="2980944"/>
            <a:ext cx="1005840" cy="402336"/>
          </a:xfrm>
          <a:prstGeom xmlns:a="http://schemas.openxmlformats.org/drawingml/2006/main" prst="rect">
            <a:avLst/>
          </a:prstGeom>
          <a:solidFill xmlns:a="http://schemas.openxmlformats.org/drawingml/2006/main">
            <a:srgbClr val="E5F3F1"/>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TextBox 43">
            <a:extLst xmlns:a="http://schemas.openxmlformats.org/drawingml/2006/main">
              <a:ext uri="{FF2B5EF4-FFF2-40B4-BE49-F238E27FC236}">
                <a16:creationId xmlns:a16="http://schemas.microsoft.com/office/drawing/2014/main" id="{421D5F3A-6E9C-4259-8ABB-1FFEF0F8C172}"/>
              </a:ext>
            </a:extLst>
          </p:cNvPr>
          <p:cNvSpPr>
            <a:spLocks xmlns:a="http://schemas.openxmlformats.org/drawingml/2006/main" noGrp="1"/>
          </p:cNvSpPr>
          <p:nvPr/>
        </p:nvSpPr>
        <p:spPr>
          <a:xfrm xmlns:a="http://schemas.openxmlformats.org/drawingml/2006/main">
            <a:off x="10396728" y="3044951"/>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1">
                <a:solidFill>
                  <a:srgbClr val="009196"/>
                </a:solidFill>
                <a:latin typeface="Aptos"/>
                <a:ea typeface="Aptos"/>
                <a:cs typeface="Aptos"/>
              </a:defRPr>
            </a:pPr>
            <a:r>
              <a:t>Anlamlı</a:t>
            </a:r>
          </a:p>
        </p:txBody>
      </p:sp>
      <p:sp>
        <p:nvSpPr>
          <p:cNvPr id="45" name="Rectangle 44">
            <a:extLst xmlns:a="http://schemas.openxmlformats.org/drawingml/2006/main">
              <a:ext uri="{FF2B5EF4-FFF2-40B4-BE49-F238E27FC236}">
                <a16:creationId xmlns:a16="http://schemas.microsoft.com/office/drawing/2014/main" id="{DD768D0E-4037-4EC8-BC8E-769E545680D0}"/>
              </a:ext>
            </a:extLst>
          </p:cNvPr>
          <p:cNvSpPr>
            <a:spLocks xmlns:a="http://schemas.openxmlformats.org/drawingml/2006/main" noGrp="1"/>
          </p:cNvSpPr>
          <p:nvPr/>
        </p:nvSpPr>
        <p:spPr>
          <a:xfrm xmlns:a="http://schemas.openxmlformats.org/drawingml/2006/main">
            <a:off x="685800" y="3383280"/>
            <a:ext cx="3931920" cy="402336"/>
          </a:xfrm>
          <a:prstGeom xmlns:a="http://schemas.openxmlformats.org/drawingml/2006/main" prst="rect">
            <a:avLst/>
          </a:prstGeom>
          <a:solidFill xmlns:a="http://schemas.openxmlformats.org/drawingml/2006/main">
            <a:srgbClr val="E5F3F1"/>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TextBox 45">
            <a:extLst xmlns:a="http://schemas.openxmlformats.org/drawingml/2006/main">
              <a:ext uri="{FF2B5EF4-FFF2-40B4-BE49-F238E27FC236}">
                <a16:creationId xmlns:a16="http://schemas.microsoft.com/office/drawing/2014/main" id="{233F0537-F062-4567-87C9-2BA18F5DF497}"/>
              </a:ext>
            </a:extLst>
          </p:cNvPr>
          <p:cNvSpPr>
            <a:spLocks xmlns:a="http://schemas.openxmlformats.org/drawingml/2006/main" noGrp="1"/>
          </p:cNvSpPr>
          <p:nvPr/>
        </p:nvSpPr>
        <p:spPr>
          <a:xfrm xmlns:a="http://schemas.openxmlformats.org/drawingml/2006/main">
            <a:off x="749808" y="3447288"/>
            <a:ext cx="380390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1">
                <a:solidFill>
                  <a:srgbClr val="263445"/>
                </a:solidFill>
                <a:latin typeface="Aptos"/>
                <a:ea typeface="Aptos"/>
                <a:cs typeface="Aptos"/>
              </a:defRPr>
            </a:pPr>
            <a:r>
              <a:t>Total protein (g/L)</a:t>
            </a:r>
          </a:p>
        </p:txBody>
      </p:sp>
      <p:sp>
        <p:nvSpPr>
          <p:cNvPr id="47" name="Rectangle 46">
            <a:extLst xmlns:a="http://schemas.openxmlformats.org/drawingml/2006/main">
              <a:ext uri="{FF2B5EF4-FFF2-40B4-BE49-F238E27FC236}">
                <a16:creationId xmlns:a16="http://schemas.microsoft.com/office/drawing/2014/main" id="{FA8B651F-768D-4A84-AEB8-FA652A703216}"/>
              </a:ext>
            </a:extLst>
          </p:cNvPr>
          <p:cNvSpPr>
            <a:spLocks xmlns:a="http://schemas.openxmlformats.org/drawingml/2006/main" noGrp="1"/>
          </p:cNvSpPr>
          <p:nvPr/>
        </p:nvSpPr>
        <p:spPr>
          <a:xfrm xmlns:a="http://schemas.openxmlformats.org/drawingml/2006/main">
            <a:off x="4617720" y="3383280"/>
            <a:ext cx="2148840" cy="402336"/>
          </a:xfrm>
          <a:prstGeom xmlns:a="http://schemas.openxmlformats.org/drawingml/2006/main" prst="rect">
            <a:avLst/>
          </a:prstGeom>
          <a:solidFill xmlns:a="http://schemas.openxmlformats.org/drawingml/2006/main">
            <a:srgbClr val="E5F3F1"/>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8" name="TextBox 47">
            <a:extLst xmlns:a="http://schemas.openxmlformats.org/drawingml/2006/main">
              <a:ext uri="{FF2B5EF4-FFF2-40B4-BE49-F238E27FC236}">
                <a16:creationId xmlns:a16="http://schemas.microsoft.com/office/drawing/2014/main" id="{169B4D6E-B01C-4769-B0A3-D6A5AA3E1BC2}"/>
              </a:ext>
            </a:extLst>
          </p:cNvPr>
          <p:cNvSpPr>
            <a:spLocks xmlns:a="http://schemas.openxmlformats.org/drawingml/2006/main" noGrp="1"/>
          </p:cNvSpPr>
          <p:nvPr/>
        </p:nvSpPr>
        <p:spPr>
          <a:xfrm xmlns:a="http://schemas.openxmlformats.org/drawingml/2006/main">
            <a:off x="4681728" y="3447288"/>
            <a:ext cx="2020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1">
                <a:solidFill>
                  <a:srgbClr val="263445"/>
                </a:solidFill>
                <a:latin typeface="Aptos"/>
                <a:ea typeface="Aptos"/>
                <a:cs typeface="Aptos"/>
              </a:defRPr>
            </a:pPr>
            <a:r>
              <a:t>30 (25–32)</a:t>
            </a:r>
          </a:p>
        </p:txBody>
      </p:sp>
      <p:sp>
        <p:nvSpPr>
          <p:cNvPr id="49" name="Rectangle 48">
            <a:extLst xmlns:a="http://schemas.openxmlformats.org/drawingml/2006/main">
              <a:ext uri="{FF2B5EF4-FFF2-40B4-BE49-F238E27FC236}">
                <a16:creationId xmlns:a16="http://schemas.microsoft.com/office/drawing/2014/main" id="{6AD5EEFF-45A1-453A-A78D-DB78D3F74527}"/>
              </a:ext>
            </a:extLst>
          </p:cNvPr>
          <p:cNvSpPr>
            <a:spLocks xmlns:a="http://schemas.openxmlformats.org/drawingml/2006/main" noGrp="1"/>
          </p:cNvSpPr>
          <p:nvPr/>
        </p:nvSpPr>
        <p:spPr>
          <a:xfrm xmlns:a="http://schemas.openxmlformats.org/drawingml/2006/main">
            <a:off x="6766560" y="3383280"/>
            <a:ext cx="2148840" cy="402336"/>
          </a:xfrm>
          <a:prstGeom xmlns:a="http://schemas.openxmlformats.org/drawingml/2006/main" prst="rect">
            <a:avLst/>
          </a:prstGeom>
          <a:solidFill xmlns:a="http://schemas.openxmlformats.org/drawingml/2006/main">
            <a:srgbClr val="E5F3F1"/>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0" name="TextBox 49">
            <a:extLst xmlns:a="http://schemas.openxmlformats.org/drawingml/2006/main">
              <a:ext uri="{FF2B5EF4-FFF2-40B4-BE49-F238E27FC236}">
                <a16:creationId xmlns:a16="http://schemas.microsoft.com/office/drawing/2014/main" id="{BC13B903-2CBB-497E-A2BB-786FBBC55463}"/>
              </a:ext>
            </a:extLst>
          </p:cNvPr>
          <p:cNvSpPr>
            <a:spLocks xmlns:a="http://schemas.openxmlformats.org/drawingml/2006/main" noGrp="1"/>
          </p:cNvSpPr>
          <p:nvPr/>
        </p:nvSpPr>
        <p:spPr>
          <a:xfrm xmlns:a="http://schemas.openxmlformats.org/drawingml/2006/main">
            <a:off x="6830568" y="3447288"/>
            <a:ext cx="2020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1">
                <a:solidFill>
                  <a:srgbClr val="263445"/>
                </a:solidFill>
                <a:latin typeface="Aptos"/>
                <a:ea typeface="Aptos"/>
                <a:cs typeface="Aptos"/>
              </a:defRPr>
            </a:pPr>
            <a:r>
              <a:t>34,5 (31–41,5)</a:t>
            </a:r>
          </a:p>
        </p:txBody>
      </p:sp>
      <p:sp>
        <p:nvSpPr>
          <p:cNvPr id="51" name="Rectangle 50">
            <a:extLst xmlns:a="http://schemas.openxmlformats.org/drawingml/2006/main">
              <a:ext uri="{FF2B5EF4-FFF2-40B4-BE49-F238E27FC236}">
                <a16:creationId xmlns:a16="http://schemas.microsoft.com/office/drawing/2014/main" id="{8AA9D8EC-3255-4675-9F85-C22889EA7869}"/>
              </a:ext>
            </a:extLst>
          </p:cNvPr>
          <p:cNvSpPr>
            <a:spLocks xmlns:a="http://schemas.openxmlformats.org/drawingml/2006/main" noGrp="1"/>
          </p:cNvSpPr>
          <p:nvPr/>
        </p:nvSpPr>
        <p:spPr>
          <a:xfrm xmlns:a="http://schemas.openxmlformats.org/drawingml/2006/main">
            <a:off x="8915400" y="3383280"/>
            <a:ext cx="1417320" cy="402336"/>
          </a:xfrm>
          <a:prstGeom xmlns:a="http://schemas.openxmlformats.org/drawingml/2006/main" prst="rect">
            <a:avLst/>
          </a:prstGeom>
          <a:solidFill xmlns:a="http://schemas.openxmlformats.org/drawingml/2006/main">
            <a:srgbClr val="E5F3F1"/>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2" name="TextBox 51">
            <a:extLst xmlns:a="http://schemas.openxmlformats.org/drawingml/2006/main">
              <a:ext uri="{FF2B5EF4-FFF2-40B4-BE49-F238E27FC236}">
                <a16:creationId xmlns:a16="http://schemas.microsoft.com/office/drawing/2014/main" id="{A3A0E9CB-041E-4E42-A9F9-E85645A5B154}"/>
              </a:ext>
            </a:extLst>
          </p:cNvPr>
          <p:cNvSpPr>
            <a:spLocks xmlns:a="http://schemas.openxmlformats.org/drawingml/2006/main" noGrp="1"/>
          </p:cNvSpPr>
          <p:nvPr/>
        </p:nvSpPr>
        <p:spPr>
          <a:xfrm xmlns:a="http://schemas.openxmlformats.org/drawingml/2006/main">
            <a:off x="8979408" y="3447288"/>
            <a:ext cx="128930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1">
                <a:solidFill>
                  <a:srgbClr val="263445"/>
                </a:solidFill>
                <a:latin typeface="Aptos"/>
                <a:ea typeface="Aptos"/>
                <a:cs typeface="Aptos"/>
              </a:defRPr>
            </a:pPr>
            <a:r>
              <a:t>0,009</a:t>
            </a:r>
          </a:p>
        </p:txBody>
      </p:sp>
      <p:sp>
        <p:nvSpPr>
          <p:cNvPr id="53" name="Rectangle 52">
            <a:extLst xmlns:a="http://schemas.openxmlformats.org/drawingml/2006/main">
              <a:ext uri="{FF2B5EF4-FFF2-40B4-BE49-F238E27FC236}">
                <a16:creationId xmlns:a16="http://schemas.microsoft.com/office/drawing/2014/main" id="{E798F2E3-7C41-4395-BA27-5B16386D435A}"/>
              </a:ext>
            </a:extLst>
          </p:cNvPr>
          <p:cNvSpPr>
            <a:spLocks xmlns:a="http://schemas.openxmlformats.org/drawingml/2006/main" noGrp="1"/>
          </p:cNvSpPr>
          <p:nvPr/>
        </p:nvSpPr>
        <p:spPr>
          <a:xfrm xmlns:a="http://schemas.openxmlformats.org/drawingml/2006/main">
            <a:off x="10332720" y="3383280"/>
            <a:ext cx="1005840" cy="402336"/>
          </a:xfrm>
          <a:prstGeom xmlns:a="http://schemas.openxmlformats.org/drawingml/2006/main" prst="rect">
            <a:avLst/>
          </a:prstGeom>
          <a:solidFill xmlns:a="http://schemas.openxmlformats.org/drawingml/2006/main">
            <a:srgbClr val="E5F3F1"/>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4" name="TextBox 53">
            <a:extLst xmlns:a="http://schemas.openxmlformats.org/drawingml/2006/main">
              <a:ext uri="{FF2B5EF4-FFF2-40B4-BE49-F238E27FC236}">
                <a16:creationId xmlns:a16="http://schemas.microsoft.com/office/drawing/2014/main" id="{F6DC9E56-DD32-4B82-8CA0-D79A2EBBC62A}"/>
              </a:ext>
            </a:extLst>
          </p:cNvPr>
          <p:cNvSpPr>
            <a:spLocks xmlns:a="http://schemas.openxmlformats.org/drawingml/2006/main" noGrp="1"/>
          </p:cNvSpPr>
          <p:nvPr/>
        </p:nvSpPr>
        <p:spPr>
          <a:xfrm xmlns:a="http://schemas.openxmlformats.org/drawingml/2006/main">
            <a:off x="10396728" y="3447288"/>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1">
                <a:solidFill>
                  <a:srgbClr val="009196"/>
                </a:solidFill>
                <a:latin typeface="Aptos"/>
                <a:ea typeface="Aptos"/>
                <a:cs typeface="Aptos"/>
              </a:defRPr>
            </a:pPr>
            <a:r>
              <a:t>Anlamlı</a:t>
            </a:r>
          </a:p>
        </p:txBody>
      </p:sp>
      <p:sp>
        <p:nvSpPr>
          <p:cNvPr id="55" name="Rectangle 54">
            <a:extLst xmlns:a="http://schemas.openxmlformats.org/drawingml/2006/main">
              <a:ext uri="{FF2B5EF4-FFF2-40B4-BE49-F238E27FC236}">
                <a16:creationId xmlns:a16="http://schemas.microsoft.com/office/drawing/2014/main" id="{4825808C-F35F-4B34-83BF-8AFCDF851DC3}"/>
              </a:ext>
            </a:extLst>
          </p:cNvPr>
          <p:cNvSpPr>
            <a:spLocks xmlns:a="http://schemas.openxmlformats.org/drawingml/2006/main" noGrp="1"/>
          </p:cNvSpPr>
          <p:nvPr/>
        </p:nvSpPr>
        <p:spPr>
          <a:xfrm xmlns:a="http://schemas.openxmlformats.org/drawingml/2006/main">
            <a:off x="685800" y="3785615"/>
            <a:ext cx="3931920" cy="402336"/>
          </a:xfrm>
          <a:prstGeom xmlns:a="http://schemas.openxmlformats.org/drawingml/2006/main" prst="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6" name="TextBox 55">
            <a:extLst xmlns:a="http://schemas.openxmlformats.org/drawingml/2006/main">
              <a:ext uri="{FF2B5EF4-FFF2-40B4-BE49-F238E27FC236}">
                <a16:creationId xmlns:a16="http://schemas.microsoft.com/office/drawing/2014/main" id="{C9980B34-320A-47EE-8F81-C46CC3B0C798}"/>
              </a:ext>
            </a:extLst>
          </p:cNvPr>
          <p:cNvSpPr>
            <a:spLocks xmlns:a="http://schemas.openxmlformats.org/drawingml/2006/main" noGrp="1"/>
          </p:cNvSpPr>
          <p:nvPr/>
        </p:nvSpPr>
        <p:spPr>
          <a:xfrm xmlns:a="http://schemas.openxmlformats.org/drawingml/2006/main">
            <a:off x="749808" y="3849624"/>
            <a:ext cx="380390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Yaş (ay)</a:t>
            </a:r>
          </a:p>
        </p:txBody>
      </p:sp>
      <p:sp>
        <p:nvSpPr>
          <p:cNvPr id="57" name="Rectangle 56">
            <a:extLst xmlns:a="http://schemas.openxmlformats.org/drawingml/2006/main">
              <a:ext uri="{FF2B5EF4-FFF2-40B4-BE49-F238E27FC236}">
                <a16:creationId xmlns:a16="http://schemas.microsoft.com/office/drawing/2014/main" id="{6F30FF7E-6426-472E-92F2-5D609628E720}"/>
              </a:ext>
            </a:extLst>
          </p:cNvPr>
          <p:cNvSpPr>
            <a:spLocks xmlns:a="http://schemas.openxmlformats.org/drawingml/2006/main" noGrp="1"/>
          </p:cNvSpPr>
          <p:nvPr/>
        </p:nvSpPr>
        <p:spPr>
          <a:xfrm xmlns:a="http://schemas.openxmlformats.org/drawingml/2006/main">
            <a:off x="4617720" y="3785615"/>
            <a:ext cx="2148840" cy="402336"/>
          </a:xfrm>
          <a:prstGeom xmlns:a="http://schemas.openxmlformats.org/drawingml/2006/main" prst="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8" name="TextBox 57">
            <a:extLst xmlns:a="http://schemas.openxmlformats.org/drawingml/2006/main">
              <a:ext uri="{FF2B5EF4-FFF2-40B4-BE49-F238E27FC236}">
                <a16:creationId xmlns:a16="http://schemas.microsoft.com/office/drawing/2014/main" id="{E9D94376-507F-4DBC-9AE9-C489813B5161}"/>
              </a:ext>
            </a:extLst>
          </p:cNvPr>
          <p:cNvSpPr>
            <a:spLocks xmlns:a="http://schemas.openxmlformats.org/drawingml/2006/main" noGrp="1"/>
          </p:cNvSpPr>
          <p:nvPr/>
        </p:nvSpPr>
        <p:spPr>
          <a:xfrm xmlns:a="http://schemas.openxmlformats.org/drawingml/2006/main">
            <a:off x="4681728" y="3849624"/>
            <a:ext cx="2020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5 (4–7)</a:t>
            </a:r>
          </a:p>
        </p:txBody>
      </p:sp>
      <p:sp>
        <p:nvSpPr>
          <p:cNvPr id="59" name="Rectangle 58">
            <a:extLst xmlns:a="http://schemas.openxmlformats.org/drawingml/2006/main">
              <a:ext uri="{FF2B5EF4-FFF2-40B4-BE49-F238E27FC236}">
                <a16:creationId xmlns:a16="http://schemas.microsoft.com/office/drawing/2014/main" id="{39AA77AA-55FF-478E-BE05-994BF13A25EC}"/>
              </a:ext>
            </a:extLst>
          </p:cNvPr>
          <p:cNvSpPr>
            <a:spLocks xmlns:a="http://schemas.openxmlformats.org/drawingml/2006/main" noGrp="1"/>
          </p:cNvSpPr>
          <p:nvPr/>
        </p:nvSpPr>
        <p:spPr>
          <a:xfrm xmlns:a="http://schemas.openxmlformats.org/drawingml/2006/main">
            <a:off x="6766560" y="3785615"/>
            <a:ext cx="2148840" cy="402336"/>
          </a:xfrm>
          <a:prstGeom xmlns:a="http://schemas.openxmlformats.org/drawingml/2006/main" prst="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0" name="TextBox 59">
            <a:extLst xmlns:a="http://schemas.openxmlformats.org/drawingml/2006/main">
              <a:ext uri="{FF2B5EF4-FFF2-40B4-BE49-F238E27FC236}">
                <a16:creationId xmlns:a16="http://schemas.microsoft.com/office/drawing/2014/main" id="{59E0213C-203F-4F54-988D-F33B28EF0F8F}"/>
              </a:ext>
            </a:extLst>
          </p:cNvPr>
          <p:cNvSpPr>
            <a:spLocks xmlns:a="http://schemas.openxmlformats.org/drawingml/2006/main" noGrp="1"/>
          </p:cNvSpPr>
          <p:nvPr/>
        </p:nvSpPr>
        <p:spPr>
          <a:xfrm xmlns:a="http://schemas.openxmlformats.org/drawingml/2006/main">
            <a:off x="6830568" y="3849624"/>
            <a:ext cx="2020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4,25 (1,5–25)</a:t>
            </a:r>
          </a:p>
        </p:txBody>
      </p:sp>
      <p:sp>
        <p:nvSpPr>
          <p:cNvPr id="61" name="Rectangle 60">
            <a:extLst xmlns:a="http://schemas.openxmlformats.org/drawingml/2006/main">
              <a:ext uri="{FF2B5EF4-FFF2-40B4-BE49-F238E27FC236}">
                <a16:creationId xmlns:a16="http://schemas.microsoft.com/office/drawing/2014/main" id="{06E51F4C-55FD-4430-8A41-BD2F6B65978D}"/>
              </a:ext>
            </a:extLst>
          </p:cNvPr>
          <p:cNvSpPr>
            <a:spLocks xmlns:a="http://schemas.openxmlformats.org/drawingml/2006/main" noGrp="1"/>
          </p:cNvSpPr>
          <p:nvPr/>
        </p:nvSpPr>
        <p:spPr>
          <a:xfrm xmlns:a="http://schemas.openxmlformats.org/drawingml/2006/main">
            <a:off x="8915400" y="3785615"/>
            <a:ext cx="1417320" cy="402336"/>
          </a:xfrm>
          <a:prstGeom xmlns:a="http://schemas.openxmlformats.org/drawingml/2006/main" prst="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2" name="TextBox 61">
            <a:extLst xmlns:a="http://schemas.openxmlformats.org/drawingml/2006/main">
              <a:ext uri="{FF2B5EF4-FFF2-40B4-BE49-F238E27FC236}">
                <a16:creationId xmlns:a16="http://schemas.microsoft.com/office/drawing/2014/main" id="{FEE448CE-B041-4FE3-8729-38EC64D8D6DC}"/>
              </a:ext>
            </a:extLst>
          </p:cNvPr>
          <p:cNvSpPr>
            <a:spLocks xmlns:a="http://schemas.openxmlformats.org/drawingml/2006/main" noGrp="1"/>
          </p:cNvSpPr>
          <p:nvPr/>
        </p:nvSpPr>
        <p:spPr>
          <a:xfrm xmlns:a="http://schemas.openxmlformats.org/drawingml/2006/main">
            <a:off x="8979408" y="3849624"/>
            <a:ext cx="128930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0,062</a:t>
            </a:r>
          </a:p>
        </p:txBody>
      </p:sp>
      <p:sp>
        <p:nvSpPr>
          <p:cNvPr id="63" name="Rectangle 62">
            <a:extLst xmlns:a="http://schemas.openxmlformats.org/drawingml/2006/main">
              <a:ext uri="{FF2B5EF4-FFF2-40B4-BE49-F238E27FC236}">
                <a16:creationId xmlns:a16="http://schemas.microsoft.com/office/drawing/2014/main" id="{7418B13A-E929-4C1B-96C1-00BA0F1DE2A5}"/>
              </a:ext>
            </a:extLst>
          </p:cNvPr>
          <p:cNvSpPr>
            <a:spLocks xmlns:a="http://schemas.openxmlformats.org/drawingml/2006/main" noGrp="1"/>
          </p:cNvSpPr>
          <p:nvPr/>
        </p:nvSpPr>
        <p:spPr>
          <a:xfrm xmlns:a="http://schemas.openxmlformats.org/drawingml/2006/main">
            <a:off x="10332720" y="3785615"/>
            <a:ext cx="1005840" cy="402336"/>
          </a:xfrm>
          <a:prstGeom xmlns:a="http://schemas.openxmlformats.org/drawingml/2006/main" prst="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4" name="TextBox 63">
            <a:extLst xmlns:a="http://schemas.openxmlformats.org/drawingml/2006/main">
              <a:ext uri="{FF2B5EF4-FFF2-40B4-BE49-F238E27FC236}">
                <a16:creationId xmlns:a16="http://schemas.microsoft.com/office/drawing/2014/main" id="{06654A2C-D583-4C0B-AF9A-2A5A5C1896A5}"/>
              </a:ext>
            </a:extLst>
          </p:cNvPr>
          <p:cNvSpPr>
            <a:spLocks xmlns:a="http://schemas.openxmlformats.org/drawingml/2006/main" noGrp="1"/>
          </p:cNvSpPr>
          <p:nvPr/>
        </p:nvSpPr>
        <p:spPr>
          <a:xfrm xmlns:a="http://schemas.openxmlformats.org/drawingml/2006/main">
            <a:off x="10396728" y="3849624"/>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Anlamsız</a:t>
            </a:r>
          </a:p>
        </p:txBody>
      </p:sp>
      <p:sp>
        <p:nvSpPr>
          <p:cNvPr id="65" name="Rectangle 64">
            <a:extLst xmlns:a="http://schemas.openxmlformats.org/drawingml/2006/main">
              <a:ext uri="{FF2B5EF4-FFF2-40B4-BE49-F238E27FC236}">
                <a16:creationId xmlns:a16="http://schemas.microsoft.com/office/drawing/2014/main" id="{08EFF59C-FD25-4041-937B-F7BCFC1EAF6C}"/>
              </a:ext>
            </a:extLst>
          </p:cNvPr>
          <p:cNvSpPr>
            <a:spLocks xmlns:a="http://schemas.openxmlformats.org/drawingml/2006/main" noGrp="1"/>
          </p:cNvSpPr>
          <p:nvPr/>
        </p:nvSpPr>
        <p:spPr>
          <a:xfrm xmlns:a="http://schemas.openxmlformats.org/drawingml/2006/main">
            <a:off x="685800" y="4187952"/>
            <a:ext cx="3931920" cy="402336"/>
          </a:xfrm>
          <a:prstGeom xmlns:a="http://schemas.openxmlformats.org/drawingml/2006/main" prst="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6" name="TextBox 65">
            <a:extLst xmlns:a="http://schemas.openxmlformats.org/drawingml/2006/main">
              <a:ext uri="{FF2B5EF4-FFF2-40B4-BE49-F238E27FC236}">
                <a16:creationId xmlns:a16="http://schemas.microsoft.com/office/drawing/2014/main" id="{0B076436-0ABF-4652-B45D-4C8EE3808A9B}"/>
              </a:ext>
            </a:extLst>
          </p:cNvPr>
          <p:cNvSpPr>
            <a:spLocks xmlns:a="http://schemas.openxmlformats.org/drawingml/2006/main" noGrp="1"/>
          </p:cNvSpPr>
          <p:nvPr/>
        </p:nvSpPr>
        <p:spPr>
          <a:xfrm xmlns:a="http://schemas.openxmlformats.org/drawingml/2006/main">
            <a:off x="749808" y="4251960"/>
            <a:ext cx="380390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Ödem</a:t>
            </a:r>
          </a:p>
        </p:txBody>
      </p:sp>
      <p:sp>
        <p:nvSpPr>
          <p:cNvPr id="67" name="Rectangle 66">
            <a:extLst xmlns:a="http://schemas.openxmlformats.org/drawingml/2006/main">
              <a:ext uri="{FF2B5EF4-FFF2-40B4-BE49-F238E27FC236}">
                <a16:creationId xmlns:a16="http://schemas.microsoft.com/office/drawing/2014/main" id="{29D98277-64E5-450B-AFC7-996AC7AA655C}"/>
              </a:ext>
            </a:extLst>
          </p:cNvPr>
          <p:cNvSpPr>
            <a:spLocks xmlns:a="http://schemas.openxmlformats.org/drawingml/2006/main" noGrp="1"/>
          </p:cNvSpPr>
          <p:nvPr/>
        </p:nvSpPr>
        <p:spPr>
          <a:xfrm xmlns:a="http://schemas.openxmlformats.org/drawingml/2006/main">
            <a:off x="4617720" y="4187952"/>
            <a:ext cx="2148840" cy="402336"/>
          </a:xfrm>
          <a:prstGeom xmlns:a="http://schemas.openxmlformats.org/drawingml/2006/main" prst="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8" name="TextBox 67">
            <a:extLst xmlns:a="http://schemas.openxmlformats.org/drawingml/2006/main">
              <a:ext uri="{FF2B5EF4-FFF2-40B4-BE49-F238E27FC236}">
                <a16:creationId xmlns:a16="http://schemas.microsoft.com/office/drawing/2014/main" id="{B418F6F0-8149-4F51-886E-3F236140CE0F}"/>
              </a:ext>
            </a:extLst>
          </p:cNvPr>
          <p:cNvSpPr>
            <a:spLocks xmlns:a="http://schemas.openxmlformats.org/drawingml/2006/main" noGrp="1"/>
          </p:cNvSpPr>
          <p:nvPr/>
        </p:nvSpPr>
        <p:spPr>
          <a:xfrm xmlns:a="http://schemas.openxmlformats.org/drawingml/2006/main">
            <a:off x="4681728" y="4251960"/>
            <a:ext cx="2020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8 (%80)</a:t>
            </a:r>
          </a:p>
        </p:txBody>
      </p:sp>
      <p:sp>
        <p:nvSpPr>
          <p:cNvPr id="69" name="Rectangle 68">
            <a:extLst xmlns:a="http://schemas.openxmlformats.org/drawingml/2006/main">
              <a:ext uri="{FF2B5EF4-FFF2-40B4-BE49-F238E27FC236}">
                <a16:creationId xmlns:a16="http://schemas.microsoft.com/office/drawing/2014/main" id="{A13390F1-E481-4840-9D66-F26ABE8CFAE3}"/>
              </a:ext>
            </a:extLst>
          </p:cNvPr>
          <p:cNvSpPr>
            <a:spLocks xmlns:a="http://schemas.openxmlformats.org/drawingml/2006/main" noGrp="1"/>
          </p:cNvSpPr>
          <p:nvPr/>
        </p:nvSpPr>
        <p:spPr>
          <a:xfrm xmlns:a="http://schemas.openxmlformats.org/drawingml/2006/main">
            <a:off x="6766560" y="4187952"/>
            <a:ext cx="2148840" cy="402336"/>
          </a:xfrm>
          <a:prstGeom xmlns:a="http://schemas.openxmlformats.org/drawingml/2006/main" prst="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0" name="TextBox 69">
            <a:extLst xmlns:a="http://schemas.openxmlformats.org/drawingml/2006/main">
              <a:ext uri="{FF2B5EF4-FFF2-40B4-BE49-F238E27FC236}">
                <a16:creationId xmlns:a16="http://schemas.microsoft.com/office/drawing/2014/main" id="{F641934E-529B-4969-B343-C6930B1A5065}"/>
              </a:ext>
            </a:extLst>
          </p:cNvPr>
          <p:cNvSpPr>
            <a:spLocks xmlns:a="http://schemas.openxmlformats.org/drawingml/2006/main" noGrp="1"/>
          </p:cNvSpPr>
          <p:nvPr/>
        </p:nvSpPr>
        <p:spPr>
          <a:xfrm xmlns:a="http://schemas.openxmlformats.org/drawingml/2006/main">
            <a:off x="6830568" y="4251960"/>
            <a:ext cx="2020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13 (%87)</a:t>
            </a:r>
          </a:p>
        </p:txBody>
      </p:sp>
      <p:sp>
        <p:nvSpPr>
          <p:cNvPr id="71" name="Rectangle 70">
            <a:extLst xmlns:a="http://schemas.openxmlformats.org/drawingml/2006/main">
              <a:ext uri="{FF2B5EF4-FFF2-40B4-BE49-F238E27FC236}">
                <a16:creationId xmlns:a16="http://schemas.microsoft.com/office/drawing/2014/main" id="{53CBF8ED-A1CA-4ECB-9672-2EBD484B867D}"/>
              </a:ext>
            </a:extLst>
          </p:cNvPr>
          <p:cNvSpPr>
            <a:spLocks xmlns:a="http://schemas.openxmlformats.org/drawingml/2006/main" noGrp="1"/>
          </p:cNvSpPr>
          <p:nvPr/>
        </p:nvSpPr>
        <p:spPr>
          <a:xfrm xmlns:a="http://schemas.openxmlformats.org/drawingml/2006/main">
            <a:off x="8915400" y="4187952"/>
            <a:ext cx="1417320" cy="402336"/>
          </a:xfrm>
          <a:prstGeom xmlns:a="http://schemas.openxmlformats.org/drawingml/2006/main" prst="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2" name="TextBox 71">
            <a:extLst xmlns:a="http://schemas.openxmlformats.org/drawingml/2006/main">
              <a:ext uri="{FF2B5EF4-FFF2-40B4-BE49-F238E27FC236}">
                <a16:creationId xmlns:a16="http://schemas.microsoft.com/office/drawing/2014/main" id="{FF379AF8-FE83-407A-9AC6-C787190FE4B8}"/>
              </a:ext>
            </a:extLst>
          </p:cNvPr>
          <p:cNvSpPr>
            <a:spLocks xmlns:a="http://schemas.openxmlformats.org/drawingml/2006/main" noGrp="1"/>
          </p:cNvSpPr>
          <p:nvPr/>
        </p:nvSpPr>
        <p:spPr>
          <a:xfrm xmlns:a="http://schemas.openxmlformats.org/drawingml/2006/main">
            <a:off x="8979408" y="4251960"/>
            <a:ext cx="128930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0,68</a:t>
            </a:r>
          </a:p>
        </p:txBody>
      </p:sp>
      <p:sp>
        <p:nvSpPr>
          <p:cNvPr id="73" name="Rectangle 72">
            <a:extLst xmlns:a="http://schemas.openxmlformats.org/drawingml/2006/main">
              <a:ext uri="{FF2B5EF4-FFF2-40B4-BE49-F238E27FC236}">
                <a16:creationId xmlns:a16="http://schemas.microsoft.com/office/drawing/2014/main" id="{958B662B-158B-4C38-8961-A5D34D4E12C6}"/>
              </a:ext>
            </a:extLst>
          </p:cNvPr>
          <p:cNvSpPr>
            <a:spLocks xmlns:a="http://schemas.openxmlformats.org/drawingml/2006/main" noGrp="1"/>
          </p:cNvSpPr>
          <p:nvPr/>
        </p:nvSpPr>
        <p:spPr>
          <a:xfrm xmlns:a="http://schemas.openxmlformats.org/drawingml/2006/main">
            <a:off x="10332720" y="4187952"/>
            <a:ext cx="1005840" cy="402336"/>
          </a:xfrm>
          <a:prstGeom xmlns:a="http://schemas.openxmlformats.org/drawingml/2006/main" prst="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4" name="TextBox 73">
            <a:extLst xmlns:a="http://schemas.openxmlformats.org/drawingml/2006/main">
              <a:ext uri="{FF2B5EF4-FFF2-40B4-BE49-F238E27FC236}">
                <a16:creationId xmlns:a16="http://schemas.microsoft.com/office/drawing/2014/main" id="{6ED7A343-B65B-4855-9F39-BFCA1C7A69C0}"/>
              </a:ext>
            </a:extLst>
          </p:cNvPr>
          <p:cNvSpPr>
            <a:spLocks xmlns:a="http://schemas.openxmlformats.org/drawingml/2006/main" noGrp="1"/>
          </p:cNvSpPr>
          <p:nvPr/>
        </p:nvSpPr>
        <p:spPr>
          <a:xfrm xmlns:a="http://schemas.openxmlformats.org/drawingml/2006/main">
            <a:off x="10396728" y="4251960"/>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Anlamsız</a:t>
            </a:r>
          </a:p>
        </p:txBody>
      </p:sp>
      <p:sp>
        <p:nvSpPr>
          <p:cNvPr id="75" name="Rectangle 74">
            <a:extLst xmlns:a="http://schemas.openxmlformats.org/drawingml/2006/main">
              <a:ext uri="{FF2B5EF4-FFF2-40B4-BE49-F238E27FC236}">
                <a16:creationId xmlns:a16="http://schemas.microsoft.com/office/drawing/2014/main" id="{437A5397-246E-414A-BE8F-B0268E9D058B}"/>
              </a:ext>
            </a:extLst>
          </p:cNvPr>
          <p:cNvSpPr>
            <a:spLocks xmlns:a="http://schemas.openxmlformats.org/drawingml/2006/main" noGrp="1"/>
          </p:cNvSpPr>
          <p:nvPr/>
        </p:nvSpPr>
        <p:spPr>
          <a:xfrm xmlns:a="http://schemas.openxmlformats.org/drawingml/2006/main">
            <a:off x="685800" y="4590288"/>
            <a:ext cx="3931920" cy="402336"/>
          </a:xfrm>
          <a:prstGeom xmlns:a="http://schemas.openxmlformats.org/drawingml/2006/main" prst="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6" name="TextBox 75">
            <a:extLst xmlns:a="http://schemas.openxmlformats.org/drawingml/2006/main">
              <a:ext uri="{FF2B5EF4-FFF2-40B4-BE49-F238E27FC236}">
                <a16:creationId xmlns:a16="http://schemas.microsoft.com/office/drawing/2014/main" id="{BD1A0A69-96ED-4D56-8645-E6E319BA91B9}"/>
              </a:ext>
            </a:extLst>
          </p:cNvPr>
          <p:cNvSpPr>
            <a:spLocks xmlns:a="http://schemas.openxmlformats.org/drawingml/2006/main" noGrp="1"/>
          </p:cNvSpPr>
          <p:nvPr/>
        </p:nvSpPr>
        <p:spPr>
          <a:xfrm xmlns:a="http://schemas.openxmlformats.org/drawingml/2006/main">
            <a:off x="749808" y="4654296"/>
            <a:ext cx="380390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İshal</a:t>
            </a:r>
          </a:p>
        </p:txBody>
      </p:sp>
      <p:sp>
        <p:nvSpPr>
          <p:cNvPr id="77" name="Rectangle 76">
            <a:extLst xmlns:a="http://schemas.openxmlformats.org/drawingml/2006/main">
              <a:ext uri="{FF2B5EF4-FFF2-40B4-BE49-F238E27FC236}">
                <a16:creationId xmlns:a16="http://schemas.microsoft.com/office/drawing/2014/main" id="{8E3AD7A1-9BE6-4C0C-BE94-55BAFEF08B25}"/>
              </a:ext>
            </a:extLst>
          </p:cNvPr>
          <p:cNvSpPr>
            <a:spLocks xmlns:a="http://schemas.openxmlformats.org/drawingml/2006/main" noGrp="1"/>
          </p:cNvSpPr>
          <p:nvPr/>
        </p:nvSpPr>
        <p:spPr>
          <a:xfrm xmlns:a="http://schemas.openxmlformats.org/drawingml/2006/main">
            <a:off x="4617720" y="4590288"/>
            <a:ext cx="2148840" cy="402336"/>
          </a:xfrm>
          <a:prstGeom xmlns:a="http://schemas.openxmlformats.org/drawingml/2006/main" prst="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8" name="TextBox 77">
            <a:extLst xmlns:a="http://schemas.openxmlformats.org/drawingml/2006/main">
              <a:ext uri="{FF2B5EF4-FFF2-40B4-BE49-F238E27FC236}">
                <a16:creationId xmlns:a16="http://schemas.microsoft.com/office/drawing/2014/main" id="{B264F64C-049E-4DF2-A762-0EE83A507C42}"/>
              </a:ext>
            </a:extLst>
          </p:cNvPr>
          <p:cNvSpPr>
            <a:spLocks xmlns:a="http://schemas.openxmlformats.org/drawingml/2006/main" noGrp="1"/>
          </p:cNvSpPr>
          <p:nvPr/>
        </p:nvSpPr>
        <p:spPr>
          <a:xfrm xmlns:a="http://schemas.openxmlformats.org/drawingml/2006/main">
            <a:off x="4681728" y="4654296"/>
            <a:ext cx="2020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6 (%60)</a:t>
            </a:r>
          </a:p>
        </p:txBody>
      </p:sp>
      <p:sp>
        <p:nvSpPr>
          <p:cNvPr id="79" name="Rectangle 78">
            <a:extLst xmlns:a="http://schemas.openxmlformats.org/drawingml/2006/main">
              <a:ext uri="{FF2B5EF4-FFF2-40B4-BE49-F238E27FC236}">
                <a16:creationId xmlns:a16="http://schemas.microsoft.com/office/drawing/2014/main" id="{EC201BBA-23FB-4199-869E-74624DEF9B18}"/>
              </a:ext>
            </a:extLst>
          </p:cNvPr>
          <p:cNvSpPr>
            <a:spLocks xmlns:a="http://schemas.openxmlformats.org/drawingml/2006/main" noGrp="1"/>
          </p:cNvSpPr>
          <p:nvPr/>
        </p:nvSpPr>
        <p:spPr>
          <a:xfrm xmlns:a="http://schemas.openxmlformats.org/drawingml/2006/main">
            <a:off x="6766560" y="4590288"/>
            <a:ext cx="2148840" cy="402336"/>
          </a:xfrm>
          <a:prstGeom xmlns:a="http://schemas.openxmlformats.org/drawingml/2006/main" prst="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0" name="TextBox 79">
            <a:extLst xmlns:a="http://schemas.openxmlformats.org/drawingml/2006/main">
              <a:ext uri="{FF2B5EF4-FFF2-40B4-BE49-F238E27FC236}">
                <a16:creationId xmlns:a16="http://schemas.microsoft.com/office/drawing/2014/main" id="{60ED7335-3690-44E4-8344-91F0E6B7B6E0}"/>
              </a:ext>
            </a:extLst>
          </p:cNvPr>
          <p:cNvSpPr>
            <a:spLocks xmlns:a="http://schemas.openxmlformats.org/drawingml/2006/main" noGrp="1"/>
          </p:cNvSpPr>
          <p:nvPr/>
        </p:nvSpPr>
        <p:spPr>
          <a:xfrm xmlns:a="http://schemas.openxmlformats.org/drawingml/2006/main">
            <a:off x="6830568" y="4654296"/>
            <a:ext cx="2020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6 (%40)</a:t>
            </a:r>
          </a:p>
        </p:txBody>
      </p:sp>
      <p:sp>
        <p:nvSpPr>
          <p:cNvPr id="81" name="Rectangle 80">
            <a:extLst xmlns:a="http://schemas.openxmlformats.org/drawingml/2006/main">
              <a:ext uri="{FF2B5EF4-FFF2-40B4-BE49-F238E27FC236}">
                <a16:creationId xmlns:a16="http://schemas.microsoft.com/office/drawing/2014/main" id="{BCBA2DD2-8658-401C-B25F-22812BBB7FD3}"/>
              </a:ext>
            </a:extLst>
          </p:cNvPr>
          <p:cNvSpPr>
            <a:spLocks xmlns:a="http://schemas.openxmlformats.org/drawingml/2006/main" noGrp="1"/>
          </p:cNvSpPr>
          <p:nvPr/>
        </p:nvSpPr>
        <p:spPr>
          <a:xfrm xmlns:a="http://schemas.openxmlformats.org/drawingml/2006/main">
            <a:off x="8915400" y="4590288"/>
            <a:ext cx="1417320" cy="402336"/>
          </a:xfrm>
          <a:prstGeom xmlns:a="http://schemas.openxmlformats.org/drawingml/2006/main" prst="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2" name="TextBox 81">
            <a:extLst xmlns:a="http://schemas.openxmlformats.org/drawingml/2006/main">
              <a:ext uri="{FF2B5EF4-FFF2-40B4-BE49-F238E27FC236}">
                <a16:creationId xmlns:a16="http://schemas.microsoft.com/office/drawing/2014/main" id="{F771C9FB-2A12-41B3-994C-76A7361B2432}"/>
              </a:ext>
            </a:extLst>
          </p:cNvPr>
          <p:cNvSpPr>
            <a:spLocks xmlns:a="http://schemas.openxmlformats.org/drawingml/2006/main" noGrp="1"/>
          </p:cNvSpPr>
          <p:nvPr/>
        </p:nvSpPr>
        <p:spPr>
          <a:xfrm xmlns:a="http://schemas.openxmlformats.org/drawingml/2006/main">
            <a:off x="8979408" y="4654296"/>
            <a:ext cx="128930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0,33</a:t>
            </a:r>
          </a:p>
        </p:txBody>
      </p:sp>
      <p:sp>
        <p:nvSpPr>
          <p:cNvPr id="83" name="Rectangle 82">
            <a:extLst xmlns:a="http://schemas.openxmlformats.org/drawingml/2006/main">
              <a:ext uri="{FF2B5EF4-FFF2-40B4-BE49-F238E27FC236}">
                <a16:creationId xmlns:a16="http://schemas.microsoft.com/office/drawing/2014/main" id="{83D5B0B8-534B-4E8E-9A3E-33CE7DC0F300}"/>
              </a:ext>
            </a:extLst>
          </p:cNvPr>
          <p:cNvSpPr>
            <a:spLocks xmlns:a="http://schemas.openxmlformats.org/drawingml/2006/main" noGrp="1"/>
          </p:cNvSpPr>
          <p:nvPr/>
        </p:nvSpPr>
        <p:spPr>
          <a:xfrm xmlns:a="http://schemas.openxmlformats.org/drawingml/2006/main">
            <a:off x="10332720" y="4590288"/>
            <a:ext cx="1005840" cy="402336"/>
          </a:xfrm>
          <a:prstGeom xmlns:a="http://schemas.openxmlformats.org/drawingml/2006/main" prst="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4" name="TextBox 83">
            <a:extLst xmlns:a="http://schemas.openxmlformats.org/drawingml/2006/main">
              <a:ext uri="{FF2B5EF4-FFF2-40B4-BE49-F238E27FC236}">
                <a16:creationId xmlns:a16="http://schemas.microsoft.com/office/drawing/2014/main" id="{E44B2D14-1112-4A91-B4D9-5E8120BB8778}"/>
              </a:ext>
            </a:extLst>
          </p:cNvPr>
          <p:cNvSpPr>
            <a:spLocks xmlns:a="http://schemas.openxmlformats.org/drawingml/2006/main" noGrp="1"/>
          </p:cNvSpPr>
          <p:nvPr/>
        </p:nvSpPr>
        <p:spPr>
          <a:xfrm xmlns:a="http://schemas.openxmlformats.org/drawingml/2006/main">
            <a:off x="10396728" y="4654296"/>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Anlamsız</a:t>
            </a:r>
          </a:p>
        </p:txBody>
      </p:sp>
      <p:sp>
        <p:nvSpPr>
          <p:cNvPr id="85" name="Rectangle 84">
            <a:extLst xmlns:a="http://schemas.openxmlformats.org/drawingml/2006/main">
              <a:ext uri="{FF2B5EF4-FFF2-40B4-BE49-F238E27FC236}">
                <a16:creationId xmlns:a16="http://schemas.microsoft.com/office/drawing/2014/main" id="{771A5742-DE9A-4BE2-B222-09AA86B15AC2}"/>
              </a:ext>
            </a:extLst>
          </p:cNvPr>
          <p:cNvSpPr>
            <a:spLocks xmlns:a="http://schemas.openxmlformats.org/drawingml/2006/main" noGrp="1"/>
          </p:cNvSpPr>
          <p:nvPr/>
        </p:nvSpPr>
        <p:spPr>
          <a:xfrm xmlns:a="http://schemas.openxmlformats.org/drawingml/2006/main">
            <a:off x="685800" y="4992624"/>
            <a:ext cx="3931920" cy="402336"/>
          </a:xfrm>
          <a:prstGeom xmlns:a="http://schemas.openxmlformats.org/drawingml/2006/main" prst="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6" name="TextBox 85">
            <a:extLst xmlns:a="http://schemas.openxmlformats.org/drawingml/2006/main">
              <a:ext uri="{FF2B5EF4-FFF2-40B4-BE49-F238E27FC236}">
                <a16:creationId xmlns:a16="http://schemas.microsoft.com/office/drawing/2014/main" id="{4860AFEF-C1FD-4871-A217-6A16D545DD6C}"/>
              </a:ext>
            </a:extLst>
          </p:cNvPr>
          <p:cNvSpPr>
            <a:spLocks xmlns:a="http://schemas.openxmlformats.org/drawingml/2006/main" noGrp="1"/>
          </p:cNvSpPr>
          <p:nvPr/>
        </p:nvSpPr>
        <p:spPr>
          <a:xfrm xmlns:a="http://schemas.openxmlformats.org/drawingml/2006/main">
            <a:off x="749808" y="5056632"/>
            <a:ext cx="380390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Asit</a:t>
            </a:r>
          </a:p>
        </p:txBody>
      </p:sp>
      <p:sp>
        <p:nvSpPr>
          <p:cNvPr id="87" name="Rectangle 86">
            <a:extLst xmlns:a="http://schemas.openxmlformats.org/drawingml/2006/main">
              <a:ext uri="{FF2B5EF4-FFF2-40B4-BE49-F238E27FC236}">
                <a16:creationId xmlns:a16="http://schemas.microsoft.com/office/drawing/2014/main" id="{3DF49445-CEFD-4188-83F7-6C3BC2837EDB}"/>
              </a:ext>
            </a:extLst>
          </p:cNvPr>
          <p:cNvSpPr>
            <a:spLocks xmlns:a="http://schemas.openxmlformats.org/drawingml/2006/main" noGrp="1"/>
          </p:cNvSpPr>
          <p:nvPr/>
        </p:nvSpPr>
        <p:spPr>
          <a:xfrm xmlns:a="http://schemas.openxmlformats.org/drawingml/2006/main">
            <a:off x="4617720" y="4992624"/>
            <a:ext cx="2148840" cy="402336"/>
          </a:xfrm>
          <a:prstGeom xmlns:a="http://schemas.openxmlformats.org/drawingml/2006/main" prst="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8" name="TextBox 87">
            <a:extLst xmlns:a="http://schemas.openxmlformats.org/drawingml/2006/main">
              <a:ext uri="{FF2B5EF4-FFF2-40B4-BE49-F238E27FC236}">
                <a16:creationId xmlns:a16="http://schemas.microsoft.com/office/drawing/2014/main" id="{49D2B329-02CC-4E0C-B326-4DDEF93ADA10}"/>
              </a:ext>
            </a:extLst>
          </p:cNvPr>
          <p:cNvSpPr>
            <a:spLocks xmlns:a="http://schemas.openxmlformats.org/drawingml/2006/main" noGrp="1"/>
          </p:cNvSpPr>
          <p:nvPr/>
        </p:nvSpPr>
        <p:spPr>
          <a:xfrm xmlns:a="http://schemas.openxmlformats.org/drawingml/2006/main">
            <a:off x="4681728" y="5056632"/>
            <a:ext cx="2020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2 (%20)</a:t>
            </a:r>
          </a:p>
        </p:txBody>
      </p:sp>
      <p:sp>
        <p:nvSpPr>
          <p:cNvPr id="89" name="Rectangle 88">
            <a:extLst xmlns:a="http://schemas.openxmlformats.org/drawingml/2006/main">
              <a:ext uri="{FF2B5EF4-FFF2-40B4-BE49-F238E27FC236}">
                <a16:creationId xmlns:a16="http://schemas.microsoft.com/office/drawing/2014/main" id="{36214386-776D-40EF-9E75-BBB7CFF53CCA}"/>
              </a:ext>
            </a:extLst>
          </p:cNvPr>
          <p:cNvSpPr>
            <a:spLocks xmlns:a="http://schemas.openxmlformats.org/drawingml/2006/main" noGrp="1"/>
          </p:cNvSpPr>
          <p:nvPr/>
        </p:nvSpPr>
        <p:spPr>
          <a:xfrm xmlns:a="http://schemas.openxmlformats.org/drawingml/2006/main">
            <a:off x="6766560" y="4992624"/>
            <a:ext cx="2148840" cy="402336"/>
          </a:xfrm>
          <a:prstGeom xmlns:a="http://schemas.openxmlformats.org/drawingml/2006/main" prst="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0" name="TextBox 89">
            <a:extLst xmlns:a="http://schemas.openxmlformats.org/drawingml/2006/main">
              <a:ext uri="{FF2B5EF4-FFF2-40B4-BE49-F238E27FC236}">
                <a16:creationId xmlns:a16="http://schemas.microsoft.com/office/drawing/2014/main" id="{B65AEDD2-B597-47AA-96D8-464D44914903}"/>
              </a:ext>
            </a:extLst>
          </p:cNvPr>
          <p:cNvSpPr>
            <a:spLocks xmlns:a="http://schemas.openxmlformats.org/drawingml/2006/main" noGrp="1"/>
          </p:cNvSpPr>
          <p:nvPr/>
        </p:nvSpPr>
        <p:spPr>
          <a:xfrm xmlns:a="http://schemas.openxmlformats.org/drawingml/2006/main">
            <a:off x="6830568" y="5056632"/>
            <a:ext cx="2020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8 (%53)</a:t>
            </a:r>
          </a:p>
        </p:txBody>
      </p:sp>
      <p:sp>
        <p:nvSpPr>
          <p:cNvPr id="91" name="Rectangle 90">
            <a:extLst xmlns:a="http://schemas.openxmlformats.org/drawingml/2006/main">
              <a:ext uri="{FF2B5EF4-FFF2-40B4-BE49-F238E27FC236}">
                <a16:creationId xmlns:a16="http://schemas.microsoft.com/office/drawing/2014/main" id="{094EC407-E3E4-4A45-B84A-DA1EC1027B70}"/>
              </a:ext>
            </a:extLst>
          </p:cNvPr>
          <p:cNvSpPr>
            <a:spLocks xmlns:a="http://schemas.openxmlformats.org/drawingml/2006/main" noGrp="1"/>
          </p:cNvSpPr>
          <p:nvPr/>
        </p:nvSpPr>
        <p:spPr>
          <a:xfrm xmlns:a="http://schemas.openxmlformats.org/drawingml/2006/main">
            <a:off x="8915400" y="4992624"/>
            <a:ext cx="1417320" cy="402336"/>
          </a:xfrm>
          <a:prstGeom xmlns:a="http://schemas.openxmlformats.org/drawingml/2006/main" prst="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2" name="TextBox 91">
            <a:extLst xmlns:a="http://schemas.openxmlformats.org/drawingml/2006/main">
              <a:ext uri="{FF2B5EF4-FFF2-40B4-BE49-F238E27FC236}">
                <a16:creationId xmlns:a16="http://schemas.microsoft.com/office/drawing/2014/main" id="{A3199717-2FCB-42B9-B631-D9ADEB380B72}"/>
              </a:ext>
            </a:extLst>
          </p:cNvPr>
          <p:cNvSpPr>
            <a:spLocks xmlns:a="http://schemas.openxmlformats.org/drawingml/2006/main" noGrp="1"/>
          </p:cNvSpPr>
          <p:nvPr/>
        </p:nvSpPr>
        <p:spPr>
          <a:xfrm xmlns:a="http://schemas.openxmlformats.org/drawingml/2006/main">
            <a:off x="8979408" y="5056632"/>
            <a:ext cx="128930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0,095</a:t>
            </a:r>
          </a:p>
        </p:txBody>
      </p:sp>
      <p:sp>
        <p:nvSpPr>
          <p:cNvPr id="93" name="Rectangle 92">
            <a:extLst xmlns:a="http://schemas.openxmlformats.org/drawingml/2006/main">
              <a:ext uri="{FF2B5EF4-FFF2-40B4-BE49-F238E27FC236}">
                <a16:creationId xmlns:a16="http://schemas.microsoft.com/office/drawing/2014/main" id="{3E9C5C19-92ED-4584-BE75-CE1B1F85A1D6}"/>
              </a:ext>
            </a:extLst>
          </p:cNvPr>
          <p:cNvSpPr>
            <a:spLocks xmlns:a="http://schemas.openxmlformats.org/drawingml/2006/main" noGrp="1"/>
          </p:cNvSpPr>
          <p:nvPr/>
        </p:nvSpPr>
        <p:spPr>
          <a:xfrm xmlns:a="http://schemas.openxmlformats.org/drawingml/2006/main">
            <a:off x="10332720" y="4992624"/>
            <a:ext cx="1005840" cy="402336"/>
          </a:xfrm>
          <a:prstGeom xmlns:a="http://schemas.openxmlformats.org/drawingml/2006/main" prst="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4" name="TextBox 93">
            <a:extLst xmlns:a="http://schemas.openxmlformats.org/drawingml/2006/main">
              <a:ext uri="{FF2B5EF4-FFF2-40B4-BE49-F238E27FC236}">
                <a16:creationId xmlns:a16="http://schemas.microsoft.com/office/drawing/2014/main" id="{489AFDE9-2557-4024-BA8C-2E3FEADFF14A}"/>
              </a:ext>
            </a:extLst>
          </p:cNvPr>
          <p:cNvSpPr>
            <a:spLocks xmlns:a="http://schemas.openxmlformats.org/drawingml/2006/main" noGrp="1"/>
          </p:cNvSpPr>
          <p:nvPr/>
        </p:nvSpPr>
        <p:spPr>
          <a:xfrm xmlns:a="http://schemas.openxmlformats.org/drawingml/2006/main">
            <a:off x="10396728" y="5056632"/>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Anlamsız</a:t>
            </a:r>
          </a:p>
        </p:txBody>
      </p:sp>
      <p:sp>
        <p:nvSpPr>
          <p:cNvPr id="95" name="Rectangle 94">
            <a:extLst xmlns:a="http://schemas.openxmlformats.org/drawingml/2006/main">
              <a:ext uri="{FF2B5EF4-FFF2-40B4-BE49-F238E27FC236}">
                <a16:creationId xmlns:a16="http://schemas.microsoft.com/office/drawing/2014/main" id="{C682E137-6194-4888-B527-655A7174B9CE}"/>
              </a:ext>
            </a:extLst>
          </p:cNvPr>
          <p:cNvSpPr>
            <a:spLocks xmlns:a="http://schemas.openxmlformats.org/drawingml/2006/main" noGrp="1"/>
          </p:cNvSpPr>
          <p:nvPr/>
        </p:nvSpPr>
        <p:spPr>
          <a:xfrm xmlns:a="http://schemas.openxmlformats.org/drawingml/2006/main">
            <a:off x="685800" y="5394960"/>
            <a:ext cx="3931920" cy="402336"/>
          </a:xfrm>
          <a:prstGeom xmlns:a="http://schemas.openxmlformats.org/drawingml/2006/main" prst="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6" name="TextBox 95">
            <a:extLst xmlns:a="http://schemas.openxmlformats.org/drawingml/2006/main">
              <a:ext uri="{FF2B5EF4-FFF2-40B4-BE49-F238E27FC236}">
                <a16:creationId xmlns:a16="http://schemas.microsoft.com/office/drawing/2014/main" id="{DBA72B8A-E077-48C2-9848-88A8E1610A4B}"/>
              </a:ext>
            </a:extLst>
          </p:cNvPr>
          <p:cNvSpPr>
            <a:spLocks xmlns:a="http://schemas.openxmlformats.org/drawingml/2006/main" noGrp="1"/>
          </p:cNvSpPr>
          <p:nvPr/>
        </p:nvSpPr>
        <p:spPr>
          <a:xfrm xmlns:a="http://schemas.openxmlformats.org/drawingml/2006/main">
            <a:off x="749808" y="5458968"/>
            <a:ext cx="380390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Lenfosit / IgG</a:t>
            </a:r>
          </a:p>
        </p:txBody>
      </p:sp>
      <p:sp>
        <p:nvSpPr>
          <p:cNvPr id="97" name="Rectangle 96">
            <a:extLst xmlns:a="http://schemas.openxmlformats.org/drawingml/2006/main">
              <a:ext uri="{FF2B5EF4-FFF2-40B4-BE49-F238E27FC236}">
                <a16:creationId xmlns:a16="http://schemas.microsoft.com/office/drawing/2014/main" id="{7AE38AD8-D6A5-4AB5-A2DA-57309865DC69}"/>
              </a:ext>
            </a:extLst>
          </p:cNvPr>
          <p:cNvSpPr>
            <a:spLocks xmlns:a="http://schemas.openxmlformats.org/drawingml/2006/main" noGrp="1"/>
          </p:cNvSpPr>
          <p:nvPr/>
        </p:nvSpPr>
        <p:spPr>
          <a:xfrm xmlns:a="http://schemas.openxmlformats.org/drawingml/2006/main">
            <a:off x="4617720" y="5394960"/>
            <a:ext cx="2148840" cy="402336"/>
          </a:xfrm>
          <a:prstGeom xmlns:a="http://schemas.openxmlformats.org/drawingml/2006/main" prst="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8" name="TextBox 97">
            <a:extLst xmlns:a="http://schemas.openxmlformats.org/drawingml/2006/main">
              <a:ext uri="{FF2B5EF4-FFF2-40B4-BE49-F238E27FC236}">
                <a16:creationId xmlns:a16="http://schemas.microsoft.com/office/drawing/2014/main" id="{EBB58192-1D73-4FF6-9CAA-3D20AB9C648E}"/>
              </a:ext>
            </a:extLst>
          </p:cNvPr>
          <p:cNvSpPr>
            <a:spLocks xmlns:a="http://schemas.openxmlformats.org/drawingml/2006/main" noGrp="1"/>
          </p:cNvSpPr>
          <p:nvPr/>
        </p:nvSpPr>
        <p:spPr>
          <a:xfrm xmlns:a="http://schemas.openxmlformats.org/drawingml/2006/main">
            <a:off x="4681728" y="5458968"/>
            <a:ext cx="2020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000">
                <a:latin typeface="Aptos"/>
                <a:ea typeface="Aptos"/>
                <a:cs typeface="Aptos"/>
              </a:rPr>
              <a:t>Anlamlı değil</a:t>
            </a:r>
          </a:p>
        </p:txBody>
      </p:sp>
      <p:sp>
        <p:nvSpPr>
          <p:cNvPr id="99" name="Rectangle 98">
            <a:extLst xmlns:a="http://schemas.openxmlformats.org/drawingml/2006/main">
              <a:ext uri="{FF2B5EF4-FFF2-40B4-BE49-F238E27FC236}">
                <a16:creationId xmlns:a16="http://schemas.microsoft.com/office/drawing/2014/main" id="{511D37C2-3ED3-4C10-991A-83809BE3331C}"/>
              </a:ext>
            </a:extLst>
          </p:cNvPr>
          <p:cNvSpPr>
            <a:spLocks xmlns:a="http://schemas.openxmlformats.org/drawingml/2006/main" noGrp="1"/>
          </p:cNvSpPr>
          <p:nvPr/>
        </p:nvSpPr>
        <p:spPr>
          <a:xfrm xmlns:a="http://schemas.openxmlformats.org/drawingml/2006/main">
            <a:off x="6766560" y="5394960"/>
            <a:ext cx="2148840" cy="402336"/>
          </a:xfrm>
          <a:prstGeom xmlns:a="http://schemas.openxmlformats.org/drawingml/2006/main" prst="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0" name="TextBox 99">
            <a:extLst xmlns:a="http://schemas.openxmlformats.org/drawingml/2006/main">
              <a:ext uri="{FF2B5EF4-FFF2-40B4-BE49-F238E27FC236}">
                <a16:creationId xmlns:a16="http://schemas.microsoft.com/office/drawing/2014/main" id="{A9B6102D-97D7-4177-A3EA-FD04CEF8F6EC}"/>
              </a:ext>
            </a:extLst>
          </p:cNvPr>
          <p:cNvSpPr>
            <a:spLocks xmlns:a="http://schemas.openxmlformats.org/drawingml/2006/main" noGrp="1"/>
          </p:cNvSpPr>
          <p:nvPr/>
        </p:nvSpPr>
        <p:spPr>
          <a:xfrm xmlns:a="http://schemas.openxmlformats.org/drawingml/2006/main">
            <a:off x="6830568" y="5458968"/>
            <a:ext cx="2020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Benzer</a:t>
            </a:r>
          </a:p>
        </p:txBody>
      </p:sp>
      <p:sp>
        <p:nvSpPr>
          <p:cNvPr id="101" name="Rectangle 100">
            <a:extLst xmlns:a="http://schemas.openxmlformats.org/drawingml/2006/main">
              <a:ext uri="{FF2B5EF4-FFF2-40B4-BE49-F238E27FC236}">
                <a16:creationId xmlns:a16="http://schemas.microsoft.com/office/drawing/2014/main" id="{086C5B3F-6FE9-4A71-AF41-C9C129C23BB5}"/>
              </a:ext>
            </a:extLst>
          </p:cNvPr>
          <p:cNvSpPr>
            <a:spLocks xmlns:a="http://schemas.openxmlformats.org/drawingml/2006/main" noGrp="1"/>
          </p:cNvSpPr>
          <p:nvPr/>
        </p:nvSpPr>
        <p:spPr>
          <a:xfrm xmlns:a="http://schemas.openxmlformats.org/drawingml/2006/main">
            <a:off x="8915400" y="5394960"/>
            <a:ext cx="1417320" cy="402336"/>
          </a:xfrm>
          <a:prstGeom xmlns:a="http://schemas.openxmlformats.org/drawingml/2006/main" prst="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2" name="TextBox 101">
            <a:extLst xmlns:a="http://schemas.openxmlformats.org/drawingml/2006/main">
              <a:ext uri="{FF2B5EF4-FFF2-40B4-BE49-F238E27FC236}">
                <a16:creationId xmlns:a16="http://schemas.microsoft.com/office/drawing/2014/main" id="{358A0F48-3326-49F3-B757-D89461A2B59F}"/>
              </a:ext>
            </a:extLst>
          </p:cNvPr>
          <p:cNvSpPr>
            <a:spLocks xmlns:a="http://schemas.openxmlformats.org/drawingml/2006/main" noGrp="1"/>
          </p:cNvSpPr>
          <p:nvPr/>
        </p:nvSpPr>
        <p:spPr>
          <a:xfrm xmlns:a="http://schemas.openxmlformats.org/drawingml/2006/main">
            <a:off x="8979408" y="5458968"/>
            <a:ext cx="128930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&gt;0,05</a:t>
            </a:r>
          </a:p>
        </p:txBody>
      </p:sp>
      <p:sp>
        <p:nvSpPr>
          <p:cNvPr id="103" name="Rectangle 102">
            <a:extLst xmlns:a="http://schemas.openxmlformats.org/drawingml/2006/main">
              <a:ext uri="{FF2B5EF4-FFF2-40B4-BE49-F238E27FC236}">
                <a16:creationId xmlns:a16="http://schemas.microsoft.com/office/drawing/2014/main" id="{1FED0826-C4D9-4852-BEB7-1C794D0A7D43}"/>
              </a:ext>
            </a:extLst>
          </p:cNvPr>
          <p:cNvSpPr>
            <a:spLocks xmlns:a="http://schemas.openxmlformats.org/drawingml/2006/main" noGrp="1"/>
          </p:cNvSpPr>
          <p:nvPr/>
        </p:nvSpPr>
        <p:spPr>
          <a:xfrm xmlns:a="http://schemas.openxmlformats.org/drawingml/2006/main">
            <a:off x="10332720" y="5394960"/>
            <a:ext cx="1005840" cy="402336"/>
          </a:xfrm>
          <a:prstGeom xmlns:a="http://schemas.openxmlformats.org/drawingml/2006/main" prst="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4" name="TextBox 103">
            <a:extLst xmlns:a="http://schemas.openxmlformats.org/drawingml/2006/main">
              <a:ext uri="{FF2B5EF4-FFF2-40B4-BE49-F238E27FC236}">
                <a16:creationId xmlns:a16="http://schemas.microsoft.com/office/drawing/2014/main" id="{734DE4F0-0563-40B5-90DD-5E262B151BBF}"/>
              </a:ext>
            </a:extLst>
          </p:cNvPr>
          <p:cNvSpPr>
            <a:spLocks xmlns:a="http://schemas.openxmlformats.org/drawingml/2006/main" noGrp="1"/>
          </p:cNvSpPr>
          <p:nvPr/>
        </p:nvSpPr>
        <p:spPr>
          <a:xfrm xmlns:a="http://schemas.openxmlformats.org/drawingml/2006/main">
            <a:off x="10396728" y="5458968"/>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Anlamsız</a:t>
            </a:r>
          </a:p>
        </p:txBody>
      </p:sp>
      <p:sp>
        <p:nvSpPr>
          <p:cNvPr id="105" name="Rectangle 104">
            <a:extLst xmlns:a="http://schemas.openxmlformats.org/drawingml/2006/main">
              <a:ext uri="{FF2B5EF4-FFF2-40B4-BE49-F238E27FC236}">
                <a16:creationId xmlns:a16="http://schemas.microsoft.com/office/drawing/2014/main" id="{40C99528-BFE8-4BCB-8DE2-C8922C359188}"/>
              </a:ext>
            </a:extLst>
          </p:cNvPr>
          <p:cNvSpPr>
            <a:spLocks xmlns:a="http://schemas.openxmlformats.org/drawingml/2006/main" noGrp="1"/>
          </p:cNvSpPr>
          <p:nvPr/>
        </p:nvSpPr>
        <p:spPr>
          <a:xfrm xmlns:a="http://schemas.openxmlformats.org/drawingml/2006/main">
            <a:off x="685800" y="5797296"/>
            <a:ext cx="3931920" cy="402336"/>
          </a:xfrm>
          <a:prstGeom xmlns:a="http://schemas.openxmlformats.org/drawingml/2006/main" prst="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6" name="TextBox 105">
            <a:extLst xmlns:a="http://schemas.openxmlformats.org/drawingml/2006/main">
              <a:ext uri="{FF2B5EF4-FFF2-40B4-BE49-F238E27FC236}">
                <a16:creationId xmlns:a16="http://schemas.microsoft.com/office/drawing/2014/main" id="{A1241A35-B43E-4D83-A338-FE8C13025D92}"/>
              </a:ext>
            </a:extLst>
          </p:cNvPr>
          <p:cNvSpPr>
            <a:spLocks xmlns:a="http://schemas.openxmlformats.org/drawingml/2006/main" noGrp="1"/>
          </p:cNvSpPr>
          <p:nvPr/>
        </p:nvSpPr>
        <p:spPr>
          <a:xfrm xmlns:a="http://schemas.openxmlformats.org/drawingml/2006/main">
            <a:off x="749808" y="5861304"/>
            <a:ext cx="380390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Endoskopi / biyopsi</a:t>
            </a:r>
          </a:p>
        </p:txBody>
      </p:sp>
      <p:sp>
        <p:nvSpPr>
          <p:cNvPr id="107" name="Rectangle 106">
            <a:extLst xmlns:a="http://schemas.openxmlformats.org/drawingml/2006/main">
              <a:ext uri="{FF2B5EF4-FFF2-40B4-BE49-F238E27FC236}">
                <a16:creationId xmlns:a16="http://schemas.microsoft.com/office/drawing/2014/main" id="{456FF362-9B49-4923-994E-06BDC93D5010}"/>
              </a:ext>
            </a:extLst>
          </p:cNvPr>
          <p:cNvSpPr>
            <a:spLocks xmlns:a="http://schemas.openxmlformats.org/drawingml/2006/main" noGrp="1"/>
          </p:cNvSpPr>
          <p:nvPr/>
        </p:nvSpPr>
        <p:spPr>
          <a:xfrm xmlns:a="http://schemas.openxmlformats.org/drawingml/2006/main">
            <a:off x="4617720" y="5797296"/>
            <a:ext cx="2148840" cy="402336"/>
          </a:xfrm>
          <a:prstGeom xmlns:a="http://schemas.openxmlformats.org/drawingml/2006/main" prst="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8" name="TextBox 107">
            <a:extLst xmlns:a="http://schemas.openxmlformats.org/drawingml/2006/main">
              <a:ext uri="{FF2B5EF4-FFF2-40B4-BE49-F238E27FC236}">
                <a16:creationId xmlns:a16="http://schemas.microsoft.com/office/drawing/2014/main" id="{6CFCAA8E-E369-4A80-91CD-D455313F886A}"/>
              </a:ext>
            </a:extLst>
          </p:cNvPr>
          <p:cNvSpPr>
            <a:spLocks xmlns:a="http://schemas.openxmlformats.org/drawingml/2006/main" noGrp="1"/>
          </p:cNvSpPr>
          <p:nvPr/>
        </p:nvSpPr>
        <p:spPr>
          <a:xfrm xmlns:a="http://schemas.openxmlformats.org/drawingml/2006/main">
            <a:off x="4681728" y="5861304"/>
            <a:ext cx="2020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Benzer</a:t>
            </a:r>
          </a:p>
        </p:txBody>
      </p:sp>
      <p:sp>
        <p:nvSpPr>
          <p:cNvPr id="109" name="Rectangle 108">
            <a:extLst xmlns:a="http://schemas.openxmlformats.org/drawingml/2006/main">
              <a:ext uri="{FF2B5EF4-FFF2-40B4-BE49-F238E27FC236}">
                <a16:creationId xmlns:a16="http://schemas.microsoft.com/office/drawing/2014/main" id="{C1F4B8E8-7E6B-4A14-B871-D6A1EBAF12E2}"/>
              </a:ext>
            </a:extLst>
          </p:cNvPr>
          <p:cNvSpPr>
            <a:spLocks xmlns:a="http://schemas.openxmlformats.org/drawingml/2006/main" noGrp="1"/>
          </p:cNvSpPr>
          <p:nvPr/>
        </p:nvSpPr>
        <p:spPr>
          <a:xfrm xmlns:a="http://schemas.openxmlformats.org/drawingml/2006/main">
            <a:off x="6766560" y="5797296"/>
            <a:ext cx="2148840" cy="402336"/>
          </a:xfrm>
          <a:prstGeom xmlns:a="http://schemas.openxmlformats.org/drawingml/2006/main" prst="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TextBox 109">
            <a:extLst xmlns:a="http://schemas.openxmlformats.org/drawingml/2006/main">
              <a:ext uri="{FF2B5EF4-FFF2-40B4-BE49-F238E27FC236}">
                <a16:creationId xmlns:a16="http://schemas.microsoft.com/office/drawing/2014/main" id="{D2ABB4C4-DF67-4C69-BD39-47D2D25A577E}"/>
              </a:ext>
            </a:extLst>
          </p:cNvPr>
          <p:cNvSpPr>
            <a:spLocks xmlns:a="http://schemas.openxmlformats.org/drawingml/2006/main" noGrp="1"/>
          </p:cNvSpPr>
          <p:nvPr/>
        </p:nvSpPr>
        <p:spPr>
          <a:xfrm xmlns:a="http://schemas.openxmlformats.org/drawingml/2006/main">
            <a:off x="6830568" y="5861304"/>
            <a:ext cx="2020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Benzer</a:t>
            </a:r>
          </a:p>
        </p:txBody>
      </p:sp>
      <p:sp>
        <p:nvSpPr>
          <p:cNvPr id="111" name="Rectangle 110">
            <a:extLst xmlns:a="http://schemas.openxmlformats.org/drawingml/2006/main">
              <a:ext uri="{FF2B5EF4-FFF2-40B4-BE49-F238E27FC236}">
                <a16:creationId xmlns:a16="http://schemas.microsoft.com/office/drawing/2014/main" id="{863DE5B6-7563-438F-95ED-7D8C739C72A3}"/>
              </a:ext>
            </a:extLst>
          </p:cNvPr>
          <p:cNvSpPr>
            <a:spLocks xmlns:a="http://schemas.openxmlformats.org/drawingml/2006/main" noGrp="1"/>
          </p:cNvSpPr>
          <p:nvPr/>
        </p:nvSpPr>
        <p:spPr>
          <a:xfrm xmlns:a="http://schemas.openxmlformats.org/drawingml/2006/main">
            <a:off x="8915400" y="5797296"/>
            <a:ext cx="1417320" cy="402336"/>
          </a:xfrm>
          <a:prstGeom xmlns:a="http://schemas.openxmlformats.org/drawingml/2006/main" prst="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TextBox 111">
            <a:extLst xmlns:a="http://schemas.openxmlformats.org/drawingml/2006/main">
              <a:ext uri="{FF2B5EF4-FFF2-40B4-BE49-F238E27FC236}">
                <a16:creationId xmlns:a16="http://schemas.microsoft.com/office/drawing/2014/main" id="{211954AB-CA59-4107-A28B-39B76C85A446}"/>
              </a:ext>
            </a:extLst>
          </p:cNvPr>
          <p:cNvSpPr>
            <a:spLocks xmlns:a="http://schemas.openxmlformats.org/drawingml/2006/main" noGrp="1"/>
          </p:cNvSpPr>
          <p:nvPr/>
        </p:nvSpPr>
        <p:spPr>
          <a:xfrm xmlns:a="http://schemas.openxmlformats.org/drawingml/2006/main">
            <a:off x="8979408" y="5861304"/>
            <a:ext cx="128930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&gt;0,05</a:t>
            </a:r>
          </a:p>
        </p:txBody>
      </p:sp>
      <p:sp>
        <p:nvSpPr>
          <p:cNvPr id="113" name="Rectangle 112">
            <a:extLst xmlns:a="http://schemas.openxmlformats.org/drawingml/2006/main">
              <a:ext uri="{FF2B5EF4-FFF2-40B4-BE49-F238E27FC236}">
                <a16:creationId xmlns:a16="http://schemas.microsoft.com/office/drawing/2014/main" id="{8B781144-481D-4E9D-811C-1CF8218B4C3C}"/>
              </a:ext>
            </a:extLst>
          </p:cNvPr>
          <p:cNvSpPr>
            <a:spLocks xmlns:a="http://schemas.openxmlformats.org/drawingml/2006/main" noGrp="1"/>
          </p:cNvSpPr>
          <p:nvPr/>
        </p:nvSpPr>
        <p:spPr>
          <a:xfrm xmlns:a="http://schemas.openxmlformats.org/drawingml/2006/main">
            <a:off x="10332720" y="5797296"/>
            <a:ext cx="1005840" cy="402336"/>
          </a:xfrm>
          <a:prstGeom xmlns:a="http://schemas.openxmlformats.org/drawingml/2006/main" prst="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TextBox 113">
            <a:extLst xmlns:a="http://schemas.openxmlformats.org/drawingml/2006/main">
              <a:ext uri="{FF2B5EF4-FFF2-40B4-BE49-F238E27FC236}">
                <a16:creationId xmlns:a16="http://schemas.microsoft.com/office/drawing/2014/main" id="{7AA470C4-3DFF-4F94-A816-A2E5C857A0F8}"/>
              </a:ext>
            </a:extLst>
          </p:cNvPr>
          <p:cNvSpPr>
            <a:spLocks xmlns:a="http://schemas.openxmlformats.org/drawingml/2006/main" noGrp="1"/>
          </p:cNvSpPr>
          <p:nvPr/>
        </p:nvSpPr>
        <p:spPr>
          <a:xfrm xmlns:a="http://schemas.openxmlformats.org/drawingml/2006/main">
            <a:off x="10396728" y="5861304"/>
            <a:ext cx="877824"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263445"/>
                </a:solidFill>
                <a:latin typeface="Aptos"/>
                <a:ea typeface="Aptos"/>
                <a:cs typeface="Aptos"/>
              </a:defRPr>
            </a:pPr>
            <a:r>
              <a:t>Anlamsız</a:t>
            </a:r>
          </a:p>
        </p:txBody>
      </p:sp>
      <p:sp>
        <p:nvSpPr>
          <p:cNvPr id="115" name="TextBox 114">
            <a:extLst xmlns:a="http://schemas.openxmlformats.org/drawingml/2006/main">
              <a:ext uri="{FF2B5EF4-FFF2-40B4-BE49-F238E27FC236}">
                <a16:creationId xmlns:a16="http://schemas.microsoft.com/office/drawing/2014/main" id="{34636ACC-CF0A-40F9-8447-658A763B7ACD}"/>
              </a:ext>
            </a:extLst>
          </p:cNvPr>
          <p:cNvSpPr>
            <a:spLocks xmlns:a="http://schemas.openxmlformats.org/drawingml/2006/main" noGrp="1"/>
          </p:cNvSpPr>
          <p:nvPr/>
        </p:nvSpPr>
        <p:spPr>
          <a:xfrm xmlns:a="http://schemas.openxmlformats.org/drawingml/2006/main">
            <a:off x="777240" y="6291072"/>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000" b="0">
                <a:solidFill>
                  <a:srgbClr val="667584"/>
                </a:solidFill>
                <a:latin typeface="Aptos"/>
                <a:ea typeface="Aptos"/>
                <a:cs typeface="Aptos"/>
              </a:defRPr>
            </a:pPr>
            <a:r>
              <a:t>Kısmi yanıt grubunda lenfödem ve genetik varyant daha sık; tam yanıt grubunda tanı anı albümin ve total protein daha düşüktü.</a:t>
            </a:r>
          </a:p>
        </p:txBody>
      </p:sp>
      <p:sp xmlns:a="http://schemas.openxmlformats.org/drawingml/2006/main">
        <p:nvSpPr>
          <p:cNvPr id="116" name="Inceleme notu"/>
          <p:cNvSpPr txBox="1"/>
          <p:nvPr/>
        </p:nvSpPr>
        <p:spPr>
          <a:xfrm>
            <a:off x="150000" y="6537536"/>
            <a:ext cx="11891695" cy="295464"/>
          </a:xfrm>
          <a:prstGeom prst="rect">
            <a:avLst/>
          </a:prstGeom>
          <a:solidFill>
            <a:srgbClr val="FFF4CC"/>
          </a:solidFill>
          <a:ln w="9525">
            <a:solidFill>
              <a:srgbClr val="C99A00"/>
            </a:solidFill>
          </a:ln>
        </p:spPr>
        <p:txBody>
          <a:bodyPr wrap="square" anchor="ctr" tIns="27432" bIns="27432">
            <a:spAutoFit/>
          </a:bodyPr>
          <a:lstStyle/>
          <a:p>
            <a:r>
              <a:rPr b="1" sz="750">
                <a:solidFill>
                  <a:srgbClr val="A61B1B"/>
                </a:solidFill>
              </a:rPr>
              <a:t>İnceleme notu: </a:t>
            </a:r>
            <a:r>
              <a:rPr sz="750">
                <a:solidFill>
                  <a:srgbClr val="1F1F1F"/>
                </a:solidFill>
              </a:rPr>
              <a:t>Lenfödem (0/10–6/15) ve genetik varyant (0/10–5/15): beklenen hücre &lt;5 → Fisher exact: p=0,051 ve p=0,061, ANLAMLI DEĞİL. Makaledeki 0,022/0,041 düzeltmesiz ki-kare. “Lenfosit/IgG” satırında “Anlamlı değil” değer sütununa kaymış; IgG benzer değil: 0,61–1,3 g/L (p=0,18). Paradoks: tam yanıtlıların başlangıç albümini daha düşük.</a:t>
            </a:r>
          </a:p>
        </p:txBody>
      </p:sp>
    </p:spTree>
    <p:extLst>
      <p:ext uri="{BB962C8B-B14F-4D97-AF65-F5344CB8AC3E}">
        <p14:creationId xmlns:p14="http://schemas.microsoft.com/office/powerpoint/2010/main" val="135965837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225ACE7-ACE4-4EF0-9E77-35EAA2942EE9}"/>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00919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4E16DD9F-AED6-416B-9B5F-3A79B3DDC41A}"/>
              </a:ext>
            </a:extLst>
          </p:cNvPr>
          <p:cNvSpPr>
            <a:spLocks xmlns:a="http://schemas.openxmlformats.org/drawingml/2006/main" noGrp="1"/>
          </p:cNvSpPr>
          <p:nvPr/>
        </p:nvSpPr>
        <p:spPr>
          <a:xfrm xmlns:a="http://schemas.openxmlformats.org/drawingml/2006/main">
            <a:off x="658368" y="384048"/>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400" b="1">
                <a:solidFill>
                  <a:srgbClr val="12263F"/>
                </a:solidFill>
                <a:latin typeface="Aptos"/>
                <a:ea typeface="Aptos"/>
                <a:cs typeface="Aptos"/>
              </a:defRPr>
            </a:pPr>
            <a:r>
              <a:t>İKİNCİ BASAMAK TEDAVİ DENEYİMİ</a:t>
            </a:r>
          </a:p>
        </p:txBody>
      </p:sp>
      <p:sp>
        <p:nvSpPr>
          <p:cNvPr id="4" name="TextBox 3">
            <a:extLst xmlns:a="http://schemas.openxmlformats.org/drawingml/2006/main">
              <a:ext uri="{FF2B5EF4-FFF2-40B4-BE49-F238E27FC236}">
                <a16:creationId xmlns:a16="http://schemas.microsoft.com/office/drawing/2014/main" id="{7364F058-2FD6-488B-BF2A-46B9AF0AB36B}"/>
              </a:ext>
            </a:extLst>
          </p:cNvPr>
          <p:cNvSpPr>
            <a:spLocks xmlns:a="http://schemas.openxmlformats.org/drawingml/2006/main" noGrp="1"/>
          </p:cNvSpPr>
          <p:nvPr/>
        </p:nvSpPr>
        <p:spPr>
          <a:xfrm xmlns:a="http://schemas.openxmlformats.org/drawingml/2006/main">
            <a:off x="676656" y="987552"/>
            <a:ext cx="1088136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667584"/>
                </a:solidFill>
                <a:latin typeface="Aptos"/>
                <a:ea typeface="Aptos"/>
                <a:cs typeface="Aptos"/>
              </a:defRPr>
            </a:pPr>
            <a:r>
              <a:t>Çalışma kohortunda 4 çocuk (%12) aldı</a:t>
            </a:r>
          </a:p>
        </p:txBody>
      </p:sp>
      <p:sp>
        <p:nvSpPr>
          <p:cNvPr id="5" name="Rounded Rectangle 4">
            <a:extLst xmlns:a="http://schemas.openxmlformats.org/drawingml/2006/main">
              <a:ext uri="{FF2B5EF4-FFF2-40B4-BE49-F238E27FC236}">
                <a16:creationId xmlns:a16="http://schemas.microsoft.com/office/drawing/2014/main" id="{AF07A998-0F15-4983-B7C3-67511AC9B70A}"/>
              </a:ext>
            </a:extLst>
          </p:cNvPr>
          <p:cNvSpPr>
            <a:spLocks xmlns:a="http://schemas.openxmlformats.org/drawingml/2006/main" noGrp="1"/>
          </p:cNvSpPr>
          <p:nvPr/>
        </p:nvSpPr>
        <p:spPr>
          <a:xfrm xmlns:a="http://schemas.openxmlformats.org/drawingml/2006/main">
            <a:off x="822960" y="1572768"/>
            <a:ext cx="3474720" cy="749808"/>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0BEBD2FD-004E-47FF-A13D-4DCEC715CB3B}"/>
              </a:ext>
            </a:extLst>
          </p:cNvPr>
          <p:cNvSpPr>
            <a:spLocks xmlns:a="http://schemas.openxmlformats.org/drawingml/2006/main" noGrp="1"/>
          </p:cNvSpPr>
          <p:nvPr/>
        </p:nvSpPr>
        <p:spPr>
          <a:xfrm xmlns:a="http://schemas.openxmlformats.org/drawingml/2006/main">
            <a:off x="987552" y="1755648"/>
            <a:ext cx="2468880"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009196"/>
                </a:solidFill>
                <a:latin typeface="Aptos"/>
                <a:ea typeface="Aptos"/>
                <a:cs typeface="Aptos"/>
              </a:defRPr>
            </a:pPr>
            <a:r>
              <a:t>Oktreotid</a:t>
            </a:r>
          </a:p>
        </p:txBody>
      </p:sp>
      <p:sp>
        <p:nvSpPr>
          <p:cNvPr id="7" name="TextBox 6">
            <a:extLst xmlns:a="http://schemas.openxmlformats.org/drawingml/2006/main">
              <a:ext uri="{FF2B5EF4-FFF2-40B4-BE49-F238E27FC236}">
                <a16:creationId xmlns:a16="http://schemas.microsoft.com/office/drawing/2014/main" id="{28A6B320-2AB2-412E-95B3-C99291F6C557}"/>
              </a:ext>
            </a:extLst>
          </p:cNvPr>
          <p:cNvSpPr>
            <a:spLocks xmlns:a="http://schemas.openxmlformats.org/drawingml/2006/main" noGrp="1"/>
          </p:cNvSpPr>
          <p:nvPr/>
        </p:nvSpPr>
        <p:spPr>
          <a:xfrm xmlns:a="http://schemas.openxmlformats.org/drawingml/2006/main">
            <a:off x="3611879" y="1728216"/>
            <a:ext cx="457200"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800" b="1">
                <a:solidFill>
                  <a:srgbClr val="12263F"/>
                </a:solidFill>
                <a:latin typeface="Aptos"/>
                <a:ea typeface="Aptos"/>
                <a:cs typeface="Aptos"/>
              </a:defRPr>
            </a:pPr>
            <a:r>
              <a:t>1</a:t>
            </a:r>
          </a:p>
        </p:txBody>
      </p:sp>
      <p:sp>
        <p:nvSpPr>
          <p:cNvPr id="8" name="Rounded Rectangle 7">
            <a:extLst xmlns:a="http://schemas.openxmlformats.org/drawingml/2006/main">
              <a:ext uri="{FF2B5EF4-FFF2-40B4-BE49-F238E27FC236}">
                <a16:creationId xmlns:a16="http://schemas.microsoft.com/office/drawing/2014/main" id="{836EE24F-EBF2-4B27-B6A2-2049996D5CB8}"/>
              </a:ext>
            </a:extLst>
          </p:cNvPr>
          <p:cNvSpPr>
            <a:spLocks xmlns:a="http://schemas.openxmlformats.org/drawingml/2006/main" noGrp="1"/>
          </p:cNvSpPr>
          <p:nvPr/>
        </p:nvSpPr>
        <p:spPr>
          <a:xfrm xmlns:a="http://schemas.openxmlformats.org/drawingml/2006/main">
            <a:off x="4617720" y="1572768"/>
            <a:ext cx="3474720" cy="749808"/>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A3DAA7D8-7850-4A21-9E98-A992C1C00A96}"/>
              </a:ext>
            </a:extLst>
          </p:cNvPr>
          <p:cNvSpPr>
            <a:spLocks xmlns:a="http://schemas.openxmlformats.org/drawingml/2006/main" noGrp="1"/>
          </p:cNvSpPr>
          <p:nvPr/>
        </p:nvSpPr>
        <p:spPr>
          <a:xfrm xmlns:a="http://schemas.openxmlformats.org/drawingml/2006/main">
            <a:off x="4782312" y="1755648"/>
            <a:ext cx="2468880"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009196"/>
                </a:solidFill>
                <a:latin typeface="Aptos"/>
                <a:ea typeface="Aptos"/>
                <a:cs typeface="Aptos"/>
              </a:defRPr>
            </a:pPr>
            <a:r>
              <a:t>Sirolimus</a:t>
            </a:r>
          </a:p>
        </p:txBody>
      </p:sp>
      <p:sp>
        <p:nvSpPr>
          <p:cNvPr id="10" name="TextBox 9">
            <a:extLst xmlns:a="http://schemas.openxmlformats.org/drawingml/2006/main">
              <a:ext uri="{FF2B5EF4-FFF2-40B4-BE49-F238E27FC236}">
                <a16:creationId xmlns:a16="http://schemas.microsoft.com/office/drawing/2014/main" id="{56E54943-2E71-4FC1-9D4B-B4A559A81C8B}"/>
              </a:ext>
            </a:extLst>
          </p:cNvPr>
          <p:cNvSpPr>
            <a:spLocks xmlns:a="http://schemas.openxmlformats.org/drawingml/2006/main" noGrp="1"/>
          </p:cNvSpPr>
          <p:nvPr/>
        </p:nvSpPr>
        <p:spPr>
          <a:xfrm xmlns:a="http://schemas.openxmlformats.org/drawingml/2006/main">
            <a:off x="7406640" y="1728216"/>
            <a:ext cx="457200"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800" b="1">
                <a:solidFill>
                  <a:srgbClr val="12263F"/>
                </a:solidFill>
                <a:latin typeface="Aptos"/>
                <a:ea typeface="Aptos"/>
                <a:cs typeface="Aptos"/>
              </a:defRPr>
            </a:pPr>
            <a:r>
              <a:t>2</a:t>
            </a:r>
          </a:p>
        </p:txBody>
      </p:sp>
      <p:sp>
        <p:nvSpPr>
          <p:cNvPr id="11" name="Rounded Rectangle 10">
            <a:extLst xmlns:a="http://schemas.openxmlformats.org/drawingml/2006/main">
              <a:ext uri="{FF2B5EF4-FFF2-40B4-BE49-F238E27FC236}">
                <a16:creationId xmlns:a16="http://schemas.microsoft.com/office/drawing/2014/main" id="{CADBB6DE-F137-46C5-BC17-A6A977265BC5}"/>
              </a:ext>
            </a:extLst>
          </p:cNvPr>
          <p:cNvSpPr>
            <a:spLocks xmlns:a="http://schemas.openxmlformats.org/drawingml/2006/main" noGrp="1"/>
          </p:cNvSpPr>
          <p:nvPr/>
        </p:nvSpPr>
        <p:spPr>
          <a:xfrm xmlns:a="http://schemas.openxmlformats.org/drawingml/2006/main">
            <a:off x="8412480" y="1572768"/>
            <a:ext cx="3474720" cy="749808"/>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FDBE45FD-C9CA-488F-9F2E-F36B123D857F}"/>
              </a:ext>
            </a:extLst>
          </p:cNvPr>
          <p:cNvSpPr>
            <a:spLocks xmlns:a="http://schemas.openxmlformats.org/drawingml/2006/main" noGrp="1"/>
          </p:cNvSpPr>
          <p:nvPr/>
        </p:nvSpPr>
        <p:spPr>
          <a:xfrm xmlns:a="http://schemas.openxmlformats.org/drawingml/2006/main">
            <a:off x="8577072" y="1755648"/>
            <a:ext cx="2468880"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009196"/>
                </a:solidFill>
                <a:latin typeface="Aptos"/>
                <a:ea typeface="Aptos"/>
                <a:cs typeface="Aptos"/>
              </a:defRPr>
            </a:pPr>
            <a:r>
              <a:t>Kalsiparin → oktreotid</a:t>
            </a:r>
          </a:p>
        </p:txBody>
      </p:sp>
      <p:sp>
        <p:nvSpPr>
          <p:cNvPr id="13" name="TextBox 12">
            <a:extLst xmlns:a="http://schemas.openxmlformats.org/drawingml/2006/main">
              <a:ext uri="{FF2B5EF4-FFF2-40B4-BE49-F238E27FC236}">
                <a16:creationId xmlns:a16="http://schemas.microsoft.com/office/drawing/2014/main" id="{2FDFA2CD-CFAF-44C6-960E-80CE0CC7996B}"/>
              </a:ext>
            </a:extLst>
          </p:cNvPr>
          <p:cNvSpPr>
            <a:spLocks xmlns:a="http://schemas.openxmlformats.org/drawingml/2006/main" noGrp="1"/>
          </p:cNvSpPr>
          <p:nvPr/>
        </p:nvSpPr>
        <p:spPr>
          <a:xfrm xmlns:a="http://schemas.openxmlformats.org/drawingml/2006/main">
            <a:off x="11201400" y="1728216"/>
            <a:ext cx="457200"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800" b="1">
                <a:solidFill>
                  <a:srgbClr val="12263F"/>
                </a:solidFill>
                <a:latin typeface="Aptos"/>
                <a:ea typeface="Aptos"/>
                <a:cs typeface="Aptos"/>
              </a:defRPr>
            </a:pPr>
            <a:r>
              <a:t>1</a:t>
            </a:r>
          </a:p>
        </p:txBody>
      </p:sp>
      <p:sp>
        <p:nvSpPr>
          <p:cNvPr id="14" name="Rounded Rectangle 13">
            <a:extLst xmlns:a="http://schemas.openxmlformats.org/drawingml/2006/main">
              <a:ext uri="{FF2B5EF4-FFF2-40B4-BE49-F238E27FC236}">
                <a16:creationId xmlns:a16="http://schemas.microsoft.com/office/drawing/2014/main" id="{32491F56-D958-4592-8A90-A655BFE2472B}"/>
              </a:ext>
            </a:extLst>
          </p:cNvPr>
          <p:cNvSpPr>
            <a:spLocks xmlns:a="http://schemas.openxmlformats.org/drawingml/2006/main" noGrp="1"/>
          </p:cNvSpPr>
          <p:nvPr/>
        </p:nvSpPr>
        <p:spPr>
          <a:xfrm xmlns:a="http://schemas.openxmlformats.org/drawingml/2006/main">
            <a:off x="822960" y="2670048"/>
            <a:ext cx="5257800" cy="1371600"/>
          </a:xfrm>
          <a:prstGeom xmlns:a="http://schemas.openxmlformats.org/drawingml/2006/main" prst="round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95B80F6D-4F07-4E07-AE5A-93400B8C4A3C}"/>
              </a:ext>
            </a:extLst>
          </p:cNvPr>
          <p:cNvSpPr>
            <a:spLocks xmlns:a="http://schemas.openxmlformats.org/drawingml/2006/main" noGrp="1"/>
          </p:cNvSpPr>
          <p:nvPr/>
        </p:nvSpPr>
        <p:spPr>
          <a:xfrm xmlns:a="http://schemas.openxmlformats.org/drawingml/2006/main">
            <a:off x="1005840" y="2816352"/>
            <a:ext cx="484632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1">
                <a:solidFill>
                  <a:srgbClr val="009196"/>
                </a:solidFill>
                <a:latin typeface="Aptos"/>
                <a:ea typeface="Aptos"/>
                <a:cs typeface="Aptos"/>
              </a:defRPr>
            </a:pPr>
            <a:r>
              <a:t>Diyet sonrası klinik yakınmalar</a:t>
            </a:r>
          </a:p>
        </p:txBody>
      </p:sp>
      <p:sp>
        <p:nvSpPr>
          <p:cNvPr id="16" name="TextBox 15">
            <a:extLst xmlns:a="http://schemas.openxmlformats.org/drawingml/2006/main">
              <a:ext uri="{FF2B5EF4-FFF2-40B4-BE49-F238E27FC236}">
                <a16:creationId xmlns:a16="http://schemas.microsoft.com/office/drawing/2014/main" id="{04F13C0B-8D8D-4D59-BE2E-BC17FEB4CAB4}"/>
              </a:ext>
            </a:extLst>
          </p:cNvPr>
          <p:cNvSpPr>
            <a:spLocks xmlns:a="http://schemas.openxmlformats.org/drawingml/2006/main" noGrp="1"/>
          </p:cNvSpPr>
          <p:nvPr/>
        </p:nvSpPr>
        <p:spPr>
          <a:xfrm xmlns:a="http://schemas.openxmlformats.org/drawingml/2006/main">
            <a:off x="1005840" y="3145536"/>
            <a:ext cx="4846320" cy="7498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0">
                <a:solidFill>
                  <a:srgbClr val="263445"/>
                </a:solidFill>
                <a:latin typeface="Aptos"/>
                <a:ea typeface="Aptos"/>
                <a:cs typeface="Aptos"/>
              </a:defRPr>
            </a:pPr>
            <a:r>
              <a:t>Oktreotid 40 µg/kg/güne kadar artırıldı; 1 ayda etkisiz olduğu için kesildi. Sonrasında yalnız diyetle tam yanıt gelişti.</a:t>
            </a:r>
          </a:p>
        </p:txBody>
      </p:sp>
      <p:sp>
        <p:nvSpPr>
          <p:cNvPr id="17" name="Rounded Rectangle 16">
            <a:extLst xmlns:a="http://schemas.openxmlformats.org/drawingml/2006/main">
              <a:ext uri="{FF2B5EF4-FFF2-40B4-BE49-F238E27FC236}">
                <a16:creationId xmlns:a16="http://schemas.microsoft.com/office/drawing/2014/main" id="{E61FFC1C-D0F5-4A28-89B4-A9FD4D11AD99}"/>
              </a:ext>
            </a:extLst>
          </p:cNvPr>
          <p:cNvSpPr>
            <a:spLocks xmlns:a="http://schemas.openxmlformats.org/drawingml/2006/main" noGrp="1"/>
          </p:cNvSpPr>
          <p:nvPr/>
        </p:nvSpPr>
        <p:spPr>
          <a:xfrm xmlns:a="http://schemas.openxmlformats.org/drawingml/2006/main">
            <a:off x="6446520" y="2670048"/>
            <a:ext cx="5257800" cy="1371600"/>
          </a:xfrm>
          <a:prstGeom xmlns:a="http://schemas.openxmlformats.org/drawingml/2006/main" prst="round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B8B2D1C6-6E70-460E-B66D-D86B54B9B49E}"/>
              </a:ext>
            </a:extLst>
          </p:cNvPr>
          <p:cNvSpPr>
            <a:spLocks xmlns:a="http://schemas.openxmlformats.org/drawingml/2006/main" noGrp="1"/>
          </p:cNvSpPr>
          <p:nvPr/>
        </p:nvSpPr>
        <p:spPr>
          <a:xfrm xmlns:a="http://schemas.openxmlformats.org/drawingml/2006/main">
            <a:off x="6629400" y="2816352"/>
            <a:ext cx="484632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1">
                <a:solidFill>
                  <a:srgbClr val="009196"/>
                </a:solidFill>
                <a:latin typeface="Aptos"/>
                <a:ea typeface="Aptos"/>
                <a:cs typeface="Aptos"/>
              </a:defRPr>
            </a:pPr>
            <a:r>
              <a:t>Kısmi yanıt + düşük IgG</a:t>
            </a:r>
          </a:p>
        </p:txBody>
      </p:sp>
      <p:sp>
        <p:nvSpPr>
          <p:cNvPr id="19" name="TextBox 18">
            <a:extLst xmlns:a="http://schemas.openxmlformats.org/drawingml/2006/main">
              <a:ext uri="{FF2B5EF4-FFF2-40B4-BE49-F238E27FC236}">
                <a16:creationId xmlns:a16="http://schemas.microsoft.com/office/drawing/2014/main" id="{CDEFA90D-32A7-4251-B4A2-D263D1DA3BF1}"/>
              </a:ext>
            </a:extLst>
          </p:cNvPr>
          <p:cNvSpPr>
            <a:spLocks xmlns:a="http://schemas.openxmlformats.org/drawingml/2006/main" noGrp="1"/>
          </p:cNvSpPr>
          <p:nvPr/>
        </p:nvSpPr>
        <p:spPr>
          <a:xfrm xmlns:a="http://schemas.openxmlformats.org/drawingml/2006/main">
            <a:off x="6629400" y="3145536"/>
            <a:ext cx="4846320" cy="7498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0">
                <a:solidFill>
                  <a:srgbClr val="263445"/>
                </a:solidFill>
                <a:latin typeface="Aptos"/>
                <a:ea typeface="Aptos"/>
                <a:cs typeface="Aptos"/>
              </a:defRPr>
            </a:pPr>
            <a:r>
              <a:t>Sirolimus laboratuvar değerlerini başlangıçta iyileştirdi (albümin 27→34 g/L; IgG normale yaklaştı). Etki kaybı nedeniyle 18 ayda kesildi.</a:t>
            </a:r>
          </a:p>
        </p:txBody>
      </p:sp>
      <p:sp>
        <p:nvSpPr>
          <p:cNvPr id="20" name="Rounded Rectangle 19">
            <a:extLst xmlns:a="http://schemas.openxmlformats.org/drawingml/2006/main">
              <a:ext uri="{FF2B5EF4-FFF2-40B4-BE49-F238E27FC236}">
                <a16:creationId xmlns:a16="http://schemas.microsoft.com/office/drawing/2014/main" id="{C4083437-8AC1-4988-B8AC-4974B78F805A}"/>
              </a:ext>
            </a:extLst>
          </p:cNvPr>
          <p:cNvSpPr>
            <a:spLocks xmlns:a="http://schemas.openxmlformats.org/drawingml/2006/main" noGrp="1"/>
          </p:cNvSpPr>
          <p:nvPr/>
        </p:nvSpPr>
        <p:spPr>
          <a:xfrm xmlns:a="http://schemas.openxmlformats.org/drawingml/2006/main">
            <a:off x="822960" y="4297680"/>
            <a:ext cx="5257800" cy="1371600"/>
          </a:xfrm>
          <a:prstGeom xmlns:a="http://schemas.openxmlformats.org/drawingml/2006/main" prst="round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05AC59CF-B67F-458A-ABC9-825C3EF03B42}"/>
              </a:ext>
            </a:extLst>
          </p:cNvPr>
          <p:cNvSpPr>
            <a:spLocks xmlns:a="http://schemas.openxmlformats.org/drawingml/2006/main" noGrp="1"/>
          </p:cNvSpPr>
          <p:nvPr/>
        </p:nvSpPr>
        <p:spPr>
          <a:xfrm xmlns:a="http://schemas.openxmlformats.org/drawingml/2006/main">
            <a:off x="1005840" y="4443984"/>
            <a:ext cx="484632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1">
                <a:solidFill>
                  <a:srgbClr val="009196"/>
                </a:solidFill>
                <a:latin typeface="Aptos"/>
                <a:ea typeface="Aptos"/>
                <a:cs typeface="Aptos"/>
              </a:defRPr>
            </a:pPr>
            <a:r>
              <a:t>Yaygın lenfatik tutulum + lenfödem</a:t>
            </a:r>
          </a:p>
        </p:txBody>
      </p:sp>
      <p:sp>
        <p:nvSpPr>
          <p:cNvPr id="22" name="TextBox 21">
            <a:extLst xmlns:a="http://schemas.openxmlformats.org/drawingml/2006/main">
              <a:ext uri="{FF2B5EF4-FFF2-40B4-BE49-F238E27FC236}">
                <a16:creationId xmlns:a16="http://schemas.microsoft.com/office/drawing/2014/main" id="{09845A29-A77F-4378-9482-6AA6813BC5D6}"/>
              </a:ext>
            </a:extLst>
          </p:cNvPr>
          <p:cNvSpPr>
            <a:spLocks xmlns:a="http://schemas.openxmlformats.org/drawingml/2006/main" noGrp="1"/>
          </p:cNvSpPr>
          <p:nvPr/>
        </p:nvSpPr>
        <p:spPr>
          <a:xfrm xmlns:a="http://schemas.openxmlformats.org/drawingml/2006/main">
            <a:off x="1005840" y="4773168"/>
            <a:ext cx="4846320" cy="7498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0">
                <a:solidFill>
                  <a:srgbClr val="263445"/>
                </a:solidFill>
                <a:latin typeface="Aptos"/>
                <a:ea typeface="Aptos"/>
                <a:cs typeface="Aptos"/>
              </a:defRPr>
            </a:pPr>
            <a:r>
              <a:t>Kalsiparin 1 yıl kullanıldı; geçici iyileşme sonrası 5 yıl sonra nüks oldu. Oktreotid etkisizlik nedeniyle 1 yılda kesildi.</a:t>
            </a:r>
          </a:p>
        </p:txBody>
      </p:sp>
      <p:sp>
        <p:nvSpPr>
          <p:cNvPr id="23" name="Rounded Rectangle 22">
            <a:extLst xmlns:a="http://schemas.openxmlformats.org/drawingml/2006/main">
              <a:ext uri="{FF2B5EF4-FFF2-40B4-BE49-F238E27FC236}">
                <a16:creationId xmlns:a16="http://schemas.microsoft.com/office/drawing/2014/main" id="{A9CB1E28-E5EE-43B1-A8BC-36F468CFB661}"/>
              </a:ext>
            </a:extLst>
          </p:cNvPr>
          <p:cNvSpPr>
            <a:spLocks xmlns:a="http://schemas.openxmlformats.org/drawingml/2006/main" noGrp="1"/>
          </p:cNvSpPr>
          <p:nvPr/>
        </p:nvSpPr>
        <p:spPr>
          <a:xfrm xmlns:a="http://schemas.openxmlformats.org/drawingml/2006/main">
            <a:off x="6446520" y="4297680"/>
            <a:ext cx="5257800" cy="1371600"/>
          </a:xfrm>
          <a:prstGeom xmlns:a="http://schemas.openxmlformats.org/drawingml/2006/main" prst="round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A0B78CBE-E04F-42B1-B73F-238512B43AE1}"/>
              </a:ext>
            </a:extLst>
          </p:cNvPr>
          <p:cNvSpPr>
            <a:spLocks xmlns:a="http://schemas.openxmlformats.org/drawingml/2006/main" noGrp="1"/>
          </p:cNvSpPr>
          <p:nvPr/>
        </p:nvSpPr>
        <p:spPr>
          <a:xfrm xmlns:a="http://schemas.openxmlformats.org/drawingml/2006/main">
            <a:off x="6629400" y="4443984"/>
            <a:ext cx="484632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1">
                <a:solidFill>
                  <a:srgbClr val="009196"/>
                </a:solidFill>
                <a:latin typeface="Aptos"/>
                <a:ea typeface="Aptos"/>
                <a:cs typeface="Aptos"/>
              </a:defRPr>
            </a:pPr>
            <a:r>
              <a:t>Yaygın lenfatik tutulum + lenfödem</a:t>
            </a:r>
          </a:p>
        </p:txBody>
      </p:sp>
      <p:sp>
        <p:nvSpPr>
          <p:cNvPr id="25" name="TextBox 24">
            <a:extLst xmlns:a="http://schemas.openxmlformats.org/drawingml/2006/main">
              <a:ext uri="{FF2B5EF4-FFF2-40B4-BE49-F238E27FC236}">
                <a16:creationId xmlns:a16="http://schemas.microsoft.com/office/drawing/2014/main" id="{47F63780-5944-49D7-872F-F2D7E86A12BE}"/>
              </a:ext>
            </a:extLst>
          </p:cNvPr>
          <p:cNvSpPr>
            <a:spLocks xmlns:a="http://schemas.openxmlformats.org/drawingml/2006/main" noGrp="1"/>
          </p:cNvSpPr>
          <p:nvPr/>
        </p:nvSpPr>
        <p:spPr>
          <a:xfrm xmlns:a="http://schemas.openxmlformats.org/drawingml/2006/main">
            <a:off x="6629400" y="4773168"/>
            <a:ext cx="4846320" cy="7498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0">
                <a:solidFill>
                  <a:srgbClr val="263445"/>
                </a:solidFill>
                <a:latin typeface="Aptos"/>
                <a:ea typeface="Aptos"/>
                <a:cs typeface="Aptos"/>
              </a:defRPr>
            </a:pPr>
            <a:r>
              <a:t>Sirolimus, diyet başarısızlığından sonra başlandı; etkisiz olduğu için 6 ayda kesildi.</a:t>
            </a:r>
          </a:p>
        </p:txBody>
      </p:sp>
      <p:sp>
        <p:nvSpPr>
          <p:cNvPr id="26" name="TextBox 25">
            <a:extLst xmlns:a="http://schemas.openxmlformats.org/drawingml/2006/main">
              <a:ext uri="{FF2B5EF4-FFF2-40B4-BE49-F238E27FC236}">
                <a16:creationId xmlns:a16="http://schemas.microsoft.com/office/drawing/2014/main" id="{A48BFF9E-EC02-4855-86F7-48ED8905DF82}"/>
              </a:ext>
            </a:extLst>
          </p:cNvPr>
          <p:cNvSpPr>
            <a:spLocks xmlns:a="http://schemas.openxmlformats.org/drawingml/2006/main" noGrp="1"/>
          </p:cNvSpPr>
          <p:nvPr/>
        </p:nvSpPr>
        <p:spPr>
          <a:xfrm xmlns:a="http://schemas.openxmlformats.org/drawingml/2006/main">
            <a:off x="896112" y="6053328"/>
            <a:ext cx="1051560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0">
                <a:solidFill>
                  <a:srgbClr val="667584"/>
                </a:solidFill>
                <a:latin typeface="Aptos"/>
                <a:ea typeface="Aptos"/>
                <a:cs typeface="Aptos"/>
              </a:defRPr>
            </a:pPr>
            <a:r>
              <a:t>Olgu sayısı az; sonuçlar tedavi etkinliğini karşılaştırmak için yeterli değildir.</a:t>
            </a:r>
          </a:p>
        </p:txBody>
      </p:sp>
      <p:sp xmlns:a="http://schemas.openxmlformats.org/drawingml/2006/main">
        <p:nvSpPr>
          <p:cNvPr id="27" name="Inceleme notu"/>
          <p:cNvSpPr txBox="1"/>
          <p:nvPr/>
        </p:nvSpPr>
        <p:spPr>
          <a:xfrm>
            <a:off x="150000" y="6628976"/>
            <a:ext cx="11891695" cy="204024"/>
          </a:xfrm>
          <a:prstGeom prst="rect">
            <a:avLst/>
          </a:prstGeom>
          <a:solidFill>
            <a:srgbClr val="FFF4CC"/>
          </a:solidFill>
          <a:ln w="9525">
            <a:solidFill>
              <a:srgbClr val="C99A00"/>
            </a:solidFill>
          </a:ln>
        </p:spPr>
        <p:txBody>
          <a:bodyPr wrap="square" anchor="ctr" tIns="27432" bIns="27432">
            <a:spAutoFit/>
          </a:bodyPr>
          <a:lstStyle/>
          <a:p>
            <a:r>
              <a:rPr b="1" sz="900">
                <a:solidFill>
                  <a:srgbClr val="A61B1B"/>
                </a:solidFill>
              </a:rPr>
              <a:t>İnceleme notu: </a:t>
            </a:r>
            <a:r>
              <a:rPr sz="900">
                <a:solidFill>
                  <a:srgbClr val="1F1F1F"/>
                </a:solidFill>
              </a:rPr>
              <a:t>Kalsiparin = kalsiyum heparin (Calciparine) [doğrulanmalı]. Oktreotid 1 ayda “etkisiz” sayılmış; değerlendirme süresi kısa. 4 olgu: etkinlik yorumlanamaz.</a:t>
            </a:r>
          </a:p>
        </p:txBody>
      </p:sp>
    </p:spTree>
    <p:extLst>
      <p:ext uri="{BB962C8B-B14F-4D97-AF65-F5344CB8AC3E}">
        <p14:creationId xmlns:p14="http://schemas.microsoft.com/office/powerpoint/2010/main" val="411497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684A841-2243-41F1-A0D2-C7E68FA47D48}"/>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00919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9B000CFD-869F-47FB-A27D-1CF790E70F06}"/>
              </a:ext>
            </a:extLst>
          </p:cNvPr>
          <p:cNvSpPr>
            <a:spLocks xmlns:a="http://schemas.openxmlformats.org/drawingml/2006/main" noGrp="1"/>
          </p:cNvSpPr>
          <p:nvPr/>
        </p:nvSpPr>
        <p:spPr>
          <a:xfrm xmlns:a="http://schemas.openxmlformats.org/drawingml/2006/main">
            <a:off x="658368" y="384048"/>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400" b="1">
                <a:solidFill>
                  <a:srgbClr val="12263F"/>
                </a:solidFill>
                <a:latin typeface="Aptos"/>
                <a:ea typeface="Aptos"/>
                <a:cs typeface="Aptos"/>
              </a:defRPr>
            </a:pPr>
            <a:r>
              <a:t>ENFEKSİYON PROFİLAKSİSİ VE İZLEM GÜVENLİLİĞİ</a:t>
            </a:r>
          </a:p>
        </p:txBody>
      </p:sp>
      <p:sp>
        <p:nvSpPr>
          <p:cNvPr id="4" name="TextBox 3">
            <a:extLst xmlns:a="http://schemas.openxmlformats.org/drawingml/2006/main">
              <a:ext uri="{FF2B5EF4-FFF2-40B4-BE49-F238E27FC236}">
                <a16:creationId xmlns:a16="http://schemas.microsoft.com/office/drawing/2014/main" id="{47E8E849-B450-41E6-860A-AFD858828780}"/>
              </a:ext>
            </a:extLst>
          </p:cNvPr>
          <p:cNvSpPr>
            <a:spLocks xmlns:a="http://schemas.openxmlformats.org/drawingml/2006/main" noGrp="1"/>
          </p:cNvSpPr>
          <p:nvPr/>
        </p:nvSpPr>
        <p:spPr>
          <a:xfrm xmlns:a="http://schemas.openxmlformats.org/drawingml/2006/main">
            <a:off x="676656" y="987552"/>
            <a:ext cx="1088136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667584"/>
                </a:solidFill>
                <a:latin typeface="Aptos"/>
                <a:ea typeface="Aptos"/>
                <a:cs typeface="Aptos"/>
              </a:defRPr>
            </a:pPr>
            <a:r>
              <a:t>İmmünoglobulin ve/veya kotrimoksazol kullanımı</a:t>
            </a:r>
          </a:p>
        </p:txBody>
      </p:sp>
      <p:sp>
        <p:nvSpPr>
          <p:cNvPr id="5" name="Rounded Rectangle 4">
            <a:extLst xmlns:a="http://schemas.openxmlformats.org/drawingml/2006/main">
              <a:ext uri="{FF2B5EF4-FFF2-40B4-BE49-F238E27FC236}">
                <a16:creationId xmlns:a16="http://schemas.microsoft.com/office/drawing/2014/main" id="{7A837312-1B00-4B13-9787-A1F0A8F1D113}"/>
              </a:ext>
            </a:extLst>
          </p:cNvPr>
          <p:cNvSpPr>
            <a:spLocks xmlns:a="http://schemas.openxmlformats.org/drawingml/2006/main" noGrp="1"/>
          </p:cNvSpPr>
          <p:nvPr/>
        </p:nvSpPr>
        <p:spPr>
          <a:xfrm xmlns:a="http://schemas.openxmlformats.org/drawingml/2006/main">
            <a:off x="731520" y="1691640"/>
            <a:ext cx="3566160" cy="1417320"/>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F4C7390E-58A4-4B3A-9BB0-A1E4C09CDDEF}"/>
              </a:ext>
            </a:extLst>
          </p:cNvPr>
          <p:cNvSpPr>
            <a:spLocks xmlns:a="http://schemas.openxmlformats.org/drawingml/2006/main" noGrp="1"/>
          </p:cNvSpPr>
          <p:nvPr/>
        </p:nvSpPr>
        <p:spPr>
          <a:xfrm xmlns:a="http://schemas.openxmlformats.org/drawingml/2006/main">
            <a:off x="960120" y="1874519"/>
            <a:ext cx="306324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700" b="1">
                <a:solidFill>
                  <a:srgbClr val="009196"/>
                </a:solidFill>
                <a:latin typeface="Aptos"/>
                <a:ea typeface="Aptos"/>
                <a:cs typeface="Aptos"/>
              </a:defRPr>
            </a:pPr>
            <a:r>
              <a:t>%65</a:t>
            </a:r>
          </a:p>
        </p:txBody>
      </p:sp>
      <p:sp>
        <p:nvSpPr>
          <p:cNvPr id="7" name="TextBox 6">
            <a:extLst xmlns:a="http://schemas.openxmlformats.org/drawingml/2006/main">
              <a:ext uri="{FF2B5EF4-FFF2-40B4-BE49-F238E27FC236}">
                <a16:creationId xmlns:a16="http://schemas.microsoft.com/office/drawing/2014/main" id="{F4EAC272-9447-464C-8BCB-F8AB7A2DB600}"/>
              </a:ext>
            </a:extLst>
          </p:cNvPr>
          <p:cNvSpPr>
            <a:spLocks xmlns:a="http://schemas.openxmlformats.org/drawingml/2006/main" noGrp="1"/>
          </p:cNvSpPr>
          <p:nvPr/>
        </p:nvSpPr>
        <p:spPr>
          <a:xfrm xmlns:a="http://schemas.openxmlformats.org/drawingml/2006/main">
            <a:off x="960120" y="2487168"/>
            <a:ext cx="3063240"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1">
                <a:solidFill>
                  <a:srgbClr val="263445"/>
                </a:solidFill>
                <a:latin typeface="Aptos"/>
                <a:ea typeface="Aptos"/>
                <a:cs typeface="Aptos"/>
              </a:defRPr>
            </a:pPr>
            <a:r>
              <a:t>23 çocuk profilaksi aldı</a:t>
            </a:r>
          </a:p>
        </p:txBody>
      </p:sp>
      <p:sp>
        <p:nvSpPr>
          <p:cNvPr id="8" name="Rounded Rectangle 7">
            <a:extLst xmlns:a="http://schemas.openxmlformats.org/drawingml/2006/main">
              <a:ext uri="{FF2B5EF4-FFF2-40B4-BE49-F238E27FC236}">
                <a16:creationId xmlns:a16="http://schemas.microsoft.com/office/drawing/2014/main" id="{6CF73545-DBFA-4C9E-B196-0A9D283FFEE0}"/>
              </a:ext>
            </a:extLst>
          </p:cNvPr>
          <p:cNvSpPr>
            <a:spLocks xmlns:a="http://schemas.openxmlformats.org/drawingml/2006/main" noGrp="1"/>
          </p:cNvSpPr>
          <p:nvPr/>
        </p:nvSpPr>
        <p:spPr>
          <a:xfrm xmlns:a="http://schemas.openxmlformats.org/drawingml/2006/main">
            <a:off x="4590288" y="1691640"/>
            <a:ext cx="3566160" cy="1417320"/>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11864B9A-4D13-4202-A1F6-BA8CA5E6876C}"/>
              </a:ext>
            </a:extLst>
          </p:cNvPr>
          <p:cNvSpPr>
            <a:spLocks xmlns:a="http://schemas.openxmlformats.org/drawingml/2006/main" noGrp="1"/>
          </p:cNvSpPr>
          <p:nvPr/>
        </p:nvSpPr>
        <p:spPr>
          <a:xfrm xmlns:a="http://schemas.openxmlformats.org/drawingml/2006/main">
            <a:off x="4818888" y="1874519"/>
            <a:ext cx="306324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700" b="1">
                <a:solidFill>
                  <a:srgbClr val="009196"/>
                </a:solidFill>
                <a:latin typeface="Aptos"/>
                <a:ea typeface="Aptos"/>
                <a:cs typeface="Aptos"/>
              </a:defRPr>
            </a:pPr>
            <a:r>
              <a:t>%59</a:t>
            </a:r>
          </a:p>
        </p:txBody>
      </p:sp>
      <p:sp>
        <p:nvSpPr>
          <p:cNvPr id="10" name="TextBox 9">
            <a:extLst xmlns:a="http://schemas.openxmlformats.org/drawingml/2006/main">
              <a:ext uri="{FF2B5EF4-FFF2-40B4-BE49-F238E27FC236}">
                <a16:creationId xmlns:a16="http://schemas.microsoft.com/office/drawing/2014/main" id="{546314D1-BDA2-4463-9016-BDD70139D015}"/>
              </a:ext>
            </a:extLst>
          </p:cNvPr>
          <p:cNvSpPr>
            <a:spLocks xmlns:a="http://schemas.openxmlformats.org/drawingml/2006/main" noGrp="1"/>
          </p:cNvSpPr>
          <p:nvPr/>
        </p:nvSpPr>
        <p:spPr>
          <a:xfrm xmlns:a="http://schemas.openxmlformats.org/drawingml/2006/main">
            <a:off x="4818888" y="2487168"/>
            <a:ext cx="3063240"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1">
                <a:solidFill>
                  <a:srgbClr val="263445"/>
                </a:solidFill>
                <a:latin typeface="Aptos"/>
                <a:ea typeface="Aptos"/>
                <a:cs typeface="Aptos"/>
              </a:defRPr>
            </a:pPr>
            <a:r>
              <a:t>Profilaksi alanların 13’ünde gerekçe yalnızca hipogamaglobulinemi</a:t>
            </a:r>
          </a:p>
        </p:txBody>
      </p:sp>
      <p:sp>
        <p:nvSpPr>
          <p:cNvPr id="11" name="Rounded Rectangle 10">
            <a:extLst xmlns:a="http://schemas.openxmlformats.org/drawingml/2006/main">
              <a:ext uri="{FF2B5EF4-FFF2-40B4-BE49-F238E27FC236}">
                <a16:creationId xmlns:a16="http://schemas.microsoft.com/office/drawing/2014/main" id="{0389F729-E2D1-499E-A7C1-14A66F444417}"/>
              </a:ext>
            </a:extLst>
          </p:cNvPr>
          <p:cNvSpPr>
            <a:spLocks xmlns:a="http://schemas.openxmlformats.org/drawingml/2006/main" noGrp="1"/>
          </p:cNvSpPr>
          <p:nvPr/>
        </p:nvSpPr>
        <p:spPr>
          <a:xfrm xmlns:a="http://schemas.openxmlformats.org/drawingml/2006/main">
            <a:off x="8449056" y="1691640"/>
            <a:ext cx="3566160" cy="1417320"/>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3880BC8F-B9B9-4917-952C-72F97D6F32B6}"/>
              </a:ext>
            </a:extLst>
          </p:cNvPr>
          <p:cNvSpPr>
            <a:spLocks xmlns:a="http://schemas.openxmlformats.org/drawingml/2006/main" noGrp="1"/>
          </p:cNvSpPr>
          <p:nvPr/>
        </p:nvSpPr>
        <p:spPr>
          <a:xfrm xmlns:a="http://schemas.openxmlformats.org/drawingml/2006/main">
            <a:off x="8677656" y="1874519"/>
            <a:ext cx="306324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700" b="1">
                <a:solidFill>
                  <a:srgbClr val="CE8F24"/>
                </a:solidFill>
                <a:latin typeface="Aptos"/>
                <a:ea typeface="Aptos"/>
                <a:cs typeface="Aptos"/>
              </a:defRPr>
            </a:pPr>
            <a:r>
              <a:t>%35</a:t>
            </a:r>
          </a:p>
        </p:txBody>
      </p:sp>
      <p:sp>
        <p:nvSpPr>
          <p:cNvPr id="13" name="TextBox 12">
            <a:extLst xmlns:a="http://schemas.openxmlformats.org/drawingml/2006/main">
              <a:ext uri="{FF2B5EF4-FFF2-40B4-BE49-F238E27FC236}">
                <a16:creationId xmlns:a16="http://schemas.microsoft.com/office/drawing/2014/main" id="{C485E453-7985-4E07-B16D-6FD8D6734F6F}"/>
              </a:ext>
            </a:extLst>
          </p:cNvPr>
          <p:cNvSpPr>
            <a:spLocks xmlns:a="http://schemas.openxmlformats.org/drawingml/2006/main" noGrp="1"/>
          </p:cNvSpPr>
          <p:nvPr/>
        </p:nvSpPr>
        <p:spPr>
          <a:xfrm xmlns:a="http://schemas.openxmlformats.org/drawingml/2006/main">
            <a:off x="8677656" y="2487168"/>
            <a:ext cx="3063240"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1">
                <a:solidFill>
                  <a:srgbClr val="263445"/>
                </a:solidFill>
                <a:latin typeface="Aptos"/>
                <a:ea typeface="Aptos"/>
                <a:cs typeface="Aptos"/>
              </a:defRPr>
            </a:pPr>
            <a:r>
              <a:t>12 çocuk profilaksi almadı</a:t>
            </a:r>
          </a:p>
        </p:txBody>
      </p:sp>
      <p:sp>
        <p:nvSpPr>
          <p:cNvPr id="14" name="Rounded Rectangle 13">
            <a:extLst xmlns:a="http://schemas.openxmlformats.org/drawingml/2006/main">
              <a:ext uri="{FF2B5EF4-FFF2-40B4-BE49-F238E27FC236}">
                <a16:creationId xmlns:a16="http://schemas.microsoft.com/office/drawing/2014/main" id="{96D6CDB7-491B-4733-B6FC-545C6473D4CF}"/>
              </a:ext>
            </a:extLst>
          </p:cNvPr>
          <p:cNvSpPr>
            <a:spLocks xmlns:a="http://schemas.openxmlformats.org/drawingml/2006/main" noGrp="1"/>
          </p:cNvSpPr>
          <p:nvPr/>
        </p:nvSpPr>
        <p:spPr>
          <a:xfrm xmlns:a="http://schemas.openxmlformats.org/drawingml/2006/main">
            <a:off x="731520" y="3520440"/>
            <a:ext cx="10716768" cy="2240280"/>
          </a:xfrm>
          <a:prstGeom xmlns:a="http://schemas.openxmlformats.org/drawingml/2006/main" prst="round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BBC4F944-1777-4C78-AF9D-2104751E5B20}"/>
              </a:ext>
            </a:extLst>
          </p:cNvPr>
          <p:cNvSpPr>
            <a:spLocks xmlns:a="http://schemas.openxmlformats.org/drawingml/2006/main" noGrp="1"/>
          </p:cNvSpPr>
          <p:nvPr/>
        </p:nvSpPr>
        <p:spPr>
          <a:xfrm xmlns:a="http://schemas.openxmlformats.org/drawingml/2006/main">
            <a:off x="1024128" y="3767328"/>
            <a:ext cx="4754880"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009196"/>
                </a:solidFill>
                <a:latin typeface="Aptos"/>
                <a:ea typeface="Aptos"/>
                <a:cs typeface="Aptos"/>
              </a:defRPr>
            </a:pPr>
            <a:r>
              <a:t>PROFİLAKSİ ŞEMASI</a:t>
            </a:r>
          </a:p>
        </p:txBody>
      </p:sp>
      <p:sp>
        <p:nvSpPr>
          <p:cNvPr id="16" name="TextBox 15">
            <a:extLst xmlns:a="http://schemas.openxmlformats.org/drawingml/2006/main">
              <a:ext uri="{FF2B5EF4-FFF2-40B4-BE49-F238E27FC236}">
                <a16:creationId xmlns:a16="http://schemas.microsoft.com/office/drawing/2014/main" id="{7FA188E2-60A5-4124-8199-8B6CABAE34DD}"/>
              </a:ext>
            </a:extLst>
          </p:cNvPr>
          <p:cNvSpPr>
            <a:spLocks xmlns:a="http://schemas.openxmlformats.org/drawingml/2006/main" noGrp="1"/>
          </p:cNvSpPr>
          <p:nvPr/>
        </p:nvSpPr>
        <p:spPr>
          <a:xfrm xmlns:a="http://schemas.openxmlformats.org/drawingml/2006/main">
            <a:off x="1024128" y="4251960"/>
            <a:ext cx="4754880" cy="7315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500" b="0">
                <a:solidFill>
                  <a:srgbClr val="263445"/>
                </a:solidFill>
                <a:latin typeface="Aptos"/>
                <a:ea typeface="Aptos"/>
                <a:cs typeface="Aptos"/>
              </a:defRPr>
            </a:pPr>
            <a:r>
              <a:t>Aylık immünoglobulin infüzyonu ve/veya haftada 3 gün oral kotrimoksazol.</a:t>
            </a:r>
          </a:p>
        </p:txBody>
      </p:sp>
      <p:sp>
        <p:nvSpPr>
          <p:cNvPr id="17" name="TextBox 16">
            <a:extLst xmlns:a="http://schemas.openxmlformats.org/drawingml/2006/main">
              <a:ext uri="{FF2B5EF4-FFF2-40B4-BE49-F238E27FC236}">
                <a16:creationId xmlns:a16="http://schemas.microsoft.com/office/drawing/2014/main" id="{C1B28328-DA01-4019-8F75-52B23687EBE5}"/>
              </a:ext>
            </a:extLst>
          </p:cNvPr>
          <p:cNvSpPr>
            <a:spLocks xmlns:a="http://schemas.openxmlformats.org/drawingml/2006/main" noGrp="1"/>
          </p:cNvSpPr>
          <p:nvPr/>
        </p:nvSpPr>
        <p:spPr>
          <a:xfrm xmlns:a="http://schemas.openxmlformats.org/drawingml/2006/main">
            <a:off x="6263640" y="3767328"/>
            <a:ext cx="4663440"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009196"/>
                </a:solidFill>
                <a:latin typeface="Aptos"/>
                <a:ea typeface="Aptos"/>
                <a:cs typeface="Aptos"/>
              </a:defRPr>
            </a:pPr>
            <a:r>
              <a:t>İZLEMDE BİLDİRİLENLER</a:t>
            </a:r>
          </a:p>
        </p:txBody>
      </p:sp>
      <p:sp>
        <p:nvSpPr>
          <p:cNvPr id="18" name="TextBox 17">
            <a:extLst xmlns:a="http://schemas.openxmlformats.org/drawingml/2006/main">
              <a:ext uri="{FF2B5EF4-FFF2-40B4-BE49-F238E27FC236}">
                <a16:creationId xmlns:a16="http://schemas.microsoft.com/office/drawing/2014/main" id="{35972A54-71CA-40BF-A02F-C62C2A4E4222}"/>
              </a:ext>
            </a:extLst>
          </p:cNvPr>
          <p:cNvSpPr>
            <a:spLocks xmlns:a="http://schemas.openxmlformats.org/drawingml/2006/main" noGrp="1"/>
          </p:cNvSpPr>
          <p:nvPr/>
        </p:nvSpPr>
        <p:spPr>
          <a:xfrm xmlns:a="http://schemas.openxmlformats.org/drawingml/2006/main">
            <a:off x="6263640" y="4251960"/>
            <a:ext cx="4663440" cy="9144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0">
                <a:solidFill>
                  <a:srgbClr val="263445"/>
                </a:solidFill>
                <a:latin typeface="Aptos"/>
                <a:ea typeface="Aptos"/>
                <a:cs typeface="Aptos"/>
              </a:defRPr>
            </a:pPr>
            <a:r>
              <a:t>Profilaksi almayan 12 çocukta izlem sırasında ağır enfeksiyon görülmedi. Çalışma süresince geç komplikasyon veya lenfoma gelişimi bildirilmedi.</a:t>
            </a:r>
          </a:p>
        </p:txBody>
      </p:sp>
      <p:sp>
        <p:nvSpPr>
          <p:cNvPr id="19" name="TextBox 18">
            <a:extLst xmlns:a="http://schemas.openxmlformats.org/drawingml/2006/main">
              <a:ext uri="{FF2B5EF4-FFF2-40B4-BE49-F238E27FC236}">
                <a16:creationId xmlns:a16="http://schemas.microsoft.com/office/drawing/2014/main" id="{9530FA87-B39D-4C1E-9F1B-E7151B5BF5DB}"/>
              </a:ext>
            </a:extLst>
          </p:cNvPr>
          <p:cNvSpPr>
            <a:spLocks xmlns:a="http://schemas.openxmlformats.org/drawingml/2006/main" noGrp="1"/>
          </p:cNvSpPr>
          <p:nvPr/>
        </p:nvSpPr>
        <p:spPr>
          <a:xfrm xmlns:a="http://schemas.openxmlformats.org/drawingml/2006/main">
            <a:off x="1024128" y="5257800"/>
            <a:ext cx="987552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1">
                <a:solidFill>
                  <a:srgbClr val="667584"/>
                </a:solidFill>
                <a:latin typeface="Aptos"/>
                <a:ea typeface="Aptos"/>
                <a:cs typeface="Aptos"/>
              </a:defRPr>
            </a:pPr>
            <a:r>
              <a:t>Gözlemsel kohort bulguları; profilaksinin etkisini kanıtlamaz.</a:t>
            </a:r>
          </a:p>
        </p:txBody>
      </p:sp>
      <p:sp xmlns:a="http://schemas.openxmlformats.org/drawingml/2006/main">
        <p:nvSpPr>
          <p:cNvPr id="20" name="Inceleme notu"/>
          <p:cNvSpPr txBox="1"/>
          <p:nvPr/>
        </p:nvSpPr>
        <p:spPr>
          <a:xfrm>
            <a:off x="150000" y="6628976"/>
            <a:ext cx="11891695" cy="204024"/>
          </a:xfrm>
          <a:prstGeom prst="rect">
            <a:avLst/>
          </a:prstGeom>
          <a:solidFill>
            <a:srgbClr val="FFF4CC"/>
          </a:solidFill>
          <a:ln w="9525">
            <a:solidFill>
              <a:srgbClr val="C99A00"/>
            </a:solidFill>
          </a:ln>
        </p:spPr>
        <p:txBody>
          <a:bodyPr wrap="square" anchor="ctr" tIns="27432" bIns="27432">
            <a:spAutoFit/>
          </a:bodyPr>
          <a:lstStyle/>
          <a:p>
            <a:r>
              <a:rPr b="1" sz="900">
                <a:solidFill>
                  <a:srgbClr val="A61B1B"/>
                </a:solidFill>
              </a:rPr>
              <a:t>İnceleme notu: </a:t>
            </a:r>
            <a:r>
              <a:rPr sz="900">
                <a:solidFill>
                  <a:srgbClr val="1F1F1F"/>
                </a:solidFill>
              </a:rPr>
              <a:t>Sayılar tutmuyor: 23 + 12 = 35, kohort 34. 23/34 = %67,6; 13/23 = %56,5. Doğru sayı büyük olasılıkla 22 (22/34 = %64,7; 13/22 = %59,1).</a:t>
            </a:r>
          </a:p>
        </p:txBody>
      </p:sp>
    </p:spTree>
    <p:extLst>
      <p:ext uri="{BB962C8B-B14F-4D97-AF65-F5344CB8AC3E}">
        <p14:creationId xmlns:p14="http://schemas.microsoft.com/office/powerpoint/2010/main" val="180099258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1D6B91D-DC35-4A83-B1F5-E55DC8F958A2}"/>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00919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E4F2E1EB-7C57-41A7-8995-49B930276C4C}"/>
              </a:ext>
            </a:extLst>
          </p:cNvPr>
          <p:cNvSpPr>
            <a:spLocks xmlns:a="http://schemas.openxmlformats.org/drawingml/2006/main" noGrp="1"/>
          </p:cNvSpPr>
          <p:nvPr/>
        </p:nvSpPr>
        <p:spPr>
          <a:xfrm xmlns:a="http://schemas.openxmlformats.org/drawingml/2006/main">
            <a:off x="658368" y="384048"/>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400" b="1">
                <a:solidFill>
                  <a:srgbClr val="12263F"/>
                </a:solidFill>
                <a:latin typeface="Aptos"/>
                <a:ea typeface="Aptos"/>
                <a:cs typeface="Aptos"/>
              </a:defRPr>
            </a:pPr>
            <a:r>
              <a:t>TARTIŞMA | KOHORT VE TEDAVİNİN ANA MESAJLARI</a:t>
            </a:r>
          </a:p>
        </p:txBody>
      </p:sp>
      <p:sp>
        <p:nvSpPr>
          <p:cNvPr id="4" name="TextBox 3">
            <a:extLst xmlns:a="http://schemas.openxmlformats.org/drawingml/2006/main">
              <a:ext uri="{FF2B5EF4-FFF2-40B4-BE49-F238E27FC236}">
                <a16:creationId xmlns:a16="http://schemas.microsoft.com/office/drawing/2014/main" id="{C9B634BA-12EE-4AB4-B010-E4407B9382C0}"/>
              </a:ext>
            </a:extLst>
          </p:cNvPr>
          <p:cNvSpPr>
            <a:spLocks xmlns:a="http://schemas.openxmlformats.org/drawingml/2006/main" noGrp="1"/>
          </p:cNvSpPr>
          <p:nvPr/>
        </p:nvSpPr>
        <p:spPr>
          <a:xfrm xmlns:a="http://schemas.openxmlformats.org/drawingml/2006/main">
            <a:off x="676656" y="987552"/>
            <a:ext cx="1088136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667584"/>
                </a:solidFill>
                <a:latin typeface="Aptos"/>
                <a:ea typeface="Aptos"/>
                <a:cs typeface="Aptos"/>
              </a:defRPr>
            </a:pPr>
            <a:r>
              <a:t>Fransa ulusal ağı • Ocak 2010–Ocak 2022</a:t>
            </a:r>
          </a:p>
        </p:txBody>
      </p:sp>
      <p:sp>
        <p:nvSpPr>
          <p:cNvPr id="5" name="Rounded Rectangle 4">
            <a:extLst xmlns:a="http://schemas.openxmlformats.org/drawingml/2006/main">
              <a:ext uri="{FF2B5EF4-FFF2-40B4-BE49-F238E27FC236}">
                <a16:creationId xmlns:a16="http://schemas.microsoft.com/office/drawing/2014/main" id="{A182ABB0-9885-4590-9496-C7E154CE1869}"/>
              </a:ext>
            </a:extLst>
          </p:cNvPr>
          <p:cNvSpPr>
            <a:spLocks xmlns:a="http://schemas.openxmlformats.org/drawingml/2006/main" noGrp="1"/>
          </p:cNvSpPr>
          <p:nvPr/>
        </p:nvSpPr>
        <p:spPr>
          <a:xfrm xmlns:a="http://schemas.openxmlformats.org/drawingml/2006/main">
            <a:off x="658368" y="1600200"/>
            <a:ext cx="2606040" cy="1325880"/>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67AFB19A-29C1-461A-A4B8-6FB606B178DA}"/>
              </a:ext>
            </a:extLst>
          </p:cNvPr>
          <p:cNvSpPr>
            <a:spLocks xmlns:a="http://schemas.openxmlformats.org/drawingml/2006/main" noGrp="1"/>
          </p:cNvSpPr>
          <p:nvPr/>
        </p:nvSpPr>
        <p:spPr>
          <a:xfrm xmlns:a="http://schemas.openxmlformats.org/drawingml/2006/main">
            <a:off x="822959" y="1773936"/>
            <a:ext cx="2286000" cy="51206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500" b="1">
                <a:solidFill>
                  <a:srgbClr val="009196"/>
                </a:solidFill>
                <a:latin typeface="Aptos"/>
                <a:ea typeface="Aptos"/>
                <a:cs typeface="Aptos"/>
              </a:defRPr>
            </a:pPr>
            <a:r>
              <a:t>%92</a:t>
            </a:r>
          </a:p>
        </p:txBody>
      </p:sp>
      <p:sp>
        <p:nvSpPr>
          <p:cNvPr id="7" name="TextBox 6">
            <a:extLst xmlns:a="http://schemas.openxmlformats.org/drawingml/2006/main">
              <a:ext uri="{FF2B5EF4-FFF2-40B4-BE49-F238E27FC236}">
                <a16:creationId xmlns:a16="http://schemas.microsoft.com/office/drawing/2014/main" id="{A4D87375-581B-4E03-9465-572487AE9CAD}"/>
              </a:ext>
            </a:extLst>
          </p:cNvPr>
          <p:cNvSpPr>
            <a:spLocks xmlns:a="http://schemas.openxmlformats.org/drawingml/2006/main" noGrp="1"/>
          </p:cNvSpPr>
          <p:nvPr/>
        </p:nvSpPr>
        <p:spPr>
          <a:xfrm xmlns:a="http://schemas.openxmlformats.org/drawingml/2006/main">
            <a:off x="822959" y="2286000"/>
            <a:ext cx="2286000" cy="51206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1">
                <a:solidFill>
                  <a:srgbClr val="263445"/>
                </a:solidFill>
                <a:latin typeface="Aptos"/>
                <a:ea typeface="Aptos"/>
                <a:cs typeface="Aptos"/>
              </a:defRPr>
            </a:pPr>
            <a:r>
              <a:t>merkez katılımı</a:t>
            </a:r>
            <a:br/>
            <a:r>
              <a:t>33/36 merkez</a:t>
            </a:r>
          </a:p>
        </p:txBody>
      </p:sp>
      <p:sp>
        <p:nvSpPr>
          <p:cNvPr id="8" name="Rounded Rectangle 7">
            <a:extLst xmlns:a="http://schemas.openxmlformats.org/drawingml/2006/main">
              <a:ext uri="{FF2B5EF4-FFF2-40B4-BE49-F238E27FC236}">
                <a16:creationId xmlns:a16="http://schemas.microsoft.com/office/drawing/2014/main" id="{6390453C-B8D7-44F4-97FF-E6DCC9BE460E}"/>
              </a:ext>
            </a:extLst>
          </p:cNvPr>
          <p:cNvSpPr>
            <a:spLocks xmlns:a="http://schemas.openxmlformats.org/drawingml/2006/main" noGrp="1"/>
          </p:cNvSpPr>
          <p:nvPr/>
        </p:nvSpPr>
        <p:spPr>
          <a:xfrm xmlns:a="http://schemas.openxmlformats.org/drawingml/2006/main">
            <a:off x="3538728" y="1600200"/>
            <a:ext cx="2606040" cy="1325880"/>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41196978-BAC9-4AB6-9EEE-1974DC181EA2}"/>
              </a:ext>
            </a:extLst>
          </p:cNvPr>
          <p:cNvSpPr>
            <a:spLocks xmlns:a="http://schemas.openxmlformats.org/drawingml/2006/main" noGrp="1"/>
          </p:cNvSpPr>
          <p:nvPr/>
        </p:nvSpPr>
        <p:spPr>
          <a:xfrm xmlns:a="http://schemas.openxmlformats.org/drawingml/2006/main">
            <a:off x="3703320" y="1773936"/>
            <a:ext cx="2286000" cy="51206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500" b="1">
                <a:solidFill>
                  <a:srgbClr val="009196"/>
                </a:solidFill>
                <a:latin typeface="Aptos"/>
                <a:ea typeface="Aptos"/>
                <a:cs typeface="Aptos"/>
              </a:defRPr>
            </a:pPr>
            <a:r>
              <a:t>81%</a:t>
            </a:r>
          </a:p>
        </p:txBody>
      </p:sp>
      <p:sp>
        <p:nvSpPr>
          <p:cNvPr id="10" name="TextBox 9">
            <a:extLst xmlns:a="http://schemas.openxmlformats.org/drawingml/2006/main">
              <a:ext uri="{FF2B5EF4-FFF2-40B4-BE49-F238E27FC236}">
                <a16:creationId xmlns:a16="http://schemas.microsoft.com/office/drawing/2014/main" id="{B66C4AF0-CA04-4C88-9556-ECB224FC2DED}"/>
              </a:ext>
            </a:extLst>
          </p:cNvPr>
          <p:cNvSpPr>
            <a:spLocks xmlns:a="http://schemas.openxmlformats.org/drawingml/2006/main" noGrp="1"/>
          </p:cNvSpPr>
          <p:nvPr/>
        </p:nvSpPr>
        <p:spPr>
          <a:xfrm xmlns:a="http://schemas.openxmlformats.org/drawingml/2006/main">
            <a:off x="3703320" y="2286000"/>
            <a:ext cx="2286000" cy="51206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1">
                <a:solidFill>
                  <a:srgbClr val="263445"/>
                </a:solidFill>
                <a:latin typeface="Aptos"/>
                <a:ea typeface="Aptos"/>
                <a:cs typeface="Aptos"/>
              </a:defRPr>
            </a:pPr>
            <a:r>
              <a:t>diyet tedavisine</a:t>
            </a:r>
            <a:br/>
            <a:r>
              <a:t>olumlu yanıt</a:t>
            </a:r>
          </a:p>
        </p:txBody>
      </p:sp>
      <p:sp>
        <p:nvSpPr>
          <p:cNvPr id="11" name="Rounded Rectangle 10">
            <a:extLst xmlns:a="http://schemas.openxmlformats.org/drawingml/2006/main">
              <a:ext uri="{FF2B5EF4-FFF2-40B4-BE49-F238E27FC236}">
                <a16:creationId xmlns:a16="http://schemas.microsoft.com/office/drawing/2014/main" id="{4D1B2B09-471C-49A4-902E-6B6C37D251A5}"/>
              </a:ext>
            </a:extLst>
          </p:cNvPr>
          <p:cNvSpPr>
            <a:spLocks xmlns:a="http://schemas.openxmlformats.org/drawingml/2006/main" noGrp="1"/>
          </p:cNvSpPr>
          <p:nvPr/>
        </p:nvSpPr>
        <p:spPr>
          <a:xfrm xmlns:a="http://schemas.openxmlformats.org/drawingml/2006/main">
            <a:off x="6419088" y="1600200"/>
            <a:ext cx="2606040" cy="1325880"/>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79433D7B-27E2-4287-A540-91A2D18214D0}"/>
              </a:ext>
            </a:extLst>
          </p:cNvPr>
          <p:cNvSpPr>
            <a:spLocks xmlns:a="http://schemas.openxmlformats.org/drawingml/2006/main" noGrp="1"/>
          </p:cNvSpPr>
          <p:nvPr/>
        </p:nvSpPr>
        <p:spPr>
          <a:xfrm xmlns:a="http://schemas.openxmlformats.org/drawingml/2006/main">
            <a:off x="6583679" y="1773936"/>
            <a:ext cx="2286000" cy="51206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500" b="1">
                <a:solidFill>
                  <a:srgbClr val="009196"/>
                </a:solidFill>
                <a:latin typeface="Aptos"/>
                <a:ea typeface="Aptos"/>
                <a:cs typeface="Aptos"/>
              </a:defRPr>
            </a:pPr>
            <a:r>
              <a:t>12%</a:t>
            </a:r>
          </a:p>
        </p:txBody>
      </p:sp>
      <p:sp>
        <p:nvSpPr>
          <p:cNvPr id="13" name="TextBox 12">
            <a:extLst xmlns:a="http://schemas.openxmlformats.org/drawingml/2006/main">
              <a:ext uri="{FF2B5EF4-FFF2-40B4-BE49-F238E27FC236}">
                <a16:creationId xmlns:a16="http://schemas.microsoft.com/office/drawing/2014/main" id="{2F5B142A-6CF0-4445-8EF2-744897148539}"/>
              </a:ext>
            </a:extLst>
          </p:cNvPr>
          <p:cNvSpPr>
            <a:spLocks xmlns:a="http://schemas.openxmlformats.org/drawingml/2006/main" noGrp="1"/>
          </p:cNvSpPr>
          <p:nvPr/>
        </p:nvSpPr>
        <p:spPr>
          <a:xfrm xmlns:a="http://schemas.openxmlformats.org/drawingml/2006/main">
            <a:off x="6583679" y="2286000"/>
            <a:ext cx="2286000" cy="51206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1">
                <a:solidFill>
                  <a:srgbClr val="263445"/>
                </a:solidFill>
                <a:latin typeface="Aptos"/>
                <a:ea typeface="Aptos"/>
                <a:cs typeface="Aptos"/>
              </a:defRPr>
            </a:pPr>
            <a:r>
              <a:t>ikinci basamak</a:t>
            </a:r>
            <a:br/>
            <a:r>
              <a:t>ilaç gereksinimi</a:t>
            </a:r>
          </a:p>
        </p:txBody>
      </p:sp>
      <p:sp>
        <p:nvSpPr>
          <p:cNvPr id="14" name="Rounded Rectangle 13">
            <a:extLst xmlns:a="http://schemas.openxmlformats.org/drawingml/2006/main">
              <a:ext uri="{FF2B5EF4-FFF2-40B4-BE49-F238E27FC236}">
                <a16:creationId xmlns:a16="http://schemas.microsoft.com/office/drawing/2014/main" id="{A9F54AF6-BD6F-464F-9BD6-C961A28B8A96}"/>
              </a:ext>
            </a:extLst>
          </p:cNvPr>
          <p:cNvSpPr>
            <a:spLocks xmlns:a="http://schemas.openxmlformats.org/drawingml/2006/main" noGrp="1"/>
          </p:cNvSpPr>
          <p:nvPr/>
        </p:nvSpPr>
        <p:spPr>
          <a:xfrm xmlns:a="http://schemas.openxmlformats.org/drawingml/2006/main">
            <a:off x="9299448" y="1600200"/>
            <a:ext cx="2606040" cy="1325880"/>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6DB396E0-F2F4-4704-BD40-CF8AB2D65CA3}"/>
              </a:ext>
            </a:extLst>
          </p:cNvPr>
          <p:cNvSpPr>
            <a:spLocks xmlns:a="http://schemas.openxmlformats.org/drawingml/2006/main" noGrp="1"/>
          </p:cNvSpPr>
          <p:nvPr/>
        </p:nvSpPr>
        <p:spPr>
          <a:xfrm xmlns:a="http://schemas.openxmlformats.org/drawingml/2006/main">
            <a:off x="9464040" y="1773936"/>
            <a:ext cx="2286000" cy="51206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500" b="1">
                <a:solidFill>
                  <a:srgbClr val="009196"/>
                </a:solidFill>
                <a:latin typeface="Aptos"/>
                <a:ea typeface="Aptos"/>
                <a:cs typeface="Aptos"/>
              </a:defRPr>
            </a:pPr>
            <a:r>
              <a:t>45%</a:t>
            </a:r>
          </a:p>
        </p:txBody>
      </p:sp>
      <p:sp>
        <p:nvSpPr>
          <p:cNvPr id="16" name="TextBox 15">
            <a:extLst xmlns:a="http://schemas.openxmlformats.org/drawingml/2006/main">
              <a:ext uri="{FF2B5EF4-FFF2-40B4-BE49-F238E27FC236}">
                <a16:creationId xmlns:a16="http://schemas.microsoft.com/office/drawing/2014/main" id="{BECDC850-7FC6-407A-B4A8-F6AB89E726DE}"/>
              </a:ext>
            </a:extLst>
          </p:cNvPr>
          <p:cNvSpPr>
            <a:spLocks xmlns:a="http://schemas.openxmlformats.org/drawingml/2006/main" noGrp="1"/>
          </p:cNvSpPr>
          <p:nvPr/>
        </p:nvSpPr>
        <p:spPr>
          <a:xfrm xmlns:a="http://schemas.openxmlformats.org/drawingml/2006/main">
            <a:off x="9464040" y="2286000"/>
            <a:ext cx="2286000" cy="51206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1">
                <a:solidFill>
                  <a:srgbClr val="263445"/>
                </a:solidFill>
                <a:latin typeface="Aptos"/>
                <a:ea typeface="Aptos"/>
                <a:cs typeface="Aptos"/>
              </a:defRPr>
            </a:pPr>
            <a:r>
              <a:t>diyet alanlarda normal</a:t>
            </a:r>
            <a:br/>
            <a:r>
              <a:t>diyete geçiş (14 kişi)</a:t>
            </a:r>
          </a:p>
        </p:txBody>
      </p:sp>
      <p:sp>
        <p:nvSpPr>
          <p:cNvPr id="17" name="Rounded Rectangle 16">
            <a:extLst xmlns:a="http://schemas.openxmlformats.org/drawingml/2006/main">
              <a:ext uri="{FF2B5EF4-FFF2-40B4-BE49-F238E27FC236}">
                <a16:creationId xmlns:a16="http://schemas.microsoft.com/office/drawing/2014/main" id="{1BCEEF59-4DD1-4103-BFE6-B12988271DB6}"/>
              </a:ext>
            </a:extLst>
          </p:cNvPr>
          <p:cNvSpPr>
            <a:spLocks xmlns:a="http://schemas.openxmlformats.org/drawingml/2006/main" noGrp="1"/>
          </p:cNvSpPr>
          <p:nvPr/>
        </p:nvSpPr>
        <p:spPr>
          <a:xfrm xmlns:a="http://schemas.openxmlformats.org/drawingml/2006/main">
            <a:off x="658368" y="3246120"/>
            <a:ext cx="5285232" cy="2651760"/>
          </a:xfrm>
          <a:prstGeom xmlns:a="http://schemas.openxmlformats.org/drawingml/2006/main" prst="round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9514F007-2154-463C-AF3E-9D586DCC9CFD}"/>
              </a:ext>
            </a:extLst>
          </p:cNvPr>
          <p:cNvSpPr>
            <a:spLocks xmlns:a="http://schemas.openxmlformats.org/drawingml/2006/main" noGrp="1"/>
          </p:cNvSpPr>
          <p:nvPr/>
        </p:nvSpPr>
        <p:spPr>
          <a:xfrm xmlns:a="http://schemas.openxmlformats.org/drawingml/2006/main">
            <a:off x="896112" y="3493008"/>
            <a:ext cx="470916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009196"/>
                </a:solidFill>
                <a:latin typeface="Aptos"/>
                <a:ea typeface="Aptos"/>
                <a:cs typeface="Aptos"/>
              </a:defRPr>
            </a:pPr>
            <a:r>
              <a:t>KOHORTUN ÖNEMİ</a:t>
            </a:r>
          </a:p>
        </p:txBody>
      </p:sp>
      <p:sp>
        <p:nvSpPr>
          <p:cNvPr id="19" name="TextBox 18">
            <a:extLst xmlns:a="http://schemas.openxmlformats.org/drawingml/2006/main">
              <a:ext uri="{FF2B5EF4-FFF2-40B4-BE49-F238E27FC236}">
                <a16:creationId xmlns:a16="http://schemas.microsoft.com/office/drawing/2014/main" id="{64BDC94D-276F-4054-A3F4-1444629B5980}"/>
              </a:ext>
            </a:extLst>
          </p:cNvPr>
          <p:cNvSpPr>
            <a:spLocks xmlns:a="http://schemas.openxmlformats.org/drawingml/2006/main" noGrp="1"/>
          </p:cNvSpPr>
          <p:nvPr/>
        </p:nvSpPr>
        <p:spPr>
          <a:xfrm xmlns:a="http://schemas.openxmlformats.org/drawingml/2006/main">
            <a:off x="896112" y="3977639"/>
            <a:ext cx="4663440" cy="1417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0">
                <a:solidFill>
                  <a:srgbClr val="263445"/>
                </a:solidFill>
                <a:latin typeface="Aptos"/>
                <a:ea typeface="Aptos"/>
                <a:cs typeface="Aptos"/>
              </a:defRPr>
            </a:pPr>
            <a:r>
              <a:t>Araştırmacıların bilgisine göre, yayımlanmış en büyük pediatrik PİL kohortu. Yüksek merkez katılımı, 2010–2022 dönemindeki Fransa çocuk kohortunu temsil edebileceğini düşündürüyor.</a:t>
            </a:r>
          </a:p>
        </p:txBody>
      </p:sp>
      <p:sp>
        <p:nvSpPr>
          <p:cNvPr id="20" name="Rounded Rectangle 19">
            <a:extLst xmlns:a="http://schemas.openxmlformats.org/drawingml/2006/main">
              <a:ext uri="{FF2B5EF4-FFF2-40B4-BE49-F238E27FC236}">
                <a16:creationId xmlns:a16="http://schemas.microsoft.com/office/drawing/2014/main" id="{BB9B21C0-0AC0-4FAA-A1F3-D05D6DF4CD2E}"/>
              </a:ext>
            </a:extLst>
          </p:cNvPr>
          <p:cNvSpPr>
            <a:spLocks xmlns:a="http://schemas.openxmlformats.org/drawingml/2006/main" noGrp="1"/>
          </p:cNvSpPr>
          <p:nvPr/>
        </p:nvSpPr>
        <p:spPr>
          <a:xfrm xmlns:a="http://schemas.openxmlformats.org/drawingml/2006/main">
            <a:off x="6236208" y="3246120"/>
            <a:ext cx="5285232" cy="2651760"/>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26A23DBD-3461-4DAE-8185-2A11CA0E2D87}"/>
              </a:ext>
            </a:extLst>
          </p:cNvPr>
          <p:cNvSpPr>
            <a:spLocks xmlns:a="http://schemas.openxmlformats.org/drawingml/2006/main" noGrp="1"/>
          </p:cNvSpPr>
          <p:nvPr/>
        </p:nvSpPr>
        <p:spPr>
          <a:xfrm xmlns:a="http://schemas.openxmlformats.org/drawingml/2006/main">
            <a:off x="6473952" y="3493008"/>
            <a:ext cx="466344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009196"/>
                </a:solidFill>
                <a:latin typeface="Aptos"/>
                <a:ea typeface="Aptos"/>
                <a:cs typeface="Aptos"/>
              </a:defRPr>
            </a:pPr>
            <a:r>
              <a:t>TEDAVİ VE KRONİK SEYİR</a:t>
            </a:r>
          </a:p>
        </p:txBody>
      </p:sp>
      <p:sp>
        <p:nvSpPr>
          <p:cNvPr id="22" name="TextBox 21">
            <a:extLst xmlns:a="http://schemas.openxmlformats.org/drawingml/2006/main">
              <a:ext uri="{FF2B5EF4-FFF2-40B4-BE49-F238E27FC236}">
                <a16:creationId xmlns:a16="http://schemas.microsoft.com/office/drawing/2014/main" id="{6F9B85FD-29C5-40F3-8E2B-5B708AC93784}"/>
              </a:ext>
            </a:extLst>
          </p:cNvPr>
          <p:cNvSpPr>
            <a:spLocks xmlns:a="http://schemas.openxmlformats.org/drawingml/2006/main" noGrp="1"/>
          </p:cNvSpPr>
          <p:nvPr/>
        </p:nvSpPr>
        <p:spPr>
          <a:xfrm xmlns:a="http://schemas.openxmlformats.org/drawingml/2006/main">
            <a:off x="6473952" y="3977639"/>
            <a:ext cx="4663440" cy="14813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0">
                <a:solidFill>
                  <a:srgbClr val="263445"/>
                </a:solidFill>
                <a:latin typeface="Aptos"/>
                <a:ea typeface="Aptos"/>
                <a:cs typeface="Aptos"/>
              </a:defRPr>
            </a:pPr>
            <a:r>
              <a:t>Düşük LCT, MCT’den zengin ve proteini yüksek diyet temel yaklaşımdır. Diyet alan 14 çocukta normal beslenmeye geçiş sağlandı; 9’u çalışma sonunda uzun süreli klinik ve biyolojik remisyonda kabul edildi. Lenfödem veya patojenik varyant kısmi yanıtla ve kronik seyirle ilişkiliydi.</a:t>
            </a:r>
          </a:p>
        </p:txBody>
      </p:sp>
      <p:sp>
        <p:nvSpPr>
          <p:cNvPr id="23" name="TextBox 22">
            <a:extLst xmlns:a="http://schemas.openxmlformats.org/drawingml/2006/main">
              <a:ext uri="{FF2B5EF4-FFF2-40B4-BE49-F238E27FC236}">
                <a16:creationId xmlns:a16="http://schemas.microsoft.com/office/drawing/2014/main" id="{AB894232-C97D-42B7-83E8-60E4FCB714AE}"/>
              </a:ext>
            </a:extLst>
          </p:cNvPr>
          <p:cNvSpPr>
            <a:spLocks xmlns:a="http://schemas.openxmlformats.org/drawingml/2006/main" noGrp="1"/>
          </p:cNvSpPr>
          <p:nvPr/>
        </p:nvSpPr>
        <p:spPr>
          <a:xfrm xmlns:a="http://schemas.openxmlformats.org/drawingml/2006/main">
            <a:off x="896112" y="6108192"/>
            <a:ext cx="10515600" cy="25603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1">
                <a:solidFill>
                  <a:srgbClr val="12263F"/>
                </a:solidFill>
                <a:latin typeface="Aptos"/>
                <a:ea typeface="Aptos"/>
                <a:cs typeface="Aptos"/>
              </a:defRPr>
            </a:pPr>
            <a:r>
              <a:t>Uygulama mesajı: aile eğitimi ve sıkı uyum için diyetisyen desteği tedavi planına eşlik etmelidir.</a:t>
            </a:r>
          </a:p>
        </p:txBody>
      </p:sp>
      <p:sp xmlns:a="http://schemas.openxmlformats.org/drawingml/2006/main">
        <p:nvSpPr>
          <p:cNvPr id="24" name="Inceleme notu"/>
          <p:cNvSpPr txBox="1"/>
          <p:nvPr/>
        </p:nvSpPr>
        <p:spPr>
          <a:xfrm>
            <a:off x="150000" y="6491816"/>
            <a:ext cx="11891695" cy="341184"/>
          </a:xfrm>
          <a:prstGeom prst="rect">
            <a:avLst/>
          </a:prstGeom>
          <a:solidFill>
            <a:srgbClr val="FFF4CC"/>
          </a:solidFill>
          <a:ln w="9525">
            <a:solidFill>
              <a:srgbClr val="C99A00"/>
            </a:solidFill>
          </a:ln>
        </p:spPr>
        <p:txBody>
          <a:bodyPr wrap="square" anchor="ctr" tIns="27432" bIns="27432">
            <a:spAutoFit/>
          </a:bodyPr>
          <a:lstStyle/>
          <a:p>
            <a:r>
              <a:rPr b="1" sz="900">
                <a:solidFill>
                  <a:srgbClr val="A61B1B"/>
                </a:solidFill>
              </a:rPr>
              <a:t>İnceleme notu: </a:t>
            </a:r>
            <a:r>
              <a:rPr sz="900">
                <a:solidFill>
                  <a:srgbClr val="1F1F1F"/>
                </a:solidFill>
              </a:rPr>
              <a:t>“Lenfödem/varyant kronik seyirle ilişkili” istatistiksel olarak desteklenmiyor (Fisher p=0,051 / 0,061; bkz. slayt 13). Yüzde gösterimi tutarsız: “%92” yanında “81%” → Türkçede “%81”. “En büyük kohort” yazarların iddiası.</a:t>
            </a:r>
          </a:p>
        </p:txBody>
      </p:sp>
    </p:spTree>
    <p:extLst>
      <p:ext uri="{BB962C8B-B14F-4D97-AF65-F5344CB8AC3E}">
        <p14:creationId xmlns:p14="http://schemas.microsoft.com/office/powerpoint/2010/main" val="1613388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67AFA6D-F9C1-49ED-92AF-42650B240F3E}"/>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00919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45332BD6-72A8-47F1-AE2D-C73B7023C26D}"/>
              </a:ext>
            </a:extLst>
          </p:cNvPr>
          <p:cNvSpPr>
            <a:spLocks xmlns:a="http://schemas.openxmlformats.org/drawingml/2006/main" noGrp="1"/>
          </p:cNvSpPr>
          <p:nvPr/>
        </p:nvSpPr>
        <p:spPr>
          <a:xfrm xmlns:a="http://schemas.openxmlformats.org/drawingml/2006/main">
            <a:off x="658368" y="384048"/>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400" b="1">
                <a:solidFill>
                  <a:srgbClr val="12263F"/>
                </a:solidFill>
                <a:latin typeface="Aptos"/>
                <a:ea typeface="Aptos"/>
                <a:cs typeface="Aptos"/>
              </a:defRPr>
            </a:pPr>
            <a:r>
              <a:t>TARTIŞMA | TANIYI GÜÇLENDİRME</a:t>
            </a:r>
          </a:p>
        </p:txBody>
      </p:sp>
      <p:sp>
        <p:nvSpPr>
          <p:cNvPr id="4" name="TextBox 3">
            <a:extLst xmlns:a="http://schemas.openxmlformats.org/drawingml/2006/main">
              <a:ext uri="{FF2B5EF4-FFF2-40B4-BE49-F238E27FC236}">
                <a16:creationId xmlns:a16="http://schemas.microsoft.com/office/drawing/2014/main" id="{4CF5CF5B-516E-4890-A403-C399CE6EDA5C}"/>
              </a:ext>
            </a:extLst>
          </p:cNvPr>
          <p:cNvSpPr>
            <a:spLocks xmlns:a="http://schemas.openxmlformats.org/drawingml/2006/main" noGrp="1"/>
          </p:cNvSpPr>
          <p:nvPr/>
        </p:nvSpPr>
        <p:spPr>
          <a:xfrm xmlns:a="http://schemas.openxmlformats.org/drawingml/2006/main">
            <a:off x="676656" y="987552"/>
            <a:ext cx="1088136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667584"/>
                </a:solidFill>
                <a:latin typeface="Aptos"/>
                <a:ea typeface="Aptos"/>
                <a:cs typeface="Aptos"/>
              </a:defRPr>
            </a:pPr>
            <a:r>
              <a:t>Endoskopi bulgusu yetersizse incelemeyi genişletin</a:t>
            </a:r>
          </a:p>
        </p:txBody>
      </p:sp>
      <p:sp>
        <p:nvSpPr>
          <p:cNvPr id="5" name="Rounded Rectangle 4">
            <a:extLst xmlns:a="http://schemas.openxmlformats.org/drawingml/2006/main">
              <a:ext uri="{FF2B5EF4-FFF2-40B4-BE49-F238E27FC236}">
                <a16:creationId xmlns:a16="http://schemas.microsoft.com/office/drawing/2014/main" id="{029E7668-E7DC-4D55-ADF5-5F03B499B78E}"/>
              </a:ext>
            </a:extLst>
          </p:cNvPr>
          <p:cNvSpPr>
            <a:spLocks xmlns:a="http://schemas.openxmlformats.org/drawingml/2006/main" noGrp="1"/>
          </p:cNvSpPr>
          <p:nvPr/>
        </p:nvSpPr>
        <p:spPr>
          <a:xfrm xmlns:a="http://schemas.openxmlformats.org/drawingml/2006/main">
            <a:off x="658368" y="1627632"/>
            <a:ext cx="3337560" cy="4434840"/>
          </a:xfrm>
          <a:prstGeom xmlns:a="http://schemas.openxmlformats.org/drawingml/2006/main" prst="roundRect">
            <a:avLst/>
          </a:prstGeom>
          <a:solidFill xmlns:a="http://schemas.openxmlformats.org/drawingml/2006/main">
            <a:srgbClr val="12263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80AC16B4-FABC-4DCA-8890-B2D0DCB9B6F5}"/>
              </a:ext>
            </a:extLst>
          </p:cNvPr>
          <p:cNvSpPr>
            <a:spLocks xmlns:a="http://schemas.openxmlformats.org/drawingml/2006/main" noGrp="1"/>
          </p:cNvSpPr>
          <p:nvPr/>
        </p:nvSpPr>
        <p:spPr>
          <a:xfrm xmlns:a="http://schemas.openxmlformats.org/drawingml/2006/main">
            <a:off x="960120" y="1938528"/>
            <a:ext cx="2743200" cy="64008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3400" b="1">
                <a:solidFill>
                  <a:srgbClr val="FFFFFF"/>
                </a:solidFill>
                <a:latin typeface="Aptos"/>
                <a:ea typeface="Aptos"/>
                <a:cs typeface="Aptos"/>
              </a:defRPr>
            </a:pPr>
            <a:r>
              <a:t>%65</a:t>
            </a:r>
          </a:p>
        </p:txBody>
      </p:sp>
      <p:sp>
        <p:nvSpPr>
          <p:cNvPr id="7" name="TextBox 6">
            <a:extLst xmlns:a="http://schemas.openxmlformats.org/drawingml/2006/main">
              <a:ext uri="{FF2B5EF4-FFF2-40B4-BE49-F238E27FC236}">
                <a16:creationId xmlns:a16="http://schemas.microsoft.com/office/drawing/2014/main" id="{70E3B154-4DCB-4E77-820D-685794BF6D1E}"/>
              </a:ext>
            </a:extLst>
          </p:cNvPr>
          <p:cNvSpPr>
            <a:spLocks xmlns:a="http://schemas.openxmlformats.org/drawingml/2006/main" noGrp="1"/>
          </p:cNvSpPr>
          <p:nvPr/>
        </p:nvSpPr>
        <p:spPr>
          <a:xfrm xmlns:a="http://schemas.openxmlformats.org/drawingml/2006/main">
            <a:off x="960120" y="2660904"/>
            <a:ext cx="2743200" cy="75895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500" b="1">
                <a:solidFill>
                  <a:srgbClr val="FFFFFF"/>
                </a:solidFill>
                <a:latin typeface="Aptos"/>
                <a:ea typeface="Aptos"/>
                <a:cs typeface="Aptos"/>
              </a:defRPr>
            </a:pPr>
            <a:r>
              <a:t>gastroskopi ve biyopsi ile tanı desteklendi</a:t>
            </a:r>
          </a:p>
        </p:txBody>
      </p:sp>
      <p:sp>
        <p:nvSpPr>
          <p:cNvPr id="8" name="TextBox 7">
            <a:extLst xmlns:a="http://schemas.openxmlformats.org/drawingml/2006/main">
              <a:ext uri="{FF2B5EF4-FFF2-40B4-BE49-F238E27FC236}">
                <a16:creationId xmlns:a16="http://schemas.microsoft.com/office/drawing/2014/main" id="{292ABCBF-02C7-4E72-BD7F-B962B47478D0}"/>
              </a:ext>
            </a:extLst>
          </p:cNvPr>
          <p:cNvSpPr>
            <a:spLocks xmlns:a="http://schemas.openxmlformats.org/drawingml/2006/main" noGrp="1"/>
          </p:cNvSpPr>
          <p:nvPr/>
        </p:nvSpPr>
        <p:spPr>
          <a:xfrm xmlns:a="http://schemas.openxmlformats.org/drawingml/2006/main">
            <a:off x="960120" y="3794760"/>
            <a:ext cx="2743200"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800" b="1">
                <a:solidFill>
                  <a:srgbClr val="89DCD8"/>
                </a:solidFill>
                <a:latin typeface="Aptos"/>
                <a:ea typeface="Aptos"/>
                <a:cs typeface="Aptos"/>
              </a:defRPr>
            </a:pPr>
            <a:r>
              <a:t>%86</a:t>
            </a:r>
          </a:p>
        </p:txBody>
      </p:sp>
      <p:sp>
        <p:nvSpPr>
          <p:cNvPr id="9" name="TextBox 8">
            <a:extLst xmlns:a="http://schemas.openxmlformats.org/drawingml/2006/main">
              <a:ext uri="{FF2B5EF4-FFF2-40B4-BE49-F238E27FC236}">
                <a16:creationId xmlns:a16="http://schemas.microsoft.com/office/drawing/2014/main" id="{B020EF0C-9698-4852-A5AE-B429D792CEC7}"/>
              </a:ext>
            </a:extLst>
          </p:cNvPr>
          <p:cNvSpPr>
            <a:spLocks xmlns:a="http://schemas.openxmlformats.org/drawingml/2006/main" noGrp="1"/>
          </p:cNvSpPr>
          <p:nvPr/>
        </p:nvSpPr>
        <p:spPr>
          <a:xfrm xmlns:a="http://schemas.openxmlformats.org/drawingml/2006/main">
            <a:off x="960120" y="4315968"/>
            <a:ext cx="2743200" cy="78638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0">
                <a:solidFill>
                  <a:srgbClr val="FFFFFF"/>
                </a:solidFill>
                <a:latin typeface="Aptos"/>
                <a:ea typeface="Aptos"/>
                <a:cs typeface="Aptos"/>
              </a:defRPr>
            </a:pPr>
            <a:r>
              <a:t>başka bir 84 hastalık kohortta bildirilmiş oran</a:t>
            </a:r>
          </a:p>
        </p:txBody>
      </p:sp>
      <p:sp>
        <p:nvSpPr>
          <p:cNvPr id="10" name="TextBox 9">
            <a:extLst xmlns:a="http://schemas.openxmlformats.org/drawingml/2006/main">
              <a:ext uri="{FF2B5EF4-FFF2-40B4-BE49-F238E27FC236}">
                <a16:creationId xmlns:a16="http://schemas.microsoft.com/office/drawing/2014/main" id="{F48EFB47-22A2-4169-9B48-D9555EC1BE53}"/>
              </a:ext>
            </a:extLst>
          </p:cNvPr>
          <p:cNvSpPr>
            <a:spLocks xmlns:a="http://schemas.openxmlformats.org/drawingml/2006/main" noGrp="1"/>
          </p:cNvSpPr>
          <p:nvPr/>
        </p:nvSpPr>
        <p:spPr>
          <a:xfrm xmlns:a="http://schemas.openxmlformats.org/drawingml/2006/main">
            <a:off x="960120" y="5321808"/>
            <a:ext cx="2743200" cy="5029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1">
                <a:solidFill>
                  <a:srgbClr val="FFFFFF"/>
                </a:solidFill>
                <a:latin typeface="Aptos"/>
                <a:ea typeface="Aptos"/>
                <a:cs typeface="Aptos"/>
              </a:defRPr>
            </a:pPr>
            <a:r>
              <a:t>Bu seride ek incelemeler 5 hastada (%14) tanıya katkı sağladı.</a:t>
            </a:r>
          </a:p>
        </p:txBody>
      </p:sp>
      <p:sp>
        <p:nvSpPr>
          <p:cNvPr id="11" name="Rounded Rectangle 10">
            <a:extLst xmlns:a="http://schemas.openxmlformats.org/drawingml/2006/main">
              <a:ext uri="{FF2B5EF4-FFF2-40B4-BE49-F238E27FC236}">
                <a16:creationId xmlns:a16="http://schemas.microsoft.com/office/drawing/2014/main" id="{D39B9387-AA57-405F-B988-3273C29D09DD}"/>
              </a:ext>
            </a:extLst>
          </p:cNvPr>
          <p:cNvSpPr>
            <a:spLocks xmlns:a="http://schemas.openxmlformats.org/drawingml/2006/main" noGrp="1"/>
          </p:cNvSpPr>
          <p:nvPr/>
        </p:nvSpPr>
        <p:spPr>
          <a:xfrm xmlns:a="http://schemas.openxmlformats.org/drawingml/2006/main">
            <a:off x="4315968" y="1627632"/>
            <a:ext cx="7205472" cy="4434840"/>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59C14DAC-37EA-422D-A251-3352427A4C1E}"/>
              </a:ext>
            </a:extLst>
          </p:cNvPr>
          <p:cNvSpPr>
            <a:spLocks xmlns:a="http://schemas.openxmlformats.org/drawingml/2006/main" noGrp="1"/>
          </p:cNvSpPr>
          <p:nvPr/>
        </p:nvSpPr>
        <p:spPr>
          <a:xfrm xmlns:a="http://schemas.openxmlformats.org/drawingml/2006/main">
            <a:off x="4617720" y="1901952"/>
            <a:ext cx="6537960" cy="38404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009196"/>
                </a:solidFill>
                <a:latin typeface="Aptos"/>
                <a:ea typeface="Aptos"/>
                <a:cs typeface="Aptos"/>
              </a:defRPr>
            </a:pPr>
            <a:r>
              <a:t>GASTROSKOPİ SONUCU TANISAL DEĞİLSE</a:t>
            </a:r>
          </a:p>
        </p:txBody>
      </p:sp>
      <p:sp>
        <p:nvSpPr>
          <p:cNvPr id="13" name="TextBox 12">
            <a:extLst xmlns:a="http://schemas.openxmlformats.org/drawingml/2006/main">
              <a:ext uri="{FF2B5EF4-FFF2-40B4-BE49-F238E27FC236}">
                <a16:creationId xmlns:a16="http://schemas.microsoft.com/office/drawing/2014/main" id="{F57F4A96-DFCA-4FC5-88D6-2BBC251D08B1}"/>
              </a:ext>
            </a:extLst>
          </p:cNvPr>
          <p:cNvSpPr>
            <a:spLocks xmlns:a="http://schemas.openxmlformats.org/drawingml/2006/main" noGrp="1"/>
          </p:cNvSpPr>
          <p:nvPr/>
        </p:nvSpPr>
        <p:spPr>
          <a:xfrm xmlns:a="http://schemas.openxmlformats.org/drawingml/2006/main">
            <a:off x="4617720" y="2514600"/>
            <a:ext cx="649224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12263F"/>
                </a:solidFill>
                <a:latin typeface="Aptos"/>
                <a:ea typeface="Aptos"/>
                <a:cs typeface="Aptos"/>
              </a:defRPr>
            </a:pPr>
            <a:r>
              <a:t>1. İnce bağırsağın distalini değerlendirin</a:t>
            </a:r>
          </a:p>
        </p:txBody>
      </p:sp>
      <p:sp>
        <p:nvSpPr>
          <p:cNvPr id="14" name="TextBox 13">
            <a:extLst xmlns:a="http://schemas.openxmlformats.org/drawingml/2006/main">
              <a:ext uri="{FF2B5EF4-FFF2-40B4-BE49-F238E27FC236}">
                <a16:creationId xmlns:a16="http://schemas.microsoft.com/office/drawing/2014/main" id="{C4AE2493-5342-4F26-9DAD-2CB182225B55}"/>
              </a:ext>
            </a:extLst>
          </p:cNvPr>
          <p:cNvSpPr>
            <a:spLocks xmlns:a="http://schemas.openxmlformats.org/drawingml/2006/main" noGrp="1"/>
          </p:cNvSpPr>
          <p:nvPr/>
        </p:nvSpPr>
        <p:spPr>
          <a:xfrm xmlns:a="http://schemas.openxmlformats.org/drawingml/2006/main">
            <a:off x="4617720" y="2825496"/>
            <a:ext cx="6492240" cy="49377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263445"/>
                </a:solidFill>
                <a:latin typeface="Aptos"/>
                <a:ea typeface="Aptos"/>
                <a:cs typeface="Aptos"/>
              </a:defRPr>
            </a:pPr>
            <a:r>
              <a:t>İleal lenfanjiektaziyi araştırmak için kolonoskopi düşünün.</a:t>
            </a:r>
          </a:p>
        </p:txBody>
      </p:sp>
      <p:sp>
        <p:nvSpPr>
          <p:cNvPr id="15" name="TextBox 14">
            <a:extLst xmlns:a="http://schemas.openxmlformats.org/drawingml/2006/main">
              <a:ext uri="{FF2B5EF4-FFF2-40B4-BE49-F238E27FC236}">
                <a16:creationId xmlns:a16="http://schemas.microsoft.com/office/drawing/2014/main" id="{8141632D-110E-4E5A-B026-9D815D4EAE7D}"/>
              </a:ext>
            </a:extLst>
          </p:cNvPr>
          <p:cNvSpPr>
            <a:spLocks xmlns:a="http://schemas.openxmlformats.org/drawingml/2006/main" noGrp="1"/>
          </p:cNvSpPr>
          <p:nvPr/>
        </p:nvSpPr>
        <p:spPr>
          <a:xfrm xmlns:a="http://schemas.openxmlformats.org/drawingml/2006/main">
            <a:off x="4617720" y="3474720"/>
            <a:ext cx="649224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12263F"/>
                </a:solidFill>
                <a:latin typeface="Aptos"/>
                <a:ea typeface="Aptos"/>
                <a:cs typeface="Aptos"/>
              </a:defRPr>
            </a:pPr>
            <a:r>
              <a:t>2. Tutulumun yaygınlığını haritalayın</a:t>
            </a:r>
          </a:p>
        </p:txBody>
      </p:sp>
      <p:sp>
        <p:nvSpPr>
          <p:cNvPr id="16" name="TextBox 15">
            <a:extLst xmlns:a="http://schemas.openxmlformats.org/drawingml/2006/main">
              <a:ext uri="{FF2B5EF4-FFF2-40B4-BE49-F238E27FC236}">
                <a16:creationId xmlns:a16="http://schemas.microsoft.com/office/drawing/2014/main" id="{198E186E-3CDE-4036-9437-EFA3652F1758}"/>
              </a:ext>
            </a:extLst>
          </p:cNvPr>
          <p:cNvSpPr>
            <a:spLocks xmlns:a="http://schemas.openxmlformats.org/drawingml/2006/main" noGrp="1"/>
          </p:cNvSpPr>
          <p:nvPr/>
        </p:nvSpPr>
        <p:spPr>
          <a:xfrm xmlns:a="http://schemas.openxmlformats.org/drawingml/2006/main">
            <a:off x="4617720" y="3785615"/>
            <a:ext cx="6492240" cy="49377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263445"/>
                </a:solidFill>
                <a:latin typeface="Aptos"/>
                <a:ea typeface="Aptos"/>
                <a:cs typeface="Aptos"/>
              </a:defRPr>
            </a:pPr>
            <a:r>
              <a:t>Video kapsül endoskopi hasarın kapsamını göstermeye yardımcı olabilir.</a:t>
            </a:r>
          </a:p>
        </p:txBody>
      </p:sp>
      <p:sp>
        <p:nvSpPr>
          <p:cNvPr id="17" name="TextBox 16">
            <a:extLst xmlns:a="http://schemas.openxmlformats.org/drawingml/2006/main">
              <a:ext uri="{FF2B5EF4-FFF2-40B4-BE49-F238E27FC236}">
                <a16:creationId xmlns:a16="http://schemas.microsoft.com/office/drawing/2014/main" id="{94EC6368-E078-4ADE-B0AB-D40A47151AB0}"/>
              </a:ext>
            </a:extLst>
          </p:cNvPr>
          <p:cNvSpPr>
            <a:spLocks xmlns:a="http://schemas.openxmlformats.org/drawingml/2006/main" noGrp="1"/>
          </p:cNvSpPr>
          <p:nvPr/>
        </p:nvSpPr>
        <p:spPr>
          <a:xfrm xmlns:a="http://schemas.openxmlformats.org/drawingml/2006/main">
            <a:off x="4617720" y="4434840"/>
            <a:ext cx="6492240" cy="274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12263F"/>
                </a:solidFill>
                <a:latin typeface="Aptos"/>
                <a:ea typeface="Aptos"/>
                <a:cs typeface="Aptos"/>
              </a:defRPr>
            </a:pPr>
            <a:r>
              <a:t>3. Görünürlüğü artırmayı değerlendirin</a:t>
            </a:r>
          </a:p>
        </p:txBody>
      </p:sp>
      <p:sp>
        <p:nvSpPr>
          <p:cNvPr id="18" name="TextBox 17">
            <a:extLst xmlns:a="http://schemas.openxmlformats.org/drawingml/2006/main">
              <a:ext uri="{FF2B5EF4-FFF2-40B4-BE49-F238E27FC236}">
                <a16:creationId xmlns:a16="http://schemas.microsoft.com/office/drawing/2014/main" id="{35BAC813-920C-466C-8436-9B7E04A42F9A}"/>
              </a:ext>
            </a:extLst>
          </p:cNvPr>
          <p:cNvSpPr>
            <a:spLocks xmlns:a="http://schemas.openxmlformats.org/drawingml/2006/main" noGrp="1"/>
          </p:cNvSpPr>
          <p:nvPr/>
        </p:nvSpPr>
        <p:spPr>
          <a:xfrm xmlns:a="http://schemas.openxmlformats.org/drawingml/2006/main">
            <a:off x="4617720" y="4745736"/>
            <a:ext cx="6492240" cy="49377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263445"/>
                </a:solidFill>
                <a:latin typeface="Aptos"/>
                <a:ea typeface="Aptos"/>
                <a:cs typeface="Aptos"/>
              </a:defRPr>
            </a:pPr>
            <a:r>
              <a:t>Endoskopiden önceki gün uzun zincirli yağ asidi içeren öğün önerilebilir.</a:t>
            </a:r>
          </a:p>
        </p:txBody>
      </p:sp>
      <p:sp>
        <p:nvSpPr>
          <p:cNvPr id="19" name="TextBox 18">
            <a:extLst xmlns:a="http://schemas.openxmlformats.org/drawingml/2006/main">
              <a:ext uri="{FF2B5EF4-FFF2-40B4-BE49-F238E27FC236}">
                <a16:creationId xmlns:a16="http://schemas.microsoft.com/office/drawing/2014/main" id="{9A0F2B9F-6A35-415D-956A-2079D74EFCC0}"/>
              </a:ext>
            </a:extLst>
          </p:cNvPr>
          <p:cNvSpPr>
            <a:spLocks xmlns:a="http://schemas.openxmlformats.org/drawingml/2006/main" noGrp="1"/>
          </p:cNvSpPr>
          <p:nvPr/>
        </p:nvSpPr>
        <p:spPr>
          <a:xfrm xmlns:a="http://schemas.openxmlformats.org/drawingml/2006/main">
            <a:off x="4617720" y="5541264"/>
            <a:ext cx="6492240" cy="32918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1">
                <a:solidFill>
                  <a:srgbClr val="009196"/>
                </a:solidFill>
                <a:latin typeface="Aptos"/>
                <a:ea typeface="Aptos"/>
                <a:cs typeface="Aptos"/>
              </a:defRPr>
            </a:pPr>
            <a:r>
              <a:t>Amaç: lenfatik kanalları daha görünür kılarak tanısal doğruluğu artırmak.</a:t>
            </a:r>
          </a:p>
        </p:txBody>
      </p:sp>
      <p:sp xmlns:a="http://schemas.openxmlformats.org/drawingml/2006/main">
        <p:nvSpPr>
          <p:cNvPr id="20" name="Inceleme notu"/>
          <p:cNvSpPr txBox="1"/>
          <p:nvPr/>
        </p:nvSpPr>
        <p:spPr>
          <a:xfrm>
            <a:off x="150000" y="6628976"/>
            <a:ext cx="11891695" cy="204024"/>
          </a:xfrm>
          <a:prstGeom prst="rect">
            <a:avLst/>
          </a:prstGeom>
          <a:solidFill>
            <a:srgbClr val="FFF4CC"/>
          </a:solidFill>
          <a:ln w="9525">
            <a:solidFill>
              <a:srgbClr val="C99A00"/>
            </a:solidFill>
          </a:ln>
        </p:spPr>
        <p:txBody>
          <a:bodyPr wrap="square" anchor="ctr" tIns="27432" bIns="27432">
            <a:spAutoFit/>
          </a:bodyPr>
          <a:lstStyle/>
          <a:p>
            <a:r>
              <a:rPr b="1" sz="900">
                <a:solidFill>
                  <a:srgbClr val="A61B1B"/>
                </a:solidFill>
              </a:rPr>
              <a:t>İnceleme notu: </a:t>
            </a:r>
            <a:r>
              <a:rPr sz="900">
                <a:solidFill>
                  <a:srgbClr val="1F1F1F"/>
                </a:solidFill>
              </a:rPr>
              <a:t>“%86 / 84 hastalık kohort” (ref 19, Wen 2010) bir kohort değil; 4 olgu sunumu + literatür derlemesi. “Derlenmiş literatürde %86” daha doğru. 5/34 = %14,7.</a:t>
            </a:r>
          </a:p>
        </p:txBody>
      </p:sp>
    </p:spTree>
    <p:extLst>
      <p:ext uri="{BB962C8B-B14F-4D97-AF65-F5344CB8AC3E}">
        <p14:creationId xmlns:p14="http://schemas.microsoft.com/office/powerpoint/2010/main" val="191781058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043263F-211F-46D6-AD2F-F2DF8A85D69B}"/>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00919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55963DB5-181F-4CF9-9D5C-7B6CFC274D4F}"/>
              </a:ext>
            </a:extLst>
          </p:cNvPr>
          <p:cNvSpPr>
            <a:spLocks xmlns:a="http://schemas.openxmlformats.org/drawingml/2006/main" noGrp="1"/>
          </p:cNvSpPr>
          <p:nvPr/>
        </p:nvSpPr>
        <p:spPr>
          <a:xfrm xmlns:a="http://schemas.openxmlformats.org/drawingml/2006/main">
            <a:off x="658368" y="384048"/>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400" b="1">
                <a:solidFill>
                  <a:srgbClr val="12263F"/>
                </a:solidFill>
                <a:latin typeface="Aptos"/>
                <a:ea typeface="Aptos"/>
                <a:cs typeface="Aptos"/>
              </a:defRPr>
            </a:pPr>
            <a:r>
              <a:t>İKİNCİ BASAMAK TEDAVİLER: KANIT VE MEKANİZMA</a:t>
            </a:r>
          </a:p>
        </p:txBody>
      </p:sp>
      <p:sp>
        <p:nvSpPr>
          <p:cNvPr id="4" name="TextBox 3">
            <a:extLst xmlns:a="http://schemas.openxmlformats.org/drawingml/2006/main">
              <a:ext uri="{FF2B5EF4-FFF2-40B4-BE49-F238E27FC236}">
                <a16:creationId xmlns:a16="http://schemas.microsoft.com/office/drawing/2014/main" id="{CEB81B62-2D04-4ACC-83AB-E94EA1F86EB7}"/>
              </a:ext>
            </a:extLst>
          </p:cNvPr>
          <p:cNvSpPr>
            <a:spLocks xmlns:a="http://schemas.openxmlformats.org/drawingml/2006/main" noGrp="1"/>
          </p:cNvSpPr>
          <p:nvPr/>
        </p:nvSpPr>
        <p:spPr>
          <a:xfrm xmlns:a="http://schemas.openxmlformats.org/drawingml/2006/main">
            <a:off x="676656" y="987552"/>
            <a:ext cx="1088136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667584"/>
                </a:solidFill>
                <a:latin typeface="Aptos"/>
                <a:ea typeface="Aptos"/>
                <a:cs typeface="Aptos"/>
              </a:defRPr>
            </a:pPr>
            <a:r>
              <a:t>Nadir hastalıkta tedavi seçimi • kontrollü çalışma verisi yok</a:t>
            </a:r>
          </a:p>
        </p:txBody>
      </p:sp>
      <p:sp>
        <p:nvSpPr>
          <p:cNvPr id="5" name="Rounded Rectangle 4">
            <a:extLst xmlns:a="http://schemas.openxmlformats.org/drawingml/2006/main">
              <a:ext uri="{FF2B5EF4-FFF2-40B4-BE49-F238E27FC236}">
                <a16:creationId xmlns:a16="http://schemas.microsoft.com/office/drawing/2014/main" id="{20DE74EC-03F4-4DE1-8E6F-D530ED6276BB}"/>
              </a:ext>
            </a:extLst>
          </p:cNvPr>
          <p:cNvSpPr>
            <a:spLocks xmlns:a="http://schemas.openxmlformats.org/drawingml/2006/main" noGrp="1"/>
          </p:cNvSpPr>
          <p:nvPr/>
        </p:nvSpPr>
        <p:spPr>
          <a:xfrm xmlns:a="http://schemas.openxmlformats.org/drawingml/2006/main">
            <a:off x="658368" y="1554480"/>
            <a:ext cx="3429000" cy="1353312"/>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3A75A5B8-DACF-4E2D-9FC0-47B1F2CA5C0C}"/>
              </a:ext>
            </a:extLst>
          </p:cNvPr>
          <p:cNvSpPr>
            <a:spLocks xmlns:a="http://schemas.openxmlformats.org/drawingml/2006/main" noGrp="1"/>
          </p:cNvSpPr>
          <p:nvPr/>
        </p:nvSpPr>
        <p:spPr>
          <a:xfrm xmlns:a="http://schemas.openxmlformats.org/drawingml/2006/main">
            <a:off x="914400" y="1746504"/>
            <a:ext cx="2880360"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009196"/>
                </a:solidFill>
                <a:latin typeface="Aptos"/>
                <a:ea typeface="Aptos"/>
                <a:cs typeface="Aptos"/>
              </a:defRPr>
            </a:pPr>
            <a:r>
              <a:t>BU KOHORT</a:t>
            </a:r>
          </a:p>
        </p:txBody>
      </p:sp>
      <p:sp>
        <p:nvSpPr>
          <p:cNvPr id="7" name="TextBox 6">
            <a:extLst xmlns:a="http://schemas.openxmlformats.org/drawingml/2006/main">
              <a:ext uri="{FF2B5EF4-FFF2-40B4-BE49-F238E27FC236}">
                <a16:creationId xmlns:a16="http://schemas.microsoft.com/office/drawing/2014/main" id="{B3870877-C4ED-4C06-ADEC-9D058785006D}"/>
              </a:ext>
            </a:extLst>
          </p:cNvPr>
          <p:cNvSpPr>
            <a:spLocks xmlns:a="http://schemas.openxmlformats.org/drawingml/2006/main" noGrp="1"/>
          </p:cNvSpPr>
          <p:nvPr/>
        </p:nvSpPr>
        <p:spPr>
          <a:xfrm xmlns:a="http://schemas.openxmlformats.org/drawingml/2006/main">
            <a:off x="914400" y="2176272"/>
            <a:ext cx="2880360" cy="5852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263445"/>
                </a:solidFill>
                <a:latin typeface="Aptos"/>
                <a:ea typeface="Aptos"/>
                <a:cs typeface="Aptos"/>
              </a:defRPr>
            </a:pPr>
            <a:r>
              <a:t>Yanıt verenlerin %60’ı kısmi, %40’ı tam yanıt aldı. Kohortun %12’si ikinci basamak ilaç kullandı.</a:t>
            </a:r>
          </a:p>
        </p:txBody>
      </p:sp>
      <p:sp>
        <p:nvSpPr>
          <p:cNvPr id="8" name="Rounded Rectangle 7">
            <a:extLst xmlns:a="http://schemas.openxmlformats.org/drawingml/2006/main">
              <a:ext uri="{FF2B5EF4-FFF2-40B4-BE49-F238E27FC236}">
                <a16:creationId xmlns:a16="http://schemas.microsoft.com/office/drawing/2014/main" id="{F6F2E3B1-0F2C-4EF9-97F6-5B6DF8DF75AB}"/>
              </a:ext>
            </a:extLst>
          </p:cNvPr>
          <p:cNvSpPr>
            <a:spLocks xmlns:a="http://schemas.openxmlformats.org/drawingml/2006/main" noGrp="1"/>
          </p:cNvSpPr>
          <p:nvPr/>
        </p:nvSpPr>
        <p:spPr>
          <a:xfrm xmlns:a="http://schemas.openxmlformats.org/drawingml/2006/main">
            <a:off x="4370832" y="1554480"/>
            <a:ext cx="3429000" cy="1353312"/>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91A38DF0-5BB6-4F6A-B80C-0B836AB5B52E}"/>
              </a:ext>
            </a:extLst>
          </p:cNvPr>
          <p:cNvSpPr>
            <a:spLocks xmlns:a="http://schemas.openxmlformats.org/drawingml/2006/main" noGrp="1"/>
          </p:cNvSpPr>
          <p:nvPr/>
        </p:nvSpPr>
        <p:spPr>
          <a:xfrm xmlns:a="http://schemas.openxmlformats.org/drawingml/2006/main">
            <a:off x="4626864" y="1746504"/>
            <a:ext cx="2880360"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009196"/>
                </a:solidFill>
                <a:latin typeface="Aptos"/>
                <a:ea typeface="Aptos"/>
                <a:cs typeface="Aptos"/>
              </a:defRPr>
            </a:pPr>
            <a:r>
              <a:t>KWON VE ARK. ÇALIŞMASI</a:t>
            </a:r>
          </a:p>
        </p:txBody>
      </p:sp>
      <p:sp>
        <p:nvSpPr>
          <p:cNvPr id="10" name="TextBox 9">
            <a:extLst xmlns:a="http://schemas.openxmlformats.org/drawingml/2006/main">
              <a:ext uri="{FF2B5EF4-FFF2-40B4-BE49-F238E27FC236}">
                <a16:creationId xmlns:a16="http://schemas.microsoft.com/office/drawing/2014/main" id="{9F8D4FF3-203E-427B-8C72-2EF538CB549E}"/>
              </a:ext>
            </a:extLst>
          </p:cNvPr>
          <p:cNvSpPr>
            <a:spLocks xmlns:a="http://schemas.openxmlformats.org/drawingml/2006/main" noGrp="1"/>
          </p:cNvSpPr>
          <p:nvPr/>
        </p:nvSpPr>
        <p:spPr>
          <a:xfrm xmlns:a="http://schemas.openxmlformats.org/drawingml/2006/main">
            <a:off x="4626864" y="2176272"/>
            <a:ext cx="2880360" cy="5852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263445"/>
                </a:solidFill>
                <a:latin typeface="Aptos"/>
                <a:ea typeface="Aptos"/>
                <a:cs typeface="Aptos"/>
              </a:defRPr>
            </a:pPr>
            <a:r>
              <a:t>Daha katı yanıt tanımıyla 7 hastanın yalnız 1’i (%14) iyi yanıtlı sayıldı; 6’sı (%86) ikinci basamak aldı.</a:t>
            </a:r>
          </a:p>
        </p:txBody>
      </p:sp>
      <p:sp>
        <p:nvSpPr>
          <p:cNvPr id="11" name="Rounded Rectangle 10">
            <a:extLst xmlns:a="http://schemas.openxmlformats.org/drawingml/2006/main">
              <a:ext uri="{FF2B5EF4-FFF2-40B4-BE49-F238E27FC236}">
                <a16:creationId xmlns:a16="http://schemas.microsoft.com/office/drawing/2014/main" id="{0BD21E3E-489C-4331-B7AA-DA28F7A6F305}"/>
              </a:ext>
            </a:extLst>
          </p:cNvPr>
          <p:cNvSpPr>
            <a:spLocks xmlns:a="http://schemas.openxmlformats.org/drawingml/2006/main" noGrp="1"/>
          </p:cNvSpPr>
          <p:nvPr/>
        </p:nvSpPr>
        <p:spPr>
          <a:xfrm xmlns:a="http://schemas.openxmlformats.org/drawingml/2006/main">
            <a:off x="8083296" y="1554480"/>
            <a:ext cx="3429000" cy="1353312"/>
          </a:xfrm>
          <a:prstGeom xmlns:a="http://schemas.openxmlformats.org/drawingml/2006/main" prst="roundRect">
            <a:avLst/>
          </a:prstGeom>
          <a:solidFill xmlns:a="http://schemas.openxmlformats.org/drawingml/2006/main">
            <a:srgbClr val="FFF9EB"/>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398F0FAA-9861-4377-A336-8E3A74B56378}"/>
              </a:ext>
            </a:extLst>
          </p:cNvPr>
          <p:cNvSpPr>
            <a:spLocks xmlns:a="http://schemas.openxmlformats.org/drawingml/2006/main" noGrp="1"/>
          </p:cNvSpPr>
          <p:nvPr/>
        </p:nvSpPr>
        <p:spPr>
          <a:xfrm xmlns:a="http://schemas.openxmlformats.org/drawingml/2006/main">
            <a:off x="8339327" y="1746504"/>
            <a:ext cx="2880360"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CE8F24"/>
                </a:solidFill>
                <a:latin typeface="Aptos"/>
                <a:ea typeface="Aptos"/>
                <a:cs typeface="Aptos"/>
              </a:defRPr>
            </a:pPr>
            <a:r>
              <a:t>BU KOHORTTA İLAÇLAR</a:t>
            </a:r>
          </a:p>
        </p:txBody>
      </p:sp>
      <p:sp>
        <p:nvSpPr>
          <p:cNvPr id="13" name="TextBox 12">
            <a:extLst xmlns:a="http://schemas.openxmlformats.org/drawingml/2006/main">
              <a:ext uri="{FF2B5EF4-FFF2-40B4-BE49-F238E27FC236}">
                <a16:creationId xmlns:a16="http://schemas.microsoft.com/office/drawing/2014/main" id="{94129D19-DAF3-4055-86D8-1D080BDE0CF3}"/>
              </a:ext>
            </a:extLst>
          </p:cNvPr>
          <p:cNvSpPr>
            <a:spLocks xmlns:a="http://schemas.openxmlformats.org/drawingml/2006/main" noGrp="1"/>
          </p:cNvSpPr>
          <p:nvPr/>
        </p:nvSpPr>
        <p:spPr>
          <a:xfrm xmlns:a="http://schemas.openxmlformats.org/drawingml/2006/main">
            <a:off x="8339327" y="2176272"/>
            <a:ext cx="2880360" cy="58521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263445"/>
                </a:solidFill>
                <a:latin typeface="Aptos"/>
                <a:ea typeface="Aptos"/>
                <a:cs typeface="Aptos"/>
              </a:defRPr>
            </a:pPr>
            <a:r>
              <a:t>Kalsiparin bir olguda geçici yarar sağladı; sirolimus ve oktreotid etkisiz kaldı.</a:t>
            </a:r>
          </a:p>
        </p:txBody>
      </p:sp>
      <p:sp>
        <p:nvSpPr>
          <p:cNvPr id="14" name="Rounded Rectangle 13">
            <a:extLst xmlns:a="http://schemas.openxmlformats.org/drawingml/2006/main">
              <a:ext uri="{FF2B5EF4-FFF2-40B4-BE49-F238E27FC236}">
                <a16:creationId xmlns:a16="http://schemas.microsoft.com/office/drawing/2014/main" id="{C8A7C73B-999E-4358-9BBC-857B09D5E6A9}"/>
              </a:ext>
            </a:extLst>
          </p:cNvPr>
          <p:cNvSpPr>
            <a:spLocks xmlns:a="http://schemas.openxmlformats.org/drawingml/2006/main" noGrp="1"/>
          </p:cNvSpPr>
          <p:nvPr/>
        </p:nvSpPr>
        <p:spPr>
          <a:xfrm xmlns:a="http://schemas.openxmlformats.org/drawingml/2006/main">
            <a:off x="658368" y="3246120"/>
            <a:ext cx="3429000" cy="1645920"/>
          </a:xfrm>
          <a:prstGeom xmlns:a="http://schemas.openxmlformats.org/drawingml/2006/main" prst="round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209982BF-AAEF-4EB2-ABFA-ACCC0A80C0D7}"/>
              </a:ext>
            </a:extLst>
          </p:cNvPr>
          <p:cNvSpPr>
            <a:spLocks xmlns:a="http://schemas.openxmlformats.org/drawingml/2006/main" noGrp="1"/>
          </p:cNvSpPr>
          <p:nvPr/>
        </p:nvSpPr>
        <p:spPr>
          <a:xfrm xmlns:a="http://schemas.openxmlformats.org/drawingml/2006/main">
            <a:off x="859536" y="3474720"/>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12263F"/>
                </a:solidFill>
                <a:latin typeface="Aptos"/>
                <a:ea typeface="Aptos"/>
                <a:cs typeface="Aptos"/>
              </a:defRPr>
            </a:pPr>
            <a:r>
              <a:t>Segmental hastalık</a:t>
            </a:r>
          </a:p>
        </p:txBody>
      </p:sp>
      <p:sp>
        <p:nvSpPr>
          <p:cNvPr id="16" name="TextBox 15">
            <a:extLst xmlns:a="http://schemas.openxmlformats.org/drawingml/2006/main">
              <a:ext uri="{FF2B5EF4-FFF2-40B4-BE49-F238E27FC236}">
                <a16:creationId xmlns:a16="http://schemas.microsoft.com/office/drawing/2014/main" id="{44E0F1E3-6872-4A81-BA1A-B02992E248FE}"/>
              </a:ext>
            </a:extLst>
          </p:cNvPr>
          <p:cNvSpPr>
            <a:spLocks xmlns:a="http://schemas.openxmlformats.org/drawingml/2006/main" noGrp="1"/>
          </p:cNvSpPr>
          <p:nvPr/>
        </p:nvSpPr>
        <p:spPr>
          <a:xfrm xmlns:a="http://schemas.openxmlformats.org/drawingml/2006/main">
            <a:off x="859536" y="3977639"/>
            <a:ext cx="2971800" cy="7315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263445"/>
                </a:solidFill>
                <a:latin typeface="Aptos"/>
                <a:ea typeface="Aptos"/>
                <a:cs typeface="Aptos"/>
              </a:defRPr>
            </a:pPr>
            <a:r>
              <a:t>Cerrahi rezeksiyon veya embolizasyon</a:t>
            </a:r>
          </a:p>
        </p:txBody>
      </p:sp>
      <p:sp>
        <p:nvSpPr>
          <p:cNvPr id="17" name="Rounded Rectangle 16">
            <a:extLst xmlns:a="http://schemas.openxmlformats.org/drawingml/2006/main">
              <a:ext uri="{FF2B5EF4-FFF2-40B4-BE49-F238E27FC236}">
                <a16:creationId xmlns:a16="http://schemas.microsoft.com/office/drawing/2014/main" id="{6F6E34A9-D1E3-436E-9E77-536DCCE8838A}"/>
              </a:ext>
            </a:extLst>
          </p:cNvPr>
          <p:cNvSpPr>
            <a:spLocks xmlns:a="http://schemas.openxmlformats.org/drawingml/2006/main" noGrp="1"/>
          </p:cNvSpPr>
          <p:nvPr/>
        </p:nvSpPr>
        <p:spPr>
          <a:xfrm xmlns:a="http://schemas.openxmlformats.org/drawingml/2006/main">
            <a:off x="4370831" y="3246120"/>
            <a:ext cx="3429000" cy="1645920"/>
          </a:xfrm>
          <a:prstGeom xmlns:a="http://schemas.openxmlformats.org/drawingml/2006/main" prst="round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EC456FC7-ECEB-4110-99BB-806263382D1F}"/>
              </a:ext>
            </a:extLst>
          </p:cNvPr>
          <p:cNvSpPr>
            <a:spLocks xmlns:a="http://schemas.openxmlformats.org/drawingml/2006/main" noGrp="1"/>
          </p:cNvSpPr>
          <p:nvPr/>
        </p:nvSpPr>
        <p:spPr>
          <a:xfrm xmlns:a="http://schemas.openxmlformats.org/drawingml/2006/main">
            <a:off x="4571999" y="3474720"/>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12263F"/>
                </a:solidFill>
                <a:latin typeface="Aptos"/>
                <a:ea typeface="Aptos"/>
                <a:cs typeface="Aptos"/>
              </a:defRPr>
            </a:pPr>
            <a:r>
              <a:t>Yaygın intestinal tutulum</a:t>
            </a:r>
          </a:p>
        </p:txBody>
      </p:sp>
      <p:sp>
        <p:nvSpPr>
          <p:cNvPr id="19" name="TextBox 18">
            <a:extLst xmlns:a="http://schemas.openxmlformats.org/drawingml/2006/main">
              <a:ext uri="{FF2B5EF4-FFF2-40B4-BE49-F238E27FC236}">
                <a16:creationId xmlns:a16="http://schemas.microsoft.com/office/drawing/2014/main" id="{85AC4CC1-296C-434E-B134-E0BE05D25BF1}"/>
              </a:ext>
            </a:extLst>
          </p:cNvPr>
          <p:cNvSpPr>
            <a:spLocks xmlns:a="http://schemas.openxmlformats.org/drawingml/2006/main" noGrp="1"/>
          </p:cNvSpPr>
          <p:nvPr/>
        </p:nvSpPr>
        <p:spPr>
          <a:xfrm xmlns:a="http://schemas.openxmlformats.org/drawingml/2006/main">
            <a:off x="4571999" y="3977639"/>
            <a:ext cx="2971800" cy="7315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263445"/>
                </a:solidFill>
                <a:latin typeface="Aptos"/>
                <a:ea typeface="Aptos"/>
                <a:cs typeface="Aptos"/>
              </a:defRPr>
            </a:pPr>
            <a:r>
              <a:t>Oktreotid: trigliseritlerin torasik kanala taşınmasını ve bağırsak kan akımını azaltabilir.</a:t>
            </a:r>
          </a:p>
        </p:txBody>
      </p:sp>
      <p:sp>
        <p:nvSpPr>
          <p:cNvPr id="20" name="Rounded Rectangle 19">
            <a:extLst xmlns:a="http://schemas.openxmlformats.org/drawingml/2006/main">
              <a:ext uri="{FF2B5EF4-FFF2-40B4-BE49-F238E27FC236}">
                <a16:creationId xmlns:a16="http://schemas.microsoft.com/office/drawing/2014/main" id="{9BA7FB20-2502-41AF-A072-F1FC4F30F80F}"/>
              </a:ext>
            </a:extLst>
          </p:cNvPr>
          <p:cNvSpPr>
            <a:spLocks xmlns:a="http://schemas.openxmlformats.org/drawingml/2006/main" noGrp="1"/>
          </p:cNvSpPr>
          <p:nvPr/>
        </p:nvSpPr>
        <p:spPr>
          <a:xfrm xmlns:a="http://schemas.openxmlformats.org/drawingml/2006/main">
            <a:off x="8083296" y="3246120"/>
            <a:ext cx="3429000" cy="1645920"/>
          </a:xfrm>
          <a:prstGeom xmlns:a="http://schemas.openxmlformats.org/drawingml/2006/main" prst="round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44C3E512-DD8C-449D-9809-10DD35073E50}"/>
              </a:ext>
            </a:extLst>
          </p:cNvPr>
          <p:cNvSpPr>
            <a:spLocks xmlns:a="http://schemas.openxmlformats.org/drawingml/2006/main" noGrp="1"/>
          </p:cNvSpPr>
          <p:nvPr/>
        </p:nvSpPr>
        <p:spPr>
          <a:xfrm xmlns:a="http://schemas.openxmlformats.org/drawingml/2006/main">
            <a:off x="8284464" y="3474720"/>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12263F"/>
                </a:solidFill>
                <a:latin typeface="Aptos"/>
                <a:ea typeface="Aptos"/>
                <a:cs typeface="Aptos"/>
              </a:defRPr>
            </a:pPr>
            <a:r>
              <a:t>Yaygın hastalık / efüzyon</a:t>
            </a:r>
          </a:p>
        </p:txBody>
      </p:sp>
      <p:sp>
        <p:nvSpPr>
          <p:cNvPr id="22" name="TextBox 21">
            <a:extLst xmlns:a="http://schemas.openxmlformats.org/drawingml/2006/main">
              <a:ext uri="{FF2B5EF4-FFF2-40B4-BE49-F238E27FC236}">
                <a16:creationId xmlns:a16="http://schemas.microsoft.com/office/drawing/2014/main" id="{D347681B-E9D8-4F10-A346-EF880436F380}"/>
              </a:ext>
            </a:extLst>
          </p:cNvPr>
          <p:cNvSpPr>
            <a:spLocks xmlns:a="http://schemas.openxmlformats.org/drawingml/2006/main" noGrp="1"/>
          </p:cNvSpPr>
          <p:nvPr/>
        </p:nvSpPr>
        <p:spPr>
          <a:xfrm xmlns:a="http://schemas.openxmlformats.org/drawingml/2006/main">
            <a:off x="8284464" y="3977639"/>
            <a:ext cx="2971800" cy="7315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263445"/>
                </a:solidFill>
                <a:latin typeface="Aptos"/>
                <a:ea typeface="Aptos"/>
                <a:cs typeface="Aptos"/>
              </a:defRPr>
            </a:pPr>
            <a:r>
              <a:t>Sirolimus: lenfanjiyogenezi baskılayan etki; lenfatik bileşenli vasküler malformasyonlarda kullanılır.</a:t>
            </a:r>
          </a:p>
        </p:txBody>
      </p:sp>
      <p:sp>
        <p:nvSpPr>
          <p:cNvPr id="23" name="Rounded Rectangle 22">
            <a:extLst xmlns:a="http://schemas.openxmlformats.org/drawingml/2006/main">
              <a:ext uri="{FF2B5EF4-FFF2-40B4-BE49-F238E27FC236}">
                <a16:creationId xmlns:a16="http://schemas.microsoft.com/office/drawing/2014/main" id="{127DFD72-909D-4D76-91FE-CD3B2F23434F}"/>
              </a:ext>
            </a:extLst>
          </p:cNvPr>
          <p:cNvSpPr>
            <a:spLocks xmlns:a="http://schemas.openxmlformats.org/drawingml/2006/main" noGrp="1"/>
          </p:cNvSpPr>
          <p:nvPr/>
        </p:nvSpPr>
        <p:spPr>
          <a:xfrm xmlns:a="http://schemas.openxmlformats.org/drawingml/2006/main">
            <a:off x="658368" y="5230368"/>
            <a:ext cx="10863072" cy="804672"/>
          </a:xfrm>
          <a:prstGeom xmlns:a="http://schemas.openxmlformats.org/drawingml/2006/main" prst="roundRect">
            <a:avLst/>
          </a:prstGeom>
          <a:solidFill xmlns:a="http://schemas.openxmlformats.org/drawingml/2006/main">
            <a:srgbClr val="12263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4D71E351-3131-41E9-BB50-69CBAED80B9C}"/>
              </a:ext>
            </a:extLst>
          </p:cNvPr>
          <p:cNvSpPr>
            <a:spLocks xmlns:a="http://schemas.openxmlformats.org/drawingml/2006/main" noGrp="1"/>
          </p:cNvSpPr>
          <p:nvPr/>
        </p:nvSpPr>
        <p:spPr>
          <a:xfrm xmlns:a="http://schemas.openxmlformats.org/drawingml/2006/main">
            <a:off x="914400" y="5394960"/>
            <a:ext cx="10287000"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1">
                <a:solidFill>
                  <a:srgbClr val="FFFFFF"/>
                </a:solidFill>
                <a:latin typeface="Aptos"/>
                <a:ea typeface="Aptos"/>
                <a:cs typeface="Aptos"/>
              </a:defRPr>
            </a:pPr>
            <a:r>
              <a:t>Her iki ilacın yanıtı literatürde değişkendir; uzun dönem etkinlik belirsizdir. Yanıt biyobelirteci tanımlanmamış, randomize kontrollü çalışma yoktur.</a:t>
            </a:r>
          </a:p>
        </p:txBody>
      </p:sp>
      <p:sp xmlns:a="http://schemas.openxmlformats.org/drawingml/2006/main">
        <p:nvSpPr>
          <p:cNvPr id="25" name="Inceleme notu"/>
          <p:cNvSpPr txBox="1"/>
          <p:nvPr/>
        </p:nvSpPr>
        <p:spPr>
          <a:xfrm>
            <a:off x="150000" y="6491816"/>
            <a:ext cx="11891695" cy="341184"/>
          </a:xfrm>
          <a:prstGeom prst="rect">
            <a:avLst/>
          </a:prstGeom>
          <a:solidFill>
            <a:srgbClr val="FFF4CC"/>
          </a:solidFill>
          <a:ln w="9525">
            <a:solidFill>
              <a:srgbClr val="C99A00"/>
            </a:solidFill>
          </a:ln>
        </p:spPr>
        <p:txBody>
          <a:bodyPr wrap="square" anchor="ctr" tIns="27432" bIns="27432">
            <a:spAutoFit/>
          </a:bodyPr>
          <a:lstStyle/>
          <a:p>
            <a:r>
              <a:rPr b="1" sz="900">
                <a:solidFill>
                  <a:srgbClr val="A61B1B"/>
                </a:solidFill>
              </a:rPr>
              <a:t>İnceleme notu: </a:t>
            </a:r>
            <a:r>
              <a:rPr sz="900">
                <a:solidFill>
                  <a:srgbClr val="1F1F1F"/>
                </a:solidFill>
              </a:rPr>
              <a:t>Kalsiparin = kalsiyum heparin [doğrulanmalı]; makale tartışmada bunu “kalsiyum kanal blokeri” ile karıştırıyor gibi görünüyor. Kwon’da yanıt tanımı farklı: oranlar doğrudan karşılaştırılamaz.</a:t>
            </a:r>
          </a:p>
        </p:txBody>
      </p:sp>
    </p:spTree>
    <p:extLst>
      <p:ext uri="{BB962C8B-B14F-4D97-AF65-F5344CB8AC3E}">
        <p14:creationId xmlns:p14="http://schemas.microsoft.com/office/powerpoint/2010/main" val="1876037880"/>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48C3F79-6DE1-4A7E-97F4-D10645F32BEF}"/>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00919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9E812E43-51CD-4465-A695-5803FA416321}"/>
              </a:ext>
            </a:extLst>
          </p:cNvPr>
          <p:cNvSpPr>
            <a:spLocks xmlns:a="http://schemas.openxmlformats.org/drawingml/2006/main" noGrp="1"/>
          </p:cNvSpPr>
          <p:nvPr/>
        </p:nvSpPr>
        <p:spPr>
          <a:xfrm xmlns:a="http://schemas.openxmlformats.org/drawingml/2006/main">
            <a:off x="658368" y="384048"/>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400" b="1">
                <a:solidFill>
                  <a:srgbClr val="12263F"/>
                </a:solidFill>
                <a:latin typeface="Aptos"/>
                <a:ea typeface="Aptos"/>
                <a:cs typeface="Aptos"/>
              </a:defRPr>
            </a:pPr>
            <a:r>
              <a:t>PİL’DE FARKLI YANIT PROFİLLERİ VE GENETİK</a:t>
            </a:r>
          </a:p>
        </p:txBody>
      </p:sp>
      <p:sp>
        <p:nvSpPr>
          <p:cNvPr id="4" name="TextBox 3">
            <a:extLst xmlns:a="http://schemas.openxmlformats.org/drawingml/2006/main">
              <a:ext uri="{FF2B5EF4-FFF2-40B4-BE49-F238E27FC236}">
                <a16:creationId xmlns:a16="http://schemas.microsoft.com/office/drawing/2014/main" id="{6F52665C-BA89-41B9-9F0D-55533CA49290}"/>
              </a:ext>
            </a:extLst>
          </p:cNvPr>
          <p:cNvSpPr>
            <a:spLocks xmlns:a="http://schemas.openxmlformats.org/drawingml/2006/main" noGrp="1"/>
          </p:cNvSpPr>
          <p:nvPr/>
        </p:nvSpPr>
        <p:spPr>
          <a:xfrm xmlns:a="http://schemas.openxmlformats.org/drawingml/2006/main">
            <a:off x="676656" y="987552"/>
            <a:ext cx="1088136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667584"/>
                </a:solidFill>
                <a:latin typeface="Aptos"/>
                <a:ea typeface="Aptos"/>
                <a:cs typeface="Aptos"/>
              </a:defRPr>
            </a:pPr>
            <a:r>
              <a:t>Hastalık biyolojisi ve uzun dönem prognoz için olası ipuçları</a:t>
            </a:r>
          </a:p>
        </p:txBody>
      </p:sp>
      <p:sp>
        <p:nvSpPr>
          <p:cNvPr id="5" name="Rounded Rectangle 4">
            <a:extLst xmlns:a="http://schemas.openxmlformats.org/drawingml/2006/main">
              <a:ext uri="{FF2B5EF4-FFF2-40B4-BE49-F238E27FC236}">
                <a16:creationId xmlns:a16="http://schemas.microsoft.com/office/drawing/2014/main" id="{0415C78C-3CF9-4B35-A059-7E95CB3EDFA1}"/>
              </a:ext>
            </a:extLst>
          </p:cNvPr>
          <p:cNvSpPr>
            <a:spLocks xmlns:a="http://schemas.openxmlformats.org/drawingml/2006/main" noGrp="1"/>
          </p:cNvSpPr>
          <p:nvPr/>
        </p:nvSpPr>
        <p:spPr>
          <a:xfrm xmlns:a="http://schemas.openxmlformats.org/drawingml/2006/main">
            <a:off x="658368" y="1600200"/>
            <a:ext cx="5285232" cy="2788920"/>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CFE8ECD0-A11C-404C-8C4F-A821A980FFCD}"/>
              </a:ext>
            </a:extLst>
          </p:cNvPr>
          <p:cNvSpPr>
            <a:spLocks xmlns:a="http://schemas.openxmlformats.org/drawingml/2006/main" noGrp="1"/>
          </p:cNvSpPr>
          <p:nvPr/>
        </p:nvSpPr>
        <p:spPr>
          <a:xfrm xmlns:a="http://schemas.openxmlformats.org/drawingml/2006/main">
            <a:off x="886968" y="1847088"/>
            <a:ext cx="4800600" cy="43891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009196"/>
                </a:solidFill>
                <a:latin typeface="Aptos"/>
                <a:ea typeface="Aptos"/>
                <a:cs typeface="Aptos"/>
              </a:defRPr>
            </a:pPr>
            <a:r>
              <a:t>TAM YANIT / UZUN SÜRELİ REMİSYON</a:t>
            </a:r>
          </a:p>
        </p:txBody>
      </p:sp>
      <p:sp>
        <p:nvSpPr>
          <p:cNvPr id="7" name="Rounded Rectangle 6">
            <a:extLst xmlns:a="http://schemas.openxmlformats.org/drawingml/2006/main">
              <a:ext uri="{FF2B5EF4-FFF2-40B4-BE49-F238E27FC236}">
                <a16:creationId xmlns:a16="http://schemas.microsoft.com/office/drawing/2014/main" id="{AA024B18-DF3D-4C28-94B3-E1078C286E60}"/>
              </a:ext>
            </a:extLst>
          </p:cNvPr>
          <p:cNvSpPr>
            <a:spLocks xmlns:a="http://schemas.openxmlformats.org/drawingml/2006/main" noGrp="1"/>
          </p:cNvSpPr>
          <p:nvPr/>
        </p:nvSpPr>
        <p:spPr>
          <a:xfrm xmlns:a="http://schemas.openxmlformats.org/drawingml/2006/main">
            <a:off x="6236208" y="1600200"/>
            <a:ext cx="5285232" cy="2788920"/>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9759554C-48E8-45C3-8BE3-A658BABE20B1}"/>
              </a:ext>
            </a:extLst>
          </p:cNvPr>
          <p:cNvSpPr>
            <a:spLocks xmlns:a="http://schemas.openxmlformats.org/drawingml/2006/main" noGrp="1"/>
          </p:cNvSpPr>
          <p:nvPr/>
        </p:nvSpPr>
        <p:spPr>
          <a:xfrm xmlns:a="http://schemas.openxmlformats.org/drawingml/2006/main">
            <a:off x="6464808" y="1847088"/>
            <a:ext cx="4800600" cy="43891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CE8F24"/>
                </a:solidFill>
                <a:latin typeface="Aptos"/>
                <a:ea typeface="Aptos"/>
                <a:cs typeface="Aptos"/>
              </a:defRPr>
            </a:pPr>
            <a:r>
              <a:t>KISMİ YANIT / KRONİK SEYİR</a:t>
            </a:r>
          </a:p>
        </p:txBody>
      </p:sp>
      <p:sp>
        <p:nvSpPr>
          <p:cNvPr id="9" name="TextBox 8">
            <a:extLst xmlns:a="http://schemas.openxmlformats.org/drawingml/2006/main">
              <a:ext uri="{FF2B5EF4-FFF2-40B4-BE49-F238E27FC236}">
                <a16:creationId xmlns:a16="http://schemas.microsoft.com/office/drawing/2014/main" id="{497AC1B7-5240-4BF1-99B9-1A43EB922DF3}"/>
              </a:ext>
            </a:extLst>
          </p:cNvPr>
          <p:cNvSpPr>
            <a:spLocks xmlns:a="http://schemas.openxmlformats.org/drawingml/2006/main" noGrp="1"/>
          </p:cNvSpPr>
          <p:nvPr/>
        </p:nvSpPr>
        <p:spPr>
          <a:xfrm xmlns:a="http://schemas.openxmlformats.org/drawingml/2006/main">
            <a:off x="896112" y="2450592"/>
            <a:ext cx="4709160" cy="1417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263445"/>
                </a:solidFill>
                <a:latin typeface="Aptos"/>
                <a:ea typeface="Aptos"/>
                <a:cs typeface="Aptos"/>
              </a:defRPr>
            </a:pPr>
            <a:r>
              <a:t>9 çocuk (%26; tüm kohortun) normal diyete geçti ve çalışma sonunda iyileşmiş/uzun süreli tam remisyonda kabul edildi. Albümin diyette erken ve kalıcı normale döndü. Lenfödem veya bilinen patojenik varyant yoktu. Endoskopik/histolojik normalleşme gösterilmemişti.</a:t>
            </a:r>
          </a:p>
        </p:txBody>
      </p:sp>
      <p:sp>
        <p:nvSpPr>
          <p:cNvPr id="10" name="TextBox 9">
            <a:extLst xmlns:a="http://schemas.openxmlformats.org/drawingml/2006/main">
              <a:ext uri="{FF2B5EF4-FFF2-40B4-BE49-F238E27FC236}">
                <a16:creationId xmlns:a16="http://schemas.microsoft.com/office/drawing/2014/main" id="{C377B435-3098-4544-93E7-1574B3619964}"/>
              </a:ext>
            </a:extLst>
          </p:cNvPr>
          <p:cNvSpPr>
            <a:spLocks xmlns:a="http://schemas.openxmlformats.org/drawingml/2006/main" noGrp="1"/>
          </p:cNvSpPr>
          <p:nvPr/>
        </p:nvSpPr>
        <p:spPr>
          <a:xfrm xmlns:a="http://schemas.openxmlformats.org/drawingml/2006/main">
            <a:off x="6473952" y="2450592"/>
            <a:ext cx="4709160" cy="1417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263445"/>
                </a:solidFill>
                <a:latin typeface="Aptos"/>
                <a:ea typeface="Aptos"/>
                <a:cs typeface="Aptos"/>
              </a:defRPr>
            </a:pPr>
            <a:r>
              <a:t>Lenfödem ve patojenik genetik varyant, kısmi yanıt grubunda daha sık görüldü; kronik seyirle ilişkiliydi. Diyete hiç yanıt vermeyen iki yaygın tutulumlu olguda da lenfödem vardı; genetik inceleme yapılmamıştı.</a:t>
            </a:r>
          </a:p>
        </p:txBody>
      </p:sp>
      <p:sp>
        <p:nvSpPr>
          <p:cNvPr id="11" name="Rounded Rectangle 10">
            <a:extLst xmlns:a="http://schemas.openxmlformats.org/drawingml/2006/main">
              <a:ext uri="{FF2B5EF4-FFF2-40B4-BE49-F238E27FC236}">
                <a16:creationId xmlns:a16="http://schemas.microsoft.com/office/drawing/2014/main" id="{BCC95EF6-BC76-4FCA-9D9E-901D0E5EDFC6}"/>
              </a:ext>
            </a:extLst>
          </p:cNvPr>
          <p:cNvSpPr>
            <a:spLocks xmlns:a="http://schemas.openxmlformats.org/drawingml/2006/main" noGrp="1"/>
          </p:cNvSpPr>
          <p:nvPr/>
        </p:nvSpPr>
        <p:spPr>
          <a:xfrm xmlns:a="http://schemas.openxmlformats.org/drawingml/2006/main">
            <a:off x="658368" y="4681728"/>
            <a:ext cx="10863072" cy="1417320"/>
          </a:xfrm>
          <a:prstGeom xmlns:a="http://schemas.openxmlformats.org/drawingml/2006/main" prst="roundRect">
            <a:avLst/>
          </a:prstGeom>
          <a:solidFill xmlns:a="http://schemas.openxmlformats.org/drawingml/2006/main">
            <a:srgbClr val="FFFFFF"/>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5266284E-EE8D-4115-8D89-0A22352850B9}"/>
              </a:ext>
            </a:extLst>
          </p:cNvPr>
          <p:cNvSpPr>
            <a:spLocks xmlns:a="http://schemas.openxmlformats.org/drawingml/2006/main" noGrp="1"/>
          </p:cNvSpPr>
          <p:nvPr/>
        </p:nvSpPr>
        <p:spPr>
          <a:xfrm xmlns:a="http://schemas.openxmlformats.org/drawingml/2006/main">
            <a:off x="914400" y="4937760"/>
            <a:ext cx="1024128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009196"/>
                </a:solidFill>
                <a:latin typeface="Aptos"/>
                <a:ea typeface="Aptos"/>
                <a:cs typeface="Aptos"/>
              </a:defRPr>
            </a:pPr>
            <a:r>
              <a:t>KLİNİK ÇIKARIM</a:t>
            </a:r>
          </a:p>
        </p:txBody>
      </p:sp>
      <p:sp>
        <p:nvSpPr>
          <p:cNvPr id="13" name="TextBox 12">
            <a:extLst xmlns:a="http://schemas.openxmlformats.org/drawingml/2006/main">
              <a:ext uri="{FF2B5EF4-FFF2-40B4-BE49-F238E27FC236}">
                <a16:creationId xmlns:a16="http://schemas.microsoft.com/office/drawing/2014/main" id="{42170769-EE4D-4837-B0D3-8CAD2006F828}"/>
              </a:ext>
            </a:extLst>
          </p:cNvPr>
          <p:cNvSpPr>
            <a:spLocks xmlns:a="http://schemas.openxmlformats.org/drawingml/2006/main" noGrp="1"/>
          </p:cNvSpPr>
          <p:nvPr/>
        </p:nvSpPr>
        <p:spPr>
          <a:xfrm xmlns:a="http://schemas.openxmlformats.org/drawingml/2006/main">
            <a:off x="914400" y="5376672"/>
            <a:ext cx="1019556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263445"/>
                </a:solidFill>
                <a:latin typeface="Aptos"/>
                <a:ea typeface="Aptos"/>
                <a:cs typeface="Aptos"/>
              </a:defRPr>
            </a:pPr>
            <a:r>
              <a:t>PİL’nin biyolojisi tam aydınlatılmamıştır; bazı olgularda periferik lenfatik malformasyonlar ve endotel, bağ dokusu, bağışıklık veya metabolizma işlevlerini etkileyen genetik bozukluklar rol oynayabilir. Ağır, sendromik, lenfödemli veya diyete zayıf yanıtlı olgularda genetik inceleme patofizyoloji ve tedavi seçeneklerine ışık tutabilir.</a:t>
            </a:r>
          </a:p>
        </p:txBody>
      </p:sp>
      <p:sp xmlns:a="http://schemas.openxmlformats.org/drawingml/2006/main">
        <p:nvSpPr>
          <p:cNvPr id="14" name="Inceleme notu"/>
          <p:cNvSpPr txBox="1"/>
          <p:nvPr/>
        </p:nvSpPr>
        <p:spPr>
          <a:xfrm>
            <a:off x="150000" y="6491816"/>
            <a:ext cx="11891695" cy="341184"/>
          </a:xfrm>
          <a:prstGeom prst="rect">
            <a:avLst/>
          </a:prstGeom>
          <a:solidFill>
            <a:srgbClr val="FFF4CC"/>
          </a:solidFill>
          <a:ln w="9525">
            <a:solidFill>
              <a:srgbClr val="C99A00"/>
            </a:solidFill>
          </a:ln>
        </p:spPr>
        <p:txBody>
          <a:bodyPr wrap="square" anchor="ctr" tIns="27432" bIns="27432">
            <a:spAutoFit/>
          </a:bodyPr>
          <a:lstStyle/>
          <a:p>
            <a:r>
              <a:rPr b="1" sz="900">
                <a:solidFill>
                  <a:srgbClr val="A61B1B"/>
                </a:solidFill>
              </a:rPr>
              <a:t>İnceleme notu: </a:t>
            </a:r>
            <a:r>
              <a:rPr sz="900">
                <a:solidFill>
                  <a:srgbClr val="1F1F1F"/>
                </a:solidFill>
              </a:rPr>
              <a:t>“Kronik seyirle ilişkili” istatistiksel olarak anlamlı değil (Fisher p=0,051 / 0,061). Kaç hastaya genetik test yapıldığı bildirilmemiş: “varyant yok” ile “test edilmedi” ayrılamıyor.</a:t>
            </a:r>
          </a:p>
        </p:txBody>
      </p:sp>
    </p:spTree>
    <p:extLst>
      <p:ext uri="{BB962C8B-B14F-4D97-AF65-F5344CB8AC3E}">
        <p14:creationId xmlns:p14="http://schemas.microsoft.com/office/powerpoint/2010/main" val="131073774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266F4B6-2F49-4BD2-9D9C-F2ECF2884EE9}"/>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00919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59E4429A-5321-4ABA-9E62-758FCA1D6404}"/>
              </a:ext>
            </a:extLst>
          </p:cNvPr>
          <p:cNvSpPr>
            <a:spLocks xmlns:a="http://schemas.openxmlformats.org/drawingml/2006/main" noGrp="1"/>
          </p:cNvSpPr>
          <p:nvPr/>
        </p:nvSpPr>
        <p:spPr>
          <a:xfrm xmlns:a="http://schemas.openxmlformats.org/drawingml/2006/main">
            <a:off x="658368" y="384048"/>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400" b="1">
                <a:solidFill>
                  <a:srgbClr val="12263F"/>
                </a:solidFill>
                <a:latin typeface="Aptos"/>
                <a:ea typeface="Aptos"/>
                <a:cs typeface="Aptos"/>
              </a:defRPr>
            </a:pPr>
            <a:r>
              <a:t>NORMAL DİYETE KADEMELİ GEÇİŞ</a:t>
            </a:r>
          </a:p>
        </p:txBody>
      </p:sp>
      <p:sp>
        <p:nvSpPr>
          <p:cNvPr id="4" name="TextBox 3">
            <a:extLst xmlns:a="http://schemas.openxmlformats.org/drawingml/2006/main">
              <a:ext uri="{FF2B5EF4-FFF2-40B4-BE49-F238E27FC236}">
                <a16:creationId xmlns:a16="http://schemas.microsoft.com/office/drawing/2014/main" id="{C5CE6147-E087-4819-AFD5-17AB71095CC2}"/>
              </a:ext>
            </a:extLst>
          </p:cNvPr>
          <p:cNvSpPr>
            <a:spLocks xmlns:a="http://schemas.openxmlformats.org/drawingml/2006/main" noGrp="1"/>
          </p:cNvSpPr>
          <p:nvPr/>
        </p:nvSpPr>
        <p:spPr>
          <a:xfrm xmlns:a="http://schemas.openxmlformats.org/drawingml/2006/main">
            <a:off x="676656" y="987552"/>
            <a:ext cx="1088136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667584"/>
                </a:solidFill>
                <a:latin typeface="Aptos"/>
                <a:ea typeface="Aptos"/>
                <a:cs typeface="Aptos"/>
              </a:defRPr>
            </a:pPr>
            <a:r>
              <a:t>Diyet süresi ve albümin hedefi için kesin öneri bulunmuyor</a:t>
            </a:r>
          </a:p>
        </p:txBody>
      </p:sp>
      <p:sp>
        <p:nvSpPr>
          <p:cNvPr id="5" name="Rounded Rectangle 4">
            <a:extLst xmlns:a="http://schemas.openxmlformats.org/drawingml/2006/main">
              <a:ext uri="{FF2B5EF4-FFF2-40B4-BE49-F238E27FC236}">
                <a16:creationId xmlns:a16="http://schemas.microsoft.com/office/drawing/2014/main" id="{F00148A3-6FA5-4121-A912-C37E6D806DFD}"/>
              </a:ext>
            </a:extLst>
          </p:cNvPr>
          <p:cNvSpPr>
            <a:spLocks xmlns:a="http://schemas.openxmlformats.org/drawingml/2006/main" noGrp="1"/>
          </p:cNvSpPr>
          <p:nvPr/>
        </p:nvSpPr>
        <p:spPr>
          <a:xfrm xmlns:a="http://schemas.openxmlformats.org/drawingml/2006/main">
            <a:off x="658368" y="1600200"/>
            <a:ext cx="3657600" cy="4434840"/>
          </a:xfrm>
          <a:prstGeom xmlns:a="http://schemas.openxmlformats.org/drawingml/2006/main" prst="roundRect">
            <a:avLst/>
          </a:prstGeom>
          <a:solidFill xmlns:a="http://schemas.openxmlformats.org/drawingml/2006/main">
            <a:srgbClr val="12263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35815F41-9696-4231-9283-76E504E58939}"/>
              </a:ext>
            </a:extLst>
          </p:cNvPr>
          <p:cNvSpPr>
            <a:spLocks xmlns:a="http://schemas.openxmlformats.org/drawingml/2006/main" noGrp="1"/>
          </p:cNvSpPr>
          <p:nvPr/>
        </p:nvSpPr>
        <p:spPr>
          <a:xfrm xmlns:a="http://schemas.openxmlformats.org/drawingml/2006/main">
            <a:off x="960120" y="1901952"/>
            <a:ext cx="3063240" cy="51206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500" b="1">
                <a:solidFill>
                  <a:srgbClr val="FFFFFF"/>
                </a:solidFill>
                <a:latin typeface="Aptos"/>
                <a:ea typeface="Aptos"/>
                <a:cs typeface="Aptos"/>
              </a:defRPr>
            </a:pPr>
            <a:r>
              <a:t>5 çocuk</a:t>
            </a:r>
          </a:p>
        </p:txBody>
      </p:sp>
      <p:sp>
        <p:nvSpPr>
          <p:cNvPr id="7" name="TextBox 6">
            <a:extLst xmlns:a="http://schemas.openxmlformats.org/drawingml/2006/main">
              <a:ext uri="{FF2B5EF4-FFF2-40B4-BE49-F238E27FC236}">
                <a16:creationId xmlns:a16="http://schemas.microsoft.com/office/drawing/2014/main" id="{2DDFA086-6E7B-4FA3-9CD2-911E63D72B39}"/>
              </a:ext>
            </a:extLst>
          </p:cNvPr>
          <p:cNvSpPr>
            <a:spLocks xmlns:a="http://schemas.openxmlformats.org/drawingml/2006/main" noGrp="1"/>
          </p:cNvSpPr>
          <p:nvPr/>
        </p:nvSpPr>
        <p:spPr>
          <a:xfrm xmlns:a="http://schemas.openxmlformats.org/drawingml/2006/main">
            <a:off x="960120" y="2487168"/>
            <a:ext cx="3063240" cy="9144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FFFFFF"/>
                </a:solidFill>
                <a:latin typeface="Aptos"/>
                <a:ea typeface="Aptos"/>
                <a:cs typeface="Aptos"/>
              </a:defRPr>
            </a:pPr>
            <a:r>
              <a:t>Kısmi yanıtlı çocuklarda LCT kademeli olarak yeniden başlandı.</a:t>
            </a:r>
          </a:p>
        </p:txBody>
      </p:sp>
      <p:sp>
        <p:nvSpPr>
          <p:cNvPr id="8" name="TextBox 7">
            <a:extLst xmlns:a="http://schemas.openxmlformats.org/drawingml/2006/main">
              <a:ext uri="{FF2B5EF4-FFF2-40B4-BE49-F238E27FC236}">
                <a16:creationId xmlns:a16="http://schemas.microsoft.com/office/drawing/2014/main" id="{7ECA82E7-B806-46E2-9C57-14A2AEFC1C62}"/>
              </a:ext>
            </a:extLst>
          </p:cNvPr>
          <p:cNvSpPr>
            <a:spLocks xmlns:a="http://schemas.openxmlformats.org/drawingml/2006/main" noGrp="1"/>
          </p:cNvSpPr>
          <p:nvPr/>
        </p:nvSpPr>
        <p:spPr>
          <a:xfrm xmlns:a="http://schemas.openxmlformats.org/drawingml/2006/main">
            <a:off x="960120" y="3657600"/>
            <a:ext cx="3063240" cy="43891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1">
                <a:solidFill>
                  <a:srgbClr val="AEDDDA"/>
                </a:solidFill>
                <a:latin typeface="Aptos"/>
                <a:ea typeface="Aptos"/>
                <a:cs typeface="Aptos"/>
              </a:defRPr>
            </a:pPr>
            <a:r>
              <a:t>Medyan diyet süresi</a:t>
            </a:r>
          </a:p>
        </p:txBody>
      </p:sp>
      <p:sp>
        <p:nvSpPr>
          <p:cNvPr id="9" name="TextBox 8">
            <a:extLst xmlns:a="http://schemas.openxmlformats.org/drawingml/2006/main">
              <a:ext uri="{FF2B5EF4-FFF2-40B4-BE49-F238E27FC236}">
                <a16:creationId xmlns:a16="http://schemas.microsoft.com/office/drawing/2014/main" id="{268F4976-31C1-49D0-B760-A3B5D7489172}"/>
              </a:ext>
            </a:extLst>
          </p:cNvPr>
          <p:cNvSpPr>
            <a:spLocks xmlns:a="http://schemas.openxmlformats.org/drawingml/2006/main" noGrp="1"/>
          </p:cNvSpPr>
          <p:nvPr/>
        </p:nvSpPr>
        <p:spPr>
          <a:xfrm xmlns:a="http://schemas.openxmlformats.org/drawingml/2006/main">
            <a:off x="960120" y="4059936"/>
            <a:ext cx="3063240" cy="51206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400" b="1">
                <a:solidFill>
                  <a:srgbClr val="FFFFFF"/>
                </a:solidFill>
                <a:latin typeface="Aptos"/>
                <a:ea typeface="Aptos"/>
                <a:cs typeface="Aptos"/>
              </a:defRPr>
            </a:pPr>
            <a:r>
              <a:t>1 yıl</a:t>
            </a:r>
          </a:p>
        </p:txBody>
      </p:sp>
      <p:sp>
        <p:nvSpPr>
          <p:cNvPr id="10" name="TextBox 9">
            <a:extLst xmlns:a="http://schemas.openxmlformats.org/drawingml/2006/main">
              <a:ext uri="{FF2B5EF4-FFF2-40B4-BE49-F238E27FC236}">
                <a16:creationId xmlns:a16="http://schemas.microsoft.com/office/drawing/2014/main" id="{C024C22B-AA68-4810-8BBD-5A9EE179F401}"/>
              </a:ext>
            </a:extLst>
          </p:cNvPr>
          <p:cNvSpPr>
            <a:spLocks xmlns:a="http://schemas.openxmlformats.org/drawingml/2006/main" noGrp="1"/>
          </p:cNvSpPr>
          <p:nvPr/>
        </p:nvSpPr>
        <p:spPr>
          <a:xfrm xmlns:a="http://schemas.openxmlformats.org/drawingml/2006/main">
            <a:off x="960120" y="4892040"/>
            <a:ext cx="3063240" cy="8229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0">
                <a:solidFill>
                  <a:srgbClr val="FFFFFF"/>
                </a:solidFill>
                <a:latin typeface="Aptos"/>
                <a:ea typeface="Aptos"/>
                <a:cs typeface="Aptos"/>
              </a:defRPr>
            </a:pPr>
            <a:r>
              <a:t>Albümin stabil kaldı; infüzyon gerekmedi ve büyüme normal seyretti.</a:t>
            </a:r>
          </a:p>
        </p:txBody>
      </p:sp>
      <p:sp>
        <p:nvSpPr>
          <p:cNvPr id="11" name="Rounded Rectangle 10">
            <a:extLst xmlns:a="http://schemas.openxmlformats.org/drawingml/2006/main">
              <a:ext uri="{FF2B5EF4-FFF2-40B4-BE49-F238E27FC236}">
                <a16:creationId xmlns:a16="http://schemas.microsoft.com/office/drawing/2014/main" id="{05E3FC17-943A-4AE3-95A8-9784C6037D1F}"/>
              </a:ext>
            </a:extLst>
          </p:cNvPr>
          <p:cNvSpPr>
            <a:spLocks xmlns:a="http://schemas.openxmlformats.org/drawingml/2006/main" noGrp="1"/>
          </p:cNvSpPr>
          <p:nvPr/>
        </p:nvSpPr>
        <p:spPr>
          <a:xfrm xmlns:a="http://schemas.openxmlformats.org/drawingml/2006/main">
            <a:off x="4617720" y="1600200"/>
            <a:ext cx="6903720" cy="1234440"/>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EAC5AE60-BEFF-4A13-91CC-CC79816BF82D}"/>
              </a:ext>
            </a:extLst>
          </p:cNvPr>
          <p:cNvSpPr>
            <a:spLocks xmlns:a="http://schemas.openxmlformats.org/drawingml/2006/main" noGrp="1"/>
          </p:cNvSpPr>
          <p:nvPr/>
        </p:nvSpPr>
        <p:spPr>
          <a:xfrm xmlns:a="http://schemas.openxmlformats.org/drawingml/2006/main">
            <a:off x="4892040" y="1755648"/>
            <a:ext cx="630936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009196"/>
                </a:solidFill>
                <a:latin typeface="Aptos"/>
                <a:ea typeface="Aptos"/>
                <a:cs typeface="Aptos"/>
              </a:defRPr>
            </a:pPr>
            <a:r>
              <a:t>BULGU</a:t>
            </a:r>
          </a:p>
        </p:txBody>
      </p:sp>
      <p:sp>
        <p:nvSpPr>
          <p:cNvPr id="13" name="TextBox 12">
            <a:extLst xmlns:a="http://schemas.openxmlformats.org/drawingml/2006/main">
              <a:ext uri="{FF2B5EF4-FFF2-40B4-BE49-F238E27FC236}">
                <a16:creationId xmlns:a16="http://schemas.microsoft.com/office/drawing/2014/main" id="{128070DD-E628-4356-B067-84801D559D91}"/>
              </a:ext>
            </a:extLst>
          </p:cNvPr>
          <p:cNvSpPr>
            <a:spLocks xmlns:a="http://schemas.openxmlformats.org/drawingml/2006/main" noGrp="1"/>
          </p:cNvSpPr>
          <p:nvPr/>
        </p:nvSpPr>
        <p:spPr>
          <a:xfrm xmlns:a="http://schemas.openxmlformats.org/drawingml/2006/main">
            <a:off x="4892040" y="2103120"/>
            <a:ext cx="630936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0">
                <a:solidFill>
                  <a:srgbClr val="263445"/>
                </a:solidFill>
                <a:latin typeface="Aptos"/>
                <a:ea typeface="Aptos"/>
                <a:cs typeface="Aptos"/>
              </a:defRPr>
            </a:pPr>
            <a:r>
              <a:t>Uzun süreli, belirtisiz hipoalbüminemi bu kohortta komplikasyonlarla ilişkili değildi.</a:t>
            </a:r>
          </a:p>
        </p:txBody>
      </p:sp>
      <p:sp>
        <p:nvSpPr>
          <p:cNvPr id="14" name="Rounded Rectangle 13">
            <a:extLst xmlns:a="http://schemas.openxmlformats.org/drawingml/2006/main">
              <a:ext uri="{FF2B5EF4-FFF2-40B4-BE49-F238E27FC236}">
                <a16:creationId xmlns:a16="http://schemas.microsoft.com/office/drawing/2014/main" id="{C50019E2-6FD8-4C4A-A67B-302D9DF2A410}"/>
              </a:ext>
            </a:extLst>
          </p:cNvPr>
          <p:cNvSpPr>
            <a:spLocks xmlns:a="http://schemas.openxmlformats.org/drawingml/2006/main" noGrp="1"/>
          </p:cNvSpPr>
          <p:nvPr/>
        </p:nvSpPr>
        <p:spPr>
          <a:xfrm xmlns:a="http://schemas.openxmlformats.org/drawingml/2006/main">
            <a:off x="4617720" y="3063240"/>
            <a:ext cx="6903720" cy="1234440"/>
          </a:xfrm>
          <a:prstGeom xmlns:a="http://schemas.openxmlformats.org/drawingml/2006/main" prst="roundRect">
            <a:avLst/>
          </a:prstGeom>
          <a:solidFill xmlns:a="http://schemas.openxmlformats.org/drawingml/2006/main">
            <a:srgbClr val="FFF9EB"/>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B48F01D8-C037-44E9-B656-07F5E3AC2754}"/>
              </a:ext>
            </a:extLst>
          </p:cNvPr>
          <p:cNvSpPr>
            <a:spLocks xmlns:a="http://schemas.openxmlformats.org/drawingml/2006/main" noGrp="1"/>
          </p:cNvSpPr>
          <p:nvPr/>
        </p:nvSpPr>
        <p:spPr>
          <a:xfrm xmlns:a="http://schemas.openxmlformats.org/drawingml/2006/main">
            <a:off x="4892040" y="3218688"/>
            <a:ext cx="630936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CE8F24"/>
                </a:solidFill>
                <a:latin typeface="Aptos"/>
                <a:ea typeface="Aptos"/>
                <a:cs typeface="Aptos"/>
              </a:defRPr>
            </a:pPr>
            <a:r>
              <a:t>OLASI YAKLAŞIM</a:t>
            </a:r>
          </a:p>
        </p:txBody>
      </p:sp>
      <p:sp>
        <p:nvSpPr>
          <p:cNvPr id="16" name="TextBox 15">
            <a:extLst xmlns:a="http://schemas.openxmlformats.org/drawingml/2006/main">
              <a:ext uri="{FF2B5EF4-FFF2-40B4-BE49-F238E27FC236}">
                <a16:creationId xmlns:a16="http://schemas.microsoft.com/office/drawing/2014/main" id="{364905B8-9E18-4C3E-B61C-67DE226C9BFD}"/>
              </a:ext>
            </a:extLst>
          </p:cNvPr>
          <p:cNvSpPr>
            <a:spLocks xmlns:a="http://schemas.openxmlformats.org/drawingml/2006/main" noGrp="1"/>
          </p:cNvSpPr>
          <p:nvPr/>
        </p:nvSpPr>
        <p:spPr>
          <a:xfrm xmlns:a="http://schemas.openxmlformats.org/drawingml/2006/main">
            <a:off x="4892040" y="3566160"/>
            <a:ext cx="630936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0">
                <a:solidFill>
                  <a:srgbClr val="263445"/>
                </a:solidFill>
                <a:latin typeface="Aptos"/>
                <a:ea typeface="Aptos"/>
                <a:cs typeface="Aptos"/>
              </a:defRPr>
            </a:pPr>
            <a:r>
              <a:t>Klinik seyri iyi olan çocuklarda albümin tamamen normale dönmeden de normal diyete geçiş denenebilir.</a:t>
            </a:r>
          </a:p>
        </p:txBody>
      </p:sp>
      <p:sp>
        <p:nvSpPr>
          <p:cNvPr id="17" name="Rounded Rectangle 16">
            <a:extLst xmlns:a="http://schemas.openxmlformats.org/drawingml/2006/main">
              <a:ext uri="{FF2B5EF4-FFF2-40B4-BE49-F238E27FC236}">
                <a16:creationId xmlns:a16="http://schemas.microsoft.com/office/drawing/2014/main" id="{4195BD1D-AE8A-4F48-8615-D90623F6ABED}"/>
              </a:ext>
            </a:extLst>
          </p:cNvPr>
          <p:cNvSpPr>
            <a:spLocks xmlns:a="http://schemas.openxmlformats.org/drawingml/2006/main" noGrp="1"/>
          </p:cNvSpPr>
          <p:nvPr/>
        </p:nvSpPr>
        <p:spPr>
          <a:xfrm xmlns:a="http://schemas.openxmlformats.org/drawingml/2006/main">
            <a:off x="4617720" y="4526280"/>
            <a:ext cx="6903720" cy="1234440"/>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6CC92683-9DC0-4D77-980C-9C6649307E8E}"/>
              </a:ext>
            </a:extLst>
          </p:cNvPr>
          <p:cNvSpPr>
            <a:spLocks xmlns:a="http://schemas.openxmlformats.org/drawingml/2006/main" noGrp="1"/>
          </p:cNvSpPr>
          <p:nvPr/>
        </p:nvSpPr>
        <p:spPr>
          <a:xfrm xmlns:a="http://schemas.openxmlformats.org/drawingml/2006/main">
            <a:off x="4892040" y="4681728"/>
            <a:ext cx="6309360" cy="29260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009196"/>
                </a:solidFill>
                <a:latin typeface="Aptos"/>
                <a:ea typeface="Aptos"/>
                <a:cs typeface="Aptos"/>
              </a:defRPr>
            </a:pPr>
            <a:r>
              <a:t>GÜVENLİ UYGULAMA</a:t>
            </a:r>
          </a:p>
        </p:txBody>
      </p:sp>
      <p:sp>
        <p:nvSpPr>
          <p:cNvPr id="19" name="TextBox 18">
            <a:extLst xmlns:a="http://schemas.openxmlformats.org/drawingml/2006/main">
              <a:ext uri="{FF2B5EF4-FFF2-40B4-BE49-F238E27FC236}">
                <a16:creationId xmlns:a16="http://schemas.microsoft.com/office/drawing/2014/main" id="{ADF64A9B-48B4-4969-9F1F-6963734F1B0C}"/>
              </a:ext>
            </a:extLst>
          </p:cNvPr>
          <p:cNvSpPr>
            <a:spLocks xmlns:a="http://schemas.openxmlformats.org/drawingml/2006/main" noGrp="1"/>
          </p:cNvSpPr>
          <p:nvPr/>
        </p:nvSpPr>
        <p:spPr>
          <a:xfrm xmlns:a="http://schemas.openxmlformats.org/drawingml/2006/main">
            <a:off x="4892040" y="5029200"/>
            <a:ext cx="630936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0">
                <a:solidFill>
                  <a:srgbClr val="263445"/>
                </a:solidFill>
                <a:latin typeface="Aptos"/>
                <a:ea typeface="Aptos"/>
                <a:cs typeface="Aptos"/>
              </a:defRPr>
            </a:pPr>
            <a:r>
              <a:t>Geçiş sırasında yakın klinik ve biyolojik izlem gerekir; uzun dönem sonuçlar için ek çalışma gereklidir.</a:t>
            </a:r>
          </a:p>
        </p:txBody>
      </p:sp>
      <p:sp>
        <p:nvSpPr>
          <p:cNvPr id="20" name="TextBox 19">
            <a:extLst xmlns:a="http://schemas.openxmlformats.org/drawingml/2006/main">
              <a:ext uri="{FF2B5EF4-FFF2-40B4-BE49-F238E27FC236}">
                <a16:creationId xmlns:a16="http://schemas.microsoft.com/office/drawing/2014/main" id="{BE8F9AC2-BB72-4949-B555-31AB4FF0D80E}"/>
              </a:ext>
            </a:extLst>
          </p:cNvPr>
          <p:cNvSpPr>
            <a:spLocks xmlns:a="http://schemas.openxmlformats.org/drawingml/2006/main" noGrp="1"/>
          </p:cNvSpPr>
          <p:nvPr/>
        </p:nvSpPr>
        <p:spPr>
          <a:xfrm xmlns:a="http://schemas.openxmlformats.org/drawingml/2006/main">
            <a:off x="868680" y="6199632"/>
            <a:ext cx="10424160" cy="2286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100" b="1">
                <a:solidFill>
                  <a:srgbClr val="12263F"/>
                </a:solidFill>
                <a:latin typeface="Aptos"/>
                <a:ea typeface="Aptos"/>
                <a:cs typeface="Aptos"/>
              </a:defRPr>
            </a:pPr>
            <a:r>
              <a:t>Çalışma sonunda kohortun %50’si (17/34) normal diyet alıyordu.</a:t>
            </a:r>
          </a:p>
        </p:txBody>
      </p:sp>
      <p:sp xmlns:a="http://schemas.openxmlformats.org/drawingml/2006/main">
        <p:nvSpPr>
          <p:cNvPr id="21" name="Inceleme notu"/>
          <p:cNvSpPr txBox="1"/>
          <p:nvPr/>
        </p:nvSpPr>
        <p:spPr>
          <a:xfrm>
            <a:off x="150000" y="6628976"/>
            <a:ext cx="11891695" cy="204024"/>
          </a:xfrm>
          <a:prstGeom prst="rect">
            <a:avLst/>
          </a:prstGeom>
          <a:solidFill>
            <a:srgbClr val="FFF4CC"/>
          </a:solidFill>
          <a:ln w="9525">
            <a:solidFill>
              <a:srgbClr val="C99A00"/>
            </a:solidFill>
          </a:ln>
        </p:spPr>
        <p:txBody>
          <a:bodyPr wrap="square" anchor="ctr" tIns="27432" bIns="27432">
            <a:spAutoFit/>
          </a:bodyPr>
          <a:lstStyle/>
          <a:p>
            <a:r>
              <a:rPr b="1" sz="900">
                <a:solidFill>
                  <a:srgbClr val="A61B1B"/>
                </a:solidFill>
              </a:rPr>
              <a:t>İnceleme notu: </a:t>
            </a:r>
            <a:r>
              <a:rPr sz="900">
                <a:solidFill>
                  <a:srgbClr val="1F1F1F"/>
                </a:solidFill>
              </a:rPr>
              <a:t>Yalnız 5 seçilmiş hastaya dayanıyor; normal diyete geçenleri diyette kalan 10 kısmi yanıtlıdan ayıran özellik bildirilmemiş; izlemde A1AT klirensi/endoskopi yok.</a:t>
            </a:r>
          </a:p>
        </p:txBody>
      </p:sp>
    </p:spTree>
    <p:extLst>
      <p:ext uri="{BB962C8B-B14F-4D97-AF65-F5344CB8AC3E}">
        <p14:creationId xmlns:p14="http://schemas.microsoft.com/office/powerpoint/2010/main" val="1694349728"/>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BAB2FA8-DE98-4812-87B9-7A2243A0F725}"/>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00919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0CDCCE2A-5A86-4B9C-B664-C0DC8C978F2E}"/>
              </a:ext>
            </a:extLst>
          </p:cNvPr>
          <p:cNvSpPr>
            <a:spLocks xmlns:a="http://schemas.openxmlformats.org/drawingml/2006/main" noGrp="1"/>
          </p:cNvSpPr>
          <p:nvPr/>
        </p:nvSpPr>
        <p:spPr>
          <a:xfrm xmlns:a="http://schemas.openxmlformats.org/drawingml/2006/main">
            <a:off x="658368" y="384048"/>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400" b="1">
                <a:solidFill>
                  <a:srgbClr val="12263F"/>
                </a:solidFill>
                <a:latin typeface="Aptos"/>
                <a:ea typeface="Aptos"/>
                <a:cs typeface="Aptos"/>
              </a:defRPr>
            </a:pPr>
            <a:r>
              <a:t>SONUÇ VE ÇALIŞMANIN SINIRLILIKLARI</a:t>
            </a:r>
          </a:p>
        </p:txBody>
      </p:sp>
      <p:sp>
        <p:nvSpPr>
          <p:cNvPr id="4" name="TextBox 3">
            <a:extLst xmlns:a="http://schemas.openxmlformats.org/drawingml/2006/main">
              <a:ext uri="{FF2B5EF4-FFF2-40B4-BE49-F238E27FC236}">
                <a16:creationId xmlns:a16="http://schemas.microsoft.com/office/drawing/2014/main" id="{82EC1844-D4B1-4F61-99FC-BB4FC550F8D3}"/>
              </a:ext>
            </a:extLst>
          </p:cNvPr>
          <p:cNvSpPr>
            <a:spLocks xmlns:a="http://schemas.openxmlformats.org/drawingml/2006/main" noGrp="1"/>
          </p:cNvSpPr>
          <p:nvPr/>
        </p:nvSpPr>
        <p:spPr>
          <a:xfrm xmlns:a="http://schemas.openxmlformats.org/drawingml/2006/main">
            <a:off x="676656" y="987552"/>
            <a:ext cx="10881360" cy="34747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667584"/>
                </a:solidFill>
                <a:latin typeface="Aptos"/>
                <a:ea typeface="Aptos"/>
                <a:cs typeface="Aptos"/>
              </a:defRPr>
            </a:pPr>
            <a:r>
              <a:t>Nadir hastalıkta geniş bir ulusal kohorttan elde edilen gözlemsel veriler</a:t>
            </a:r>
          </a:p>
        </p:txBody>
      </p:sp>
      <p:sp>
        <p:nvSpPr>
          <p:cNvPr id="5" name="Rounded Rectangle 4">
            <a:extLst xmlns:a="http://schemas.openxmlformats.org/drawingml/2006/main">
              <a:ext uri="{FF2B5EF4-FFF2-40B4-BE49-F238E27FC236}">
                <a16:creationId xmlns:a16="http://schemas.microsoft.com/office/drawing/2014/main" id="{E3D6B215-966A-49F7-A3FF-A18DEE928262}"/>
              </a:ext>
            </a:extLst>
          </p:cNvPr>
          <p:cNvSpPr>
            <a:spLocks xmlns:a="http://schemas.openxmlformats.org/drawingml/2006/main" noGrp="1"/>
          </p:cNvSpPr>
          <p:nvPr/>
        </p:nvSpPr>
        <p:spPr>
          <a:xfrm xmlns:a="http://schemas.openxmlformats.org/drawingml/2006/main">
            <a:off x="658368" y="1600200"/>
            <a:ext cx="5285232" cy="4526280"/>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AF4A7654-3677-48B8-8D88-6617A1D2C0D5}"/>
              </a:ext>
            </a:extLst>
          </p:cNvPr>
          <p:cNvSpPr>
            <a:spLocks xmlns:a="http://schemas.openxmlformats.org/drawingml/2006/main" noGrp="1"/>
          </p:cNvSpPr>
          <p:nvPr/>
        </p:nvSpPr>
        <p:spPr>
          <a:xfrm xmlns:a="http://schemas.openxmlformats.org/drawingml/2006/main">
            <a:off x="914400" y="1847088"/>
            <a:ext cx="4754880"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009196"/>
                </a:solidFill>
                <a:latin typeface="Aptos"/>
                <a:ea typeface="Aptos"/>
                <a:cs typeface="Aptos"/>
              </a:defRPr>
            </a:pPr>
            <a:r>
              <a:t>SINIRLILIKLAR</a:t>
            </a:r>
          </a:p>
        </p:txBody>
      </p:sp>
      <p:sp>
        <p:nvSpPr>
          <p:cNvPr id="7" name="Rounded Rectangle 6">
            <a:extLst xmlns:a="http://schemas.openxmlformats.org/drawingml/2006/main">
              <a:ext uri="{FF2B5EF4-FFF2-40B4-BE49-F238E27FC236}">
                <a16:creationId xmlns:a16="http://schemas.microsoft.com/office/drawing/2014/main" id="{31ED0A51-0A16-4242-8423-0DFD0E7B7918}"/>
              </a:ext>
            </a:extLst>
          </p:cNvPr>
          <p:cNvSpPr>
            <a:spLocks xmlns:a="http://schemas.openxmlformats.org/drawingml/2006/main" noGrp="1"/>
          </p:cNvSpPr>
          <p:nvPr/>
        </p:nvSpPr>
        <p:spPr>
          <a:xfrm xmlns:a="http://schemas.openxmlformats.org/drawingml/2006/main">
            <a:off x="6236208" y="1600200"/>
            <a:ext cx="5285232" cy="4526280"/>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2D6B68F5-8C93-4FAC-9A13-8CBFBFA37826}"/>
              </a:ext>
            </a:extLst>
          </p:cNvPr>
          <p:cNvSpPr>
            <a:spLocks xmlns:a="http://schemas.openxmlformats.org/drawingml/2006/main" noGrp="1"/>
          </p:cNvSpPr>
          <p:nvPr/>
        </p:nvSpPr>
        <p:spPr>
          <a:xfrm xmlns:a="http://schemas.openxmlformats.org/drawingml/2006/main">
            <a:off x="6492240" y="1847088"/>
            <a:ext cx="4754880"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009196"/>
                </a:solidFill>
                <a:latin typeface="Aptos"/>
                <a:ea typeface="Aptos"/>
                <a:cs typeface="Aptos"/>
              </a:defRPr>
            </a:pPr>
            <a:r>
              <a:t>SONUÇ</a:t>
            </a:r>
          </a:p>
        </p:txBody>
      </p:sp>
      <p:sp>
        <p:nvSpPr>
          <p:cNvPr id="9" name="TextBox 8">
            <a:extLst xmlns:a="http://schemas.openxmlformats.org/drawingml/2006/main">
              <a:ext uri="{FF2B5EF4-FFF2-40B4-BE49-F238E27FC236}">
                <a16:creationId xmlns:a16="http://schemas.microsoft.com/office/drawing/2014/main" id="{9FB98632-2A38-4164-9EB7-6D56F74D5EBB}"/>
              </a:ext>
            </a:extLst>
          </p:cNvPr>
          <p:cNvSpPr>
            <a:spLocks xmlns:a="http://schemas.openxmlformats.org/drawingml/2006/main" noGrp="1"/>
          </p:cNvSpPr>
          <p:nvPr/>
        </p:nvSpPr>
        <p:spPr>
          <a:xfrm xmlns:a="http://schemas.openxmlformats.org/drawingml/2006/main">
            <a:off x="896112" y="2450592"/>
            <a:ext cx="4709160" cy="1828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500" b="0">
                <a:solidFill>
                  <a:srgbClr val="263445"/>
                </a:solidFill>
                <a:latin typeface="Aptos"/>
                <a:ea typeface="Aptos"/>
                <a:cs typeface="Aptos"/>
              </a:defRPr>
            </a:pPr>
            <a:r>
              <a:t>• Küçük örneklem (34 çocuk)</a:t>
            </a:r>
            <a:br/>
            <a:r>
              <a:t>• Retrospektif veri toplama</a:t>
            </a:r>
            <a:br/>
            <a:r>
              <a:t>• Olası yanlılıklar</a:t>
            </a:r>
            <a:br/>
            <a:r>
              <a:t>• Eksik veriler</a:t>
            </a:r>
          </a:p>
        </p:txBody>
      </p:sp>
      <p:sp>
        <p:nvSpPr>
          <p:cNvPr id="10" name="TextBox 9">
            <a:extLst xmlns:a="http://schemas.openxmlformats.org/drawingml/2006/main">
              <a:ext uri="{FF2B5EF4-FFF2-40B4-BE49-F238E27FC236}">
                <a16:creationId xmlns:a16="http://schemas.microsoft.com/office/drawing/2014/main" id="{B2F390B5-8F21-4C16-882B-78016C8FD4E8}"/>
              </a:ext>
            </a:extLst>
          </p:cNvPr>
          <p:cNvSpPr>
            <a:spLocks xmlns:a="http://schemas.openxmlformats.org/drawingml/2006/main" noGrp="1"/>
          </p:cNvSpPr>
          <p:nvPr/>
        </p:nvSpPr>
        <p:spPr>
          <a:xfrm xmlns:a="http://schemas.openxmlformats.org/drawingml/2006/main">
            <a:off x="896112" y="4645152"/>
            <a:ext cx="4709160" cy="9601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12263F"/>
                </a:solidFill>
                <a:latin typeface="Aptos"/>
                <a:ea typeface="Aptos"/>
                <a:cs typeface="Aptos"/>
              </a:defRPr>
            </a:pPr>
            <a:r>
              <a:t>PİL nadir olduğundan prospektif çalışma yürütmek güçtür; bu kohort hastalık için görece geniştir.</a:t>
            </a:r>
          </a:p>
        </p:txBody>
      </p:sp>
      <p:sp>
        <p:nvSpPr>
          <p:cNvPr id="11" name="TextBox 10">
            <a:extLst xmlns:a="http://schemas.openxmlformats.org/drawingml/2006/main">
              <a:ext uri="{FF2B5EF4-FFF2-40B4-BE49-F238E27FC236}">
                <a16:creationId xmlns:a16="http://schemas.microsoft.com/office/drawing/2014/main" id="{8E7749B1-2058-4CA5-872F-ABB27EF0E441}"/>
              </a:ext>
            </a:extLst>
          </p:cNvPr>
          <p:cNvSpPr>
            <a:spLocks xmlns:a="http://schemas.openxmlformats.org/drawingml/2006/main" noGrp="1"/>
          </p:cNvSpPr>
          <p:nvPr/>
        </p:nvSpPr>
        <p:spPr>
          <a:xfrm xmlns:a="http://schemas.openxmlformats.org/drawingml/2006/main">
            <a:off x="6473952" y="2450592"/>
            <a:ext cx="4709160" cy="1828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500" b="0">
                <a:solidFill>
                  <a:srgbClr val="263445"/>
                </a:solidFill>
                <a:latin typeface="Aptos"/>
                <a:ea typeface="Aptos"/>
                <a:cs typeface="Aptos"/>
              </a:defRPr>
            </a:pPr>
            <a:r>
              <a:t>Düşük LCT, MCT destekli ve proteini yüksek diyet çoğu çocukta etkili ilk basamak yaklaşımdır. Bazı çocuklarda albümin düşük kalsa bile belirti kontrolü ve normal büyüme sürdürülebilir.</a:t>
            </a:r>
          </a:p>
        </p:txBody>
      </p:sp>
      <p:sp>
        <p:nvSpPr>
          <p:cNvPr id="12" name="TextBox 11">
            <a:extLst xmlns:a="http://schemas.openxmlformats.org/drawingml/2006/main">
              <a:ext uri="{FF2B5EF4-FFF2-40B4-BE49-F238E27FC236}">
                <a16:creationId xmlns:a16="http://schemas.microsoft.com/office/drawing/2014/main" id="{E457550D-A60F-4CEF-9735-3D23263BAD66}"/>
              </a:ext>
            </a:extLst>
          </p:cNvPr>
          <p:cNvSpPr>
            <a:spLocks xmlns:a="http://schemas.openxmlformats.org/drawingml/2006/main" noGrp="1"/>
          </p:cNvSpPr>
          <p:nvPr/>
        </p:nvSpPr>
        <p:spPr>
          <a:xfrm xmlns:a="http://schemas.openxmlformats.org/drawingml/2006/main">
            <a:off x="6473952" y="4645152"/>
            <a:ext cx="4709160" cy="98755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1">
                <a:solidFill>
                  <a:srgbClr val="12263F"/>
                </a:solidFill>
                <a:latin typeface="Aptos"/>
                <a:ea typeface="Aptos"/>
                <a:cs typeface="Aptos"/>
              </a:defRPr>
            </a:pPr>
            <a:r>
              <a:t>Diyetin süresi, normal diyete geçişin güvenliği ve ikinci basamak tedavilerin yeri için daha fazla çalışma gereklidir.</a:t>
            </a:r>
          </a:p>
        </p:txBody>
      </p:sp>
      <p:sp xmlns:a="http://schemas.openxmlformats.org/drawingml/2006/main">
        <p:nvSpPr>
          <p:cNvPr id="13" name="Inceleme notu"/>
          <p:cNvSpPr txBox="1"/>
          <p:nvPr/>
        </p:nvSpPr>
        <p:spPr>
          <a:xfrm>
            <a:off x="150000" y="6491816"/>
            <a:ext cx="11891695" cy="341184"/>
          </a:xfrm>
          <a:prstGeom prst="rect">
            <a:avLst/>
          </a:prstGeom>
          <a:solidFill>
            <a:srgbClr val="FFF4CC"/>
          </a:solidFill>
          <a:ln w="9525">
            <a:solidFill>
              <a:srgbClr val="C99A00"/>
            </a:solidFill>
          </a:ln>
        </p:spPr>
        <p:txBody>
          <a:bodyPr wrap="square" anchor="ctr" tIns="27432" bIns="27432">
            <a:spAutoFit/>
          </a:bodyPr>
          <a:lstStyle/>
          <a:p>
            <a:r>
              <a:rPr b="1" sz="900">
                <a:solidFill>
                  <a:srgbClr val="A61B1B"/>
                </a:solidFill>
              </a:rPr>
              <a:t>İnceleme notu: </a:t>
            </a:r>
            <a:r>
              <a:rPr sz="900">
                <a:solidFill>
                  <a:srgbClr val="1F1F1F"/>
                </a:solidFill>
              </a:rPr>
              <a:t>Yazarların saymadığı kısıtlılıklar: tanı–sonlanım döngüselliği (4 hasta), albümin infüzyonu hekim takdirine bağlı, kontrol grubu yok, gruplar arası izlem süresi farkı, çoklu karşılaştırma düzeltmesi yok, küçük hücrelerde ki-kare.</a:t>
            </a:r>
          </a:p>
        </p:txBody>
      </p:sp>
    </p:spTree>
    <p:extLst>
      <p:ext uri="{BB962C8B-B14F-4D97-AF65-F5344CB8AC3E}">
        <p14:creationId xmlns:p14="http://schemas.microsoft.com/office/powerpoint/2010/main" val="155704579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831AD9F-3C32-4679-8873-7896FD5B0BE0}"/>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00919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6275E701-942C-4B53-BC46-9C742A654E6E}"/>
              </a:ext>
            </a:extLst>
          </p:cNvPr>
          <p:cNvSpPr>
            <a:spLocks xmlns:a="http://schemas.openxmlformats.org/drawingml/2006/main" noGrp="1"/>
          </p:cNvSpPr>
          <p:nvPr/>
        </p:nvSpPr>
        <p:spPr>
          <a:xfrm xmlns:a="http://schemas.openxmlformats.org/drawingml/2006/main">
            <a:off x="658368" y="438912"/>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600" b="1">
                <a:solidFill>
                  <a:srgbClr val="12263F"/>
                </a:solidFill>
                <a:latin typeface="Aptos"/>
                <a:ea typeface="Aptos"/>
                <a:cs typeface="Aptos"/>
              </a:defRPr>
            </a:pPr>
            <a:r>
              <a:t>ANA SONUÇLAR</a:t>
            </a:r>
          </a:p>
        </p:txBody>
      </p:sp>
      <p:sp>
        <p:nvSpPr>
          <p:cNvPr id="4" name="TextBox 3">
            <a:extLst xmlns:a="http://schemas.openxmlformats.org/drawingml/2006/main">
              <a:ext uri="{FF2B5EF4-FFF2-40B4-BE49-F238E27FC236}">
                <a16:creationId xmlns:a16="http://schemas.microsoft.com/office/drawing/2014/main" id="{BF20D492-C265-488E-857D-E22BC0D76435}"/>
              </a:ext>
            </a:extLst>
          </p:cNvPr>
          <p:cNvSpPr>
            <a:spLocks xmlns:a="http://schemas.openxmlformats.org/drawingml/2006/main" noGrp="1"/>
          </p:cNvSpPr>
          <p:nvPr/>
        </p:nvSpPr>
        <p:spPr>
          <a:xfrm xmlns:a="http://schemas.openxmlformats.org/drawingml/2006/main">
            <a:off x="676656" y="1033271"/>
            <a:ext cx="10881360" cy="32004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0">
                <a:solidFill>
                  <a:srgbClr val="667584"/>
                </a:solidFill>
                <a:latin typeface="Aptos"/>
                <a:ea typeface="Aptos"/>
                <a:cs typeface="Aptos"/>
              </a:defRPr>
            </a:pPr>
            <a:r>
              <a:t>Fransa ulusal çocuk PİL kohortu • yayımlanmış en büyük seri</a:t>
            </a:r>
          </a:p>
        </p:txBody>
      </p:sp>
      <p:sp>
        <p:nvSpPr>
          <p:cNvPr id="5" name="Rounded Rectangle 4">
            <a:extLst xmlns:a="http://schemas.openxmlformats.org/drawingml/2006/main">
              <a:ext uri="{FF2B5EF4-FFF2-40B4-BE49-F238E27FC236}">
                <a16:creationId xmlns:a16="http://schemas.microsoft.com/office/drawing/2014/main" id="{B8826416-A9FC-4E59-9DF2-20E9D5D8E577}"/>
              </a:ext>
            </a:extLst>
          </p:cNvPr>
          <p:cNvSpPr>
            <a:spLocks xmlns:a="http://schemas.openxmlformats.org/drawingml/2006/main" noGrp="1"/>
          </p:cNvSpPr>
          <p:nvPr/>
        </p:nvSpPr>
        <p:spPr>
          <a:xfrm xmlns:a="http://schemas.openxmlformats.org/drawingml/2006/main">
            <a:off x="749808" y="1691640"/>
            <a:ext cx="10680192" cy="3977639"/>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9D3AD63A-82AC-49A8-AD33-C4EABFDE8455}"/>
              </a:ext>
            </a:extLst>
          </p:cNvPr>
          <p:cNvSpPr>
            <a:spLocks xmlns:a="http://schemas.openxmlformats.org/drawingml/2006/main" noGrp="1"/>
          </p:cNvSpPr>
          <p:nvPr/>
        </p:nvSpPr>
        <p:spPr>
          <a:xfrm xmlns:a="http://schemas.openxmlformats.org/drawingml/2006/main">
            <a:off x="1051560" y="1993392"/>
            <a:ext cx="594360" cy="38404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600" b="1">
                <a:solidFill>
                  <a:srgbClr val="009196"/>
                </a:solidFill>
                <a:latin typeface="Aptos"/>
                <a:ea typeface="Aptos"/>
                <a:cs typeface="Aptos"/>
              </a:defRPr>
            </a:pPr>
            <a:r>
              <a:t>01</a:t>
            </a:r>
          </a:p>
        </p:txBody>
      </p:sp>
      <p:sp>
        <p:nvSpPr>
          <p:cNvPr id="7" name="TextBox 6">
            <a:extLst xmlns:a="http://schemas.openxmlformats.org/drawingml/2006/main">
              <a:ext uri="{FF2B5EF4-FFF2-40B4-BE49-F238E27FC236}">
                <a16:creationId xmlns:a16="http://schemas.microsoft.com/office/drawing/2014/main" id="{CACD8DE3-A6E6-4392-81A5-08D723F11073}"/>
              </a:ext>
            </a:extLst>
          </p:cNvPr>
          <p:cNvSpPr>
            <a:spLocks xmlns:a="http://schemas.openxmlformats.org/drawingml/2006/main" noGrp="1"/>
          </p:cNvSpPr>
          <p:nvPr/>
        </p:nvSpPr>
        <p:spPr>
          <a:xfrm xmlns:a="http://schemas.openxmlformats.org/drawingml/2006/main">
            <a:off x="1783080" y="1993392"/>
            <a:ext cx="9098280" cy="61264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500" b="1">
                <a:solidFill>
                  <a:srgbClr val="263445"/>
                </a:solidFill>
                <a:latin typeface="Aptos"/>
                <a:ea typeface="Aptos"/>
                <a:cs typeface="Aptos"/>
              </a:defRPr>
            </a:pPr>
            <a:r>
              <a:t>Çocukların %81’i diyet tedavisine iyi yanıt verdi.</a:t>
            </a:r>
          </a:p>
        </p:txBody>
      </p:sp>
      <p:sp>
        <p:nvSpPr>
          <p:cNvPr id="8" name="TextBox 7">
            <a:extLst xmlns:a="http://schemas.openxmlformats.org/drawingml/2006/main">
              <a:ext uri="{FF2B5EF4-FFF2-40B4-BE49-F238E27FC236}">
                <a16:creationId xmlns:a16="http://schemas.microsoft.com/office/drawing/2014/main" id="{AF821E72-B055-421E-9F12-78D679AFF4BE}"/>
              </a:ext>
            </a:extLst>
          </p:cNvPr>
          <p:cNvSpPr>
            <a:spLocks xmlns:a="http://schemas.openxmlformats.org/drawingml/2006/main" noGrp="1"/>
          </p:cNvSpPr>
          <p:nvPr/>
        </p:nvSpPr>
        <p:spPr>
          <a:xfrm xmlns:a="http://schemas.openxmlformats.org/drawingml/2006/main">
            <a:off x="1051560" y="2651760"/>
            <a:ext cx="594360" cy="38404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600" b="1">
                <a:solidFill>
                  <a:srgbClr val="009196"/>
                </a:solidFill>
                <a:latin typeface="Aptos"/>
                <a:ea typeface="Aptos"/>
                <a:cs typeface="Aptos"/>
              </a:defRPr>
            </a:pPr>
            <a:r>
              <a:t>02</a:t>
            </a:r>
          </a:p>
        </p:txBody>
      </p:sp>
      <p:sp>
        <p:nvSpPr>
          <p:cNvPr id="9" name="TextBox 8">
            <a:extLst xmlns:a="http://schemas.openxmlformats.org/drawingml/2006/main">
              <a:ext uri="{FF2B5EF4-FFF2-40B4-BE49-F238E27FC236}">
                <a16:creationId xmlns:a16="http://schemas.microsoft.com/office/drawing/2014/main" id="{39FD781C-C416-4B8D-BC42-B67DC24FB760}"/>
              </a:ext>
            </a:extLst>
          </p:cNvPr>
          <p:cNvSpPr>
            <a:spLocks xmlns:a="http://schemas.openxmlformats.org/drawingml/2006/main" noGrp="1"/>
          </p:cNvSpPr>
          <p:nvPr/>
        </p:nvSpPr>
        <p:spPr>
          <a:xfrm xmlns:a="http://schemas.openxmlformats.org/drawingml/2006/main">
            <a:off x="1783080" y="2651760"/>
            <a:ext cx="9098280" cy="61264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500" b="1">
                <a:solidFill>
                  <a:srgbClr val="263445"/>
                </a:solidFill>
                <a:latin typeface="Aptos"/>
                <a:ea typeface="Aptos"/>
                <a:cs typeface="Aptos"/>
              </a:defRPr>
            </a:pPr>
            <a:r>
              <a:t>Diyetle tam yanıt verenler (%29), daha iyi prognozlu farklı bir hastalık seyri gösterebilir.</a:t>
            </a:r>
          </a:p>
        </p:txBody>
      </p:sp>
      <p:sp>
        <p:nvSpPr>
          <p:cNvPr id="10" name="TextBox 9">
            <a:extLst xmlns:a="http://schemas.openxmlformats.org/drawingml/2006/main">
              <a:ext uri="{FF2B5EF4-FFF2-40B4-BE49-F238E27FC236}">
                <a16:creationId xmlns:a16="http://schemas.microsoft.com/office/drawing/2014/main" id="{09B42686-A86E-45E9-9444-FF7DEC4ACFA5}"/>
              </a:ext>
            </a:extLst>
          </p:cNvPr>
          <p:cNvSpPr>
            <a:spLocks xmlns:a="http://schemas.openxmlformats.org/drawingml/2006/main" noGrp="1"/>
          </p:cNvSpPr>
          <p:nvPr/>
        </p:nvSpPr>
        <p:spPr>
          <a:xfrm xmlns:a="http://schemas.openxmlformats.org/drawingml/2006/main">
            <a:off x="1051560" y="3310128"/>
            <a:ext cx="594360" cy="38404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600" b="1">
                <a:solidFill>
                  <a:srgbClr val="009196"/>
                </a:solidFill>
                <a:latin typeface="Aptos"/>
                <a:ea typeface="Aptos"/>
                <a:cs typeface="Aptos"/>
              </a:defRPr>
            </a:pPr>
            <a:r>
              <a:t>03</a:t>
            </a:r>
          </a:p>
        </p:txBody>
      </p:sp>
      <p:sp>
        <p:nvSpPr>
          <p:cNvPr id="11" name="TextBox 10">
            <a:extLst xmlns:a="http://schemas.openxmlformats.org/drawingml/2006/main">
              <a:ext uri="{FF2B5EF4-FFF2-40B4-BE49-F238E27FC236}">
                <a16:creationId xmlns:a16="http://schemas.microsoft.com/office/drawing/2014/main" id="{D76EB067-783C-4A82-B0F5-41C5DDBB5C18}"/>
              </a:ext>
            </a:extLst>
          </p:cNvPr>
          <p:cNvSpPr>
            <a:spLocks xmlns:a="http://schemas.openxmlformats.org/drawingml/2006/main" noGrp="1"/>
          </p:cNvSpPr>
          <p:nvPr/>
        </p:nvSpPr>
        <p:spPr>
          <a:xfrm xmlns:a="http://schemas.openxmlformats.org/drawingml/2006/main">
            <a:off x="1783080" y="3310128"/>
            <a:ext cx="9098280" cy="61264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500" b="1">
                <a:solidFill>
                  <a:srgbClr val="263445"/>
                </a:solidFill>
                <a:latin typeface="Aptos"/>
                <a:ea typeface="Aptos"/>
                <a:cs typeface="Aptos"/>
              </a:defRPr>
            </a:pPr>
            <a:r>
              <a:t>Lenfödem ve/veya tanımlanmış genetik varyant kronik seyir ve kalıcı hipoalbüminemiyle ilişkiliydi.</a:t>
            </a:r>
          </a:p>
        </p:txBody>
      </p:sp>
      <p:sp>
        <p:nvSpPr>
          <p:cNvPr id="12" name="TextBox 11">
            <a:extLst xmlns:a="http://schemas.openxmlformats.org/drawingml/2006/main">
              <a:ext uri="{FF2B5EF4-FFF2-40B4-BE49-F238E27FC236}">
                <a16:creationId xmlns:a16="http://schemas.microsoft.com/office/drawing/2014/main" id="{5B0D8E7C-FBD7-414B-AEE3-33EF9960D0A6}"/>
              </a:ext>
            </a:extLst>
          </p:cNvPr>
          <p:cNvSpPr>
            <a:spLocks xmlns:a="http://schemas.openxmlformats.org/drawingml/2006/main" noGrp="1"/>
          </p:cNvSpPr>
          <p:nvPr/>
        </p:nvSpPr>
        <p:spPr>
          <a:xfrm xmlns:a="http://schemas.openxmlformats.org/drawingml/2006/main">
            <a:off x="1051560" y="3968496"/>
            <a:ext cx="594360" cy="38404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600" b="1">
                <a:solidFill>
                  <a:srgbClr val="009196"/>
                </a:solidFill>
                <a:latin typeface="Aptos"/>
                <a:ea typeface="Aptos"/>
                <a:cs typeface="Aptos"/>
              </a:defRPr>
            </a:pPr>
            <a:r>
              <a:t>04</a:t>
            </a:r>
          </a:p>
        </p:txBody>
      </p:sp>
      <p:sp>
        <p:nvSpPr>
          <p:cNvPr id="13" name="TextBox 12">
            <a:extLst xmlns:a="http://schemas.openxmlformats.org/drawingml/2006/main">
              <a:ext uri="{FF2B5EF4-FFF2-40B4-BE49-F238E27FC236}">
                <a16:creationId xmlns:a16="http://schemas.microsoft.com/office/drawing/2014/main" id="{BA3383CC-36F5-47AE-9351-2A4F9DC3154B}"/>
              </a:ext>
            </a:extLst>
          </p:cNvPr>
          <p:cNvSpPr>
            <a:spLocks xmlns:a="http://schemas.openxmlformats.org/drawingml/2006/main" noGrp="1"/>
          </p:cNvSpPr>
          <p:nvPr/>
        </p:nvSpPr>
        <p:spPr>
          <a:xfrm xmlns:a="http://schemas.openxmlformats.org/drawingml/2006/main">
            <a:off x="1783080" y="3968496"/>
            <a:ext cx="9098280" cy="61264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500" b="1">
                <a:solidFill>
                  <a:srgbClr val="263445"/>
                </a:solidFill>
                <a:latin typeface="Aptos"/>
                <a:ea typeface="Aptos"/>
                <a:cs typeface="Aptos"/>
              </a:defRPr>
            </a:pPr>
            <a:r>
              <a:t>Genetik incelemenin genişletilmesi PİL’nin patofizyolojisi ve tedavi seçenekleri hakkında yeni bilgiler sağlayabilir.</a:t>
            </a:r>
          </a:p>
        </p:txBody>
      </p:sp>
      <p:sp>
        <p:nvSpPr>
          <p:cNvPr id="14" name="TextBox 13">
            <a:extLst xmlns:a="http://schemas.openxmlformats.org/drawingml/2006/main">
              <a:ext uri="{FF2B5EF4-FFF2-40B4-BE49-F238E27FC236}">
                <a16:creationId xmlns:a16="http://schemas.microsoft.com/office/drawing/2014/main" id="{779CB75B-45A8-4504-8C97-CDB613F74114}"/>
              </a:ext>
            </a:extLst>
          </p:cNvPr>
          <p:cNvSpPr>
            <a:spLocks xmlns:a="http://schemas.openxmlformats.org/drawingml/2006/main" noGrp="1"/>
          </p:cNvSpPr>
          <p:nvPr/>
        </p:nvSpPr>
        <p:spPr>
          <a:xfrm xmlns:a="http://schemas.openxmlformats.org/drawingml/2006/main">
            <a:off x="1051560" y="4626864"/>
            <a:ext cx="594360" cy="38404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600" b="1">
                <a:solidFill>
                  <a:srgbClr val="009196"/>
                </a:solidFill>
                <a:latin typeface="Aptos"/>
                <a:ea typeface="Aptos"/>
                <a:cs typeface="Aptos"/>
              </a:defRPr>
            </a:pPr>
            <a:r>
              <a:t>05</a:t>
            </a:r>
          </a:p>
        </p:txBody>
      </p:sp>
      <p:sp>
        <p:nvSpPr>
          <p:cNvPr id="15" name="TextBox 14">
            <a:extLst xmlns:a="http://schemas.openxmlformats.org/drawingml/2006/main">
              <a:ext uri="{FF2B5EF4-FFF2-40B4-BE49-F238E27FC236}">
                <a16:creationId xmlns:a16="http://schemas.microsoft.com/office/drawing/2014/main" id="{1557C49F-C716-474A-AF82-BA0B6C230C86}"/>
              </a:ext>
            </a:extLst>
          </p:cNvPr>
          <p:cNvSpPr>
            <a:spLocks xmlns:a="http://schemas.openxmlformats.org/drawingml/2006/main" noGrp="1"/>
          </p:cNvSpPr>
          <p:nvPr/>
        </p:nvSpPr>
        <p:spPr>
          <a:xfrm xmlns:a="http://schemas.openxmlformats.org/drawingml/2006/main">
            <a:off x="1783080" y="4626864"/>
            <a:ext cx="9098280" cy="61264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500" b="1">
                <a:solidFill>
                  <a:srgbClr val="263445"/>
                </a:solidFill>
                <a:latin typeface="Aptos"/>
                <a:ea typeface="Aptos"/>
                <a:cs typeface="Aptos"/>
              </a:defRPr>
            </a:pPr>
            <a:r>
              <a:t>Klinik belirti yoksa, albümin normalin altında kalsa bile normal diyete geçiş başarılı olabilir; yakın izlem gerekir.</a:t>
            </a:r>
          </a:p>
        </p:txBody>
      </p:sp>
      <p:sp>
        <p:nvSpPr>
          <p:cNvPr id="16" name="Rounded Rectangle 15">
            <a:extLst xmlns:a="http://schemas.openxmlformats.org/drawingml/2006/main">
              <a:ext uri="{FF2B5EF4-FFF2-40B4-BE49-F238E27FC236}">
                <a16:creationId xmlns:a16="http://schemas.microsoft.com/office/drawing/2014/main" id="{7F56AFB1-9FB0-439A-B7C0-7370DCDF6995}"/>
              </a:ext>
            </a:extLst>
          </p:cNvPr>
          <p:cNvSpPr>
            <a:spLocks xmlns:a="http://schemas.openxmlformats.org/drawingml/2006/main" noGrp="1"/>
          </p:cNvSpPr>
          <p:nvPr/>
        </p:nvSpPr>
        <p:spPr>
          <a:xfrm xmlns:a="http://schemas.openxmlformats.org/drawingml/2006/main">
            <a:off x="2926080" y="5925312"/>
            <a:ext cx="6355080" cy="512064"/>
          </a:xfrm>
          <a:prstGeom xmlns:a="http://schemas.openxmlformats.org/drawingml/2006/main" prst="roundRect">
            <a:avLst/>
          </a:prstGeom>
          <a:solidFill xmlns:a="http://schemas.openxmlformats.org/drawingml/2006/main">
            <a:srgbClr val="12263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C4F66A88-9044-455E-8CED-F3F6CF9D58DC}"/>
              </a:ext>
            </a:extLst>
          </p:cNvPr>
          <p:cNvSpPr>
            <a:spLocks xmlns:a="http://schemas.openxmlformats.org/drawingml/2006/main" noGrp="1"/>
          </p:cNvSpPr>
          <p:nvPr/>
        </p:nvSpPr>
        <p:spPr>
          <a:xfrm xmlns:a="http://schemas.openxmlformats.org/drawingml/2006/main">
            <a:off x="3127248" y="6025896"/>
            <a:ext cx="5943600" cy="25603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1">
                <a:solidFill>
                  <a:srgbClr val="FFFFFF"/>
                </a:solidFill>
                <a:latin typeface="Aptos"/>
                <a:ea typeface="Aptos"/>
                <a:cs typeface="Aptos"/>
              </a:defRPr>
            </a:pPr>
            <a:r>
              <a:t>Çıkar çatışması: Yazarlar çıkar çatışması bildirmemiştir.</a:t>
            </a:r>
          </a:p>
        </p:txBody>
      </p:sp>
      <p:sp xmlns:a="http://schemas.openxmlformats.org/drawingml/2006/main">
        <p:nvSpPr>
          <p:cNvPr id="18" name="Inceleme notu"/>
          <p:cNvSpPr txBox="1"/>
          <p:nvPr/>
        </p:nvSpPr>
        <p:spPr>
          <a:xfrm>
            <a:off x="150000" y="6628976"/>
            <a:ext cx="11891695" cy="204024"/>
          </a:xfrm>
          <a:prstGeom prst="rect">
            <a:avLst/>
          </a:prstGeom>
          <a:solidFill>
            <a:srgbClr val="FFF4CC"/>
          </a:solidFill>
          <a:ln w="9525">
            <a:solidFill>
              <a:srgbClr val="C99A00"/>
            </a:solidFill>
          </a:ln>
        </p:spPr>
        <p:txBody>
          <a:bodyPr wrap="square" anchor="ctr" tIns="27432" bIns="27432">
            <a:spAutoFit/>
          </a:bodyPr>
          <a:lstStyle/>
          <a:p>
            <a:r>
              <a:rPr b="1" sz="900">
                <a:solidFill>
                  <a:srgbClr val="A61B1B"/>
                </a:solidFill>
              </a:rPr>
              <a:t>İnceleme notu: </a:t>
            </a:r>
            <a:r>
              <a:rPr sz="900">
                <a:solidFill>
                  <a:srgbClr val="1F1F1F"/>
                </a:solidFill>
              </a:rPr>
              <a:t>Madde 03 istatistiksel olarak desteklenmiyor (Fisher p=0,051 / 0,061). “Yayımlanmış en büyük seri” yazarların iddiası: “yazarların bilgisine göre” eklenmeli.</a:t>
            </a:r>
          </a:p>
        </p:txBody>
      </p:sp>
    </p:spTree>
    <p:extLst>
      <p:ext uri="{BB962C8B-B14F-4D97-AF65-F5344CB8AC3E}">
        <p14:creationId xmlns:p14="http://schemas.microsoft.com/office/powerpoint/2010/main" val="176620348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917A137-800D-4F10-AFF3-1E5D6B31F583}"/>
              </a:ext>
            </a:extLst>
          </p:cNvPr>
          <p:cNvSpPr>
            <a:spLocks xmlns:a="http://schemas.openxmlformats.org/drawingml/2006/main" noGrp="1"/>
          </p:cNvSpPr>
          <p:nvPr/>
        </p:nvSpPr>
        <p:spPr>
          <a:xfrm xmlns:a="http://schemas.openxmlformats.org/drawingml/2006/main">
            <a:off x="0" y="0"/>
            <a:ext cx="12191695" cy="128016"/>
          </a:xfrm>
          <a:prstGeom xmlns:a="http://schemas.openxmlformats.org/drawingml/2006/main" prst="rect">
            <a:avLst/>
          </a:prstGeom>
          <a:solidFill xmlns:a="http://schemas.openxmlformats.org/drawingml/2006/main">
            <a:srgbClr val="00919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AC37E389-B223-45B4-BE23-9F6BC0E12F8B}"/>
              </a:ext>
            </a:extLst>
          </p:cNvPr>
          <p:cNvSpPr>
            <a:spLocks xmlns:a="http://schemas.openxmlformats.org/drawingml/2006/main" noGrp="1"/>
          </p:cNvSpPr>
          <p:nvPr/>
        </p:nvSpPr>
        <p:spPr>
          <a:xfrm xmlns:a="http://schemas.openxmlformats.org/drawingml/2006/main">
            <a:off x="658368" y="438912"/>
            <a:ext cx="1097280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600" b="1">
                <a:solidFill>
                  <a:srgbClr val="12263F"/>
                </a:solidFill>
                <a:latin typeface="Aptos"/>
                <a:ea typeface="Aptos"/>
                <a:cs typeface="Aptos"/>
              </a:defRPr>
            </a:pPr>
            <a:r>
              <a:t>KAYNAK</a:t>
            </a:r>
          </a:p>
        </p:txBody>
      </p:sp>
      <p:sp>
        <p:nvSpPr>
          <p:cNvPr id="4" name="TextBox 3">
            <a:extLst xmlns:a="http://schemas.openxmlformats.org/drawingml/2006/main">
              <a:ext uri="{FF2B5EF4-FFF2-40B4-BE49-F238E27FC236}">
                <a16:creationId xmlns:a16="http://schemas.microsoft.com/office/drawing/2014/main" id="{6D96CA90-C564-44CB-A655-AAD7E67F2378}"/>
              </a:ext>
            </a:extLst>
          </p:cNvPr>
          <p:cNvSpPr>
            <a:spLocks xmlns:a="http://schemas.openxmlformats.org/drawingml/2006/main" noGrp="1"/>
          </p:cNvSpPr>
          <p:nvPr/>
        </p:nvSpPr>
        <p:spPr>
          <a:xfrm xmlns:a="http://schemas.openxmlformats.org/drawingml/2006/main">
            <a:off x="676656" y="1033271"/>
            <a:ext cx="10881360" cy="32004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300" b="0">
                <a:solidFill>
                  <a:srgbClr val="667584"/>
                </a:solidFill>
                <a:latin typeface="Aptos"/>
                <a:ea typeface="Aptos"/>
                <a:cs typeface="Aptos"/>
              </a:defRPr>
            </a:pPr>
            <a:r>
              <a:t>Sunumdaki çalışma ve görseller</a:t>
            </a:r>
          </a:p>
        </p:txBody>
      </p:sp>
      <p:sp>
        <p:nvSpPr>
          <p:cNvPr id="5" name="Rounded Rectangle 4">
            <a:extLst xmlns:a="http://schemas.openxmlformats.org/drawingml/2006/main">
              <a:ext uri="{FF2B5EF4-FFF2-40B4-BE49-F238E27FC236}">
                <a16:creationId xmlns:a16="http://schemas.microsoft.com/office/drawing/2014/main" id="{EAB29395-17F8-420E-A875-03FC3C2AD297}"/>
              </a:ext>
            </a:extLst>
          </p:cNvPr>
          <p:cNvSpPr>
            <a:spLocks xmlns:a="http://schemas.openxmlformats.org/drawingml/2006/main" noGrp="1"/>
          </p:cNvSpPr>
          <p:nvPr/>
        </p:nvSpPr>
        <p:spPr>
          <a:xfrm xmlns:a="http://schemas.openxmlformats.org/drawingml/2006/main">
            <a:off x="777240" y="1737360"/>
            <a:ext cx="10652760" cy="2971800"/>
          </a:xfrm>
          <a:prstGeom xmlns:a="http://schemas.openxmlformats.org/drawingml/2006/main" prst="roundRect">
            <a:avLst/>
          </a:prstGeom>
          <a:solidFill xmlns:a="http://schemas.openxmlformats.org/drawingml/2006/main">
            <a:srgbClr val="F2F8F8"/>
          </a:solidFill>
          <a:ln xmlns:a="http://schemas.openxmlformats.org/drawingml/2006/main">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E799DDEE-63D4-4212-B80D-13C5C1D1081D}"/>
              </a:ext>
            </a:extLst>
          </p:cNvPr>
          <p:cNvSpPr>
            <a:spLocks xmlns:a="http://schemas.openxmlformats.org/drawingml/2006/main" noGrp="1"/>
          </p:cNvSpPr>
          <p:nvPr/>
        </p:nvSpPr>
        <p:spPr>
          <a:xfrm xmlns:a="http://schemas.openxmlformats.org/drawingml/2006/main">
            <a:off x="1097280" y="2084831"/>
            <a:ext cx="9966960" cy="86868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2000" b="1">
                <a:solidFill>
                  <a:srgbClr val="12263F"/>
                </a:solidFill>
                <a:latin typeface="Aptos"/>
                <a:ea typeface="Aptos"/>
                <a:cs typeface="Aptos"/>
              </a:defRPr>
            </a:pPr>
            <a:r>
              <a:t>Clinical presentation, treatment, and outcome of children with primary intestinal lymphangiectasia: A national retrospective study</a:t>
            </a:r>
          </a:p>
        </p:txBody>
      </p:sp>
      <p:sp>
        <p:nvSpPr>
          <p:cNvPr id="7" name="TextBox 6">
            <a:extLst xmlns:a="http://schemas.openxmlformats.org/drawingml/2006/main">
              <a:ext uri="{FF2B5EF4-FFF2-40B4-BE49-F238E27FC236}">
                <a16:creationId xmlns:a16="http://schemas.microsoft.com/office/drawing/2014/main" id="{AB08B19B-2C76-4C5F-93CF-2E0D49F2C03D}"/>
              </a:ext>
            </a:extLst>
          </p:cNvPr>
          <p:cNvSpPr>
            <a:spLocks xmlns:a="http://schemas.openxmlformats.org/drawingml/2006/main" noGrp="1"/>
          </p:cNvSpPr>
          <p:nvPr/>
        </p:nvSpPr>
        <p:spPr>
          <a:xfrm xmlns:a="http://schemas.openxmlformats.org/drawingml/2006/main">
            <a:off x="1097280" y="3218688"/>
            <a:ext cx="9966960"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009196"/>
                </a:solidFill>
                <a:latin typeface="Aptos"/>
                <a:ea typeface="Aptos"/>
                <a:cs typeface="Aptos"/>
              </a:defRPr>
            </a:pPr>
            <a:r>
              <a:t>Gastroenterology (JPGN) • Özgün araştırma makalesi</a:t>
            </a:r>
          </a:p>
        </p:txBody>
      </p:sp>
      <p:sp>
        <p:nvSpPr>
          <p:cNvPr id="8" name="TextBox 7">
            <a:extLst xmlns:a="http://schemas.openxmlformats.org/drawingml/2006/main">
              <a:ext uri="{FF2B5EF4-FFF2-40B4-BE49-F238E27FC236}">
                <a16:creationId xmlns:a16="http://schemas.microsoft.com/office/drawing/2014/main" id="{E7D52476-CB1A-4777-9B08-F4F6CB268421}"/>
              </a:ext>
            </a:extLst>
          </p:cNvPr>
          <p:cNvSpPr>
            <a:spLocks xmlns:a="http://schemas.openxmlformats.org/drawingml/2006/main" noGrp="1"/>
          </p:cNvSpPr>
          <p:nvPr/>
        </p:nvSpPr>
        <p:spPr>
          <a:xfrm xmlns:a="http://schemas.openxmlformats.org/drawingml/2006/main">
            <a:off x="1097280" y="3840480"/>
            <a:ext cx="9966960"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400" b="1">
                <a:solidFill>
                  <a:srgbClr val="263445"/>
                </a:solidFill>
                <a:latin typeface="Aptos"/>
                <a:ea typeface="Aptos"/>
                <a:cs typeface="Aptos"/>
              </a:defRPr>
            </a:pPr>
            <a:r>
              <a:t>DOI: 10.1002/jpn3.70266</a:t>
            </a:r>
          </a:p>
        </p:txBody>
      </p:sp>
      <p:sp>
        <p:nvSpPr>
          <p:cNvPr id="9" name="TextBox 8">
            <a:extLst xmlns:a="http://schemas.openxmlformats.org/drawingml/2006/main">
              <a:ext uri="{FF2B5EF4-FFF2-40B4-BE49-F238E27FC236}">
                <a16:creationId xmlns:a16="http://schemas.microsoft.com/office/drawing/2014/main" id="{95F80D8A-75D7-42F0-A961-EE80FE648A38}"/>
              </a:ext>
            </a:extLst>
          </p:cNvPr>
          <p:cNvSpPr>
            <a:spLocks xmlns:a="http://schemas.openxmlformats.org/drawingml/2006/main" noGrp="1"/>
          </p:cNvSpPr>
          <p:nvPr/>
        </p:nvSpPr>
        <p:spPr>
          <a:xfrm xmlns:a="http://schemas.openxmlformats.org/drawingml/2006/main">
            <a:off x="1097280" y="5230368"/>
            <a:ext cx="9966960" cy="56692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buNone/>
              <a:defRPr sz="1200" b="0">
                <a:solidFill>
                  <a:srgbClr val="667584"/>
                </a:solidFill>
                <a:latin typeface="Aptos"/>
                <a:ea typeface="Aptos"/>
                <a:cs typeface="Aptos"/>
              </a:defRPr>
            </a:pPr>
            <a:r>
              <a:t>Kapak ve şekil görselleri, kullanıcı tarafından sağlanan makale ekran görüntülerinden alınmıştır.</a:t>
            </a:r>
          </a:p>
        </p:txBody>
      </p:sp>
      <p:sp xmlns:a="http://schemas.openxmlformats.org/drawingml/2006/main">
        <p:nvSpPr>
          <p:cNvPr id="10" name="Inceleme notu"/>
          <p:cNvSpPr txBox="1"/>
          <p:nvPr/>
        </p:nvSpPr>
        <p:spPr>
          <a:xfrm>
            <a:off x="150000" y="6491816"/>
            <a:ext cx="11891695" cy="341184"/>
          </a:xfrm>
          <a:prstGeom prst="rect">
            <a:avLst/>
          </a:prstGeom>
          <a:solidFill>
            <a:srgbClr val="FFF4CC"/>
          </a:solidFill>
          <a:ln w="9525">
            <a:solidFill>
              <a:srgbClr val="C99A00"/>
            </a:solidFill>
          </a:ln>
        </p:spPr>
        <p:txBody>
          <a:bodyPr wrap="square" anchor="ctr" tIns="27432" bIns="27432">
            <a:spAutoFit/>
          </a:bodyPr>
          <a:lstStyle/>
          <a:p>
            <a:r>
              <a:rPr b="1" sz="900">
                <a:solidFill>
                  <a:srgbClr val="A61B1B"/>
                </a:solidFill>
              </a:rPr>
              <a:t>İnceleme notu: </a:t>
            </a:r>
            <a:r>
              <a:rPr sz="900">
                <a:solidFill>
                  <a:srgbClr val="1F1F1F"/>
                </a:solidFill>
              </a:rPr>
              <a:t>Dergi: J Pediatr Gastroenterol Nutr 2026;82:398–406 (“Gastroenterology” bölüm etiketi); yazar: Goret N ve ark. “Kullanıcı tarafından sağlanan…” cümlesi yerine: “Şekil 2: Goret ve ark. 2026, CC BY 4.0.”</a:t>
            </a:r>
          </a:p>
        </p:txBody>
      </p:sp>
    </p:spTree>
    <p:extLst>
      <p:ext uri="{BB962C8B-B14F-4D97-AF65-F5344CB8AC3E}">
        <p14:creationId xmlns:p14="http://schemas.microsoft.com/office/powerpoint/2010/main" val="43680164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2026-10-25T14:41:58.5320000Z</dcterms:created>
  <dcterms:modified xsi:type="dcterms:W3CDTF">2026-10-25T14:41:58.5320000Z</dcterms:modified>
</coreProperties>
</file>